
<file path=[Content_Types].xml><?xml version="1.0" encoding="utf-8"?>
<Types xmlns="http://schemas.openxmlformats.org/package/2006/content-types">
  <Default Extension="bin" ContentType="image/png"/>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media/image4.bin"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media/image5.bin" ContentType="image/x-emf"/>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ags/tag7.xml" ContentType="application/vnd.openxmlformats-officedocument.presentationml.tags+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0"/>
  </p:sldMasterIdLst>
  <p:notesMasterIdLst>
    <p:notesMasterId r:id="rId87"/>
  </p:notesMasterIdLst>
  <p:sldIdLst>
    <p:sldId id="9984" r:id="rId51"/>
    <p:sldId id="9995" r:id="rId52"/>
    <p:sldId id="9986" r:id="rId53"/>
    <p:sldId id="256" r:id="rId54"/>
    <p:sldId id="261" r:id="rId55"/>
    <p:sldId id="325" r:id="rId56"/>
    <p:sldId id="10001" r:id="rId57"/>
    <p:sldId id="10018" r:id="rId58"/>
    <p:sldId id="10017" r:id="rId59"/>
    <p:sldId id="9992" r:id="rId60"/>
    <p:sldId id="10019" r:id="rId61"/>
    <p:sldId id="9957" r:id="rId62"/>
    <p:sldId id="2147483382" r:id="rId63"/>
    <p:sldId id="10020" r:id="rId64"/>
    <p:sldId id="10021" r:id="rId65"/>
    <p:sldId id="2147483383" r:id="rId66"/>
    <p:sldId id="2147483384" r:id="rId67"/>
    <p:sldId id="10012" r:id="rId68"/>
    <p:sldId id="9961" r:id="rId69"/>
    <p:sldId id="9962" r:id="rId70"/>
    <p:sldId id="10003" r:id="rId71"/>
    <p:sldId id="9982" r:id="rId72"/>
    <p:sldId id="9983" r:id="rId73"/>
    <p:sldId id="9988" r:id="rId74"/>
    <p:sldId id="10007" r:id="rId75"/>
    <p:sldId id="10014" r:id="rId76"/>
    <p:sldId id="9993" r:id="rId77"/>
    <p:sldId id="9964" r:id="rId78"/>
    <p:sldId id="8732" r:id="rId79"/>
    <p:sldId id="2147483377" r:id="rId80"/>
    <p:sldId id="2147483380" r:id="rId81"/>
    <p:sldId id="2147483381" r:id="rId82"/>
    <p:sldId id="10016" r:id="rId83"/>
    <p:sldId id="10011" r:id="rId84"/>
    <p:sldId id="9985" r:id="rId85"/>
    <p:sldId id="10010"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FFFF"/>
    <a:srgbClr val="ED7D31"/>
    <a:srgbClr val="A5A5A5"/>
    <a:srgbClr val="3B1A3D"/>
    <a:srgbClr val="905D9F"/>
    <a:srgbClr val="7030A0"/>
    <a:srgbClr val="BF95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072DE8-AC6D-44AE-9FFD-6BCA2A6E3433}" v="1051" dt="2025-09-03T12:46:27.0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0776" autoAdjust="0"/>
  </p:normalViewPr>
  <p:slideViewPr>
    <p:cSldViewPr snapToGrid="0">
      <p:cViewPr>
        <p:scale>
          <a:sx n="100" d="100"/>
          <a:sy n="100" d="100"/>
        </p:scale>
        <p:origin x="1896" y="714"/>
      </p:cViewPr>
      <p:guideLst/>
    </p:cSldViewPr>
  </p:slideViewPr>
  <p:outlineViewPr>
    <p:cViewPr>
      <p:scale>
        <a:sx n="33" d="100"/>
        <a:sy n="33" d="100"/>
      </p:scale>
      <p:origin x="0" y="-2676"/>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slide" Target="slides/slide13.xml"/><Relationship Id="rId68" Type="http://schemas.openxmlformats.org/officeDocument/2006/relationships/slide" Target="slides/slide18.xml"/><Relationship Id="rId84" Type="http://schemas.openxmlformats.org/officeDocument/2006/relationships/slide" Target="slides/slide34.xml"/><Relationship Id="rId89" Type="http://schemas.openxmlformats.org/officeDocument/2006/relationships/viewProps" Target="viewProp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3.xml"/><Relationship Id="rId58" Type="http://schemas.openxmlformats.org/officeDocument/2006/relationships/slide" Target="slides/slide8.xml"/><Relationship Id="rId74" Type="http://schemas.openxmlformats.org/officeDocument/2006/relationships/slide" Target="slides/slide24.xml"/><Relationship Id="rId79" Type="http://schemas.openxmlformats.org/officeDocument/2006/relationships/slide" Target="slides/slide29.xml"/><Relationship Id="rId5" Type="http://schemas.openxmlformats.org/officeDocument/2006/relationships/customXml" Target="../customXml/item5.xml"/><Relationship Id="rId90" Type="http://schemas.openxmlformats.org/officeDocument/2006/relationships/theme" Target="theme/theme1.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slide" Target="slides/slide6.xml"/><Relationship Id="rId64" Type="http://schemas.openxmlformats.org/officeDocument/2006/relationships/slide" Target="slides/slide14.xml"/><Relationship Id="rId69" Type="http://schemas.openxmlformats.org/officeDocument/2006/relationships/slide" Target="slides/slide19.xml"/><Relationship Id="rId77" Type="http://schemas.openxmlformats.org/officeDocument/2006/relationships/slide" Target="slides/slide27.xml"/><Relationship Id="rId8" Type="http://schemas.openxmlformats.org/officeDocument/2006/relationships/customXml" Target="../customXml/item8.xml"/><Relationship Id="rId51" Type="http://schemas.openxmlformats.org/officeDocument/2006/relationships/slide" Target="slides/slide1.xml"/><Relationship Id="rId72" Type="http://schemas.openxmlformats.org/officeDocument/2006/relationships/slide" Target="slides/slide22.xml"/><Relationship Id="rId80" Type="http://schemas.openxmlformats.org/officeDocument/2006/relationships/slide" Target="slides/slide30.xml"/><Relationship Id="rId85" Type="http://schemas.openxmlformats.org/officeDocument/2006/relationships/slide" Target="slides/slide35.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 Target="slides/slide9.xml"/><Relationship Id="rId67" Type="http://schemas.openxmlformats.org/officeDocument/2006/relationships/slide" Target="slides/slide1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4.xml"/><Relationship Id="rId62" Type="http://schemas.openxmlformats.org/officeDocument/2006/relationships/slide" Target="slides/slide12.xml"/><Relationship Id="rId70" Type="http://schemas.openxmlformats.org/officeDocument/2006/relationships/slide" Target="slides/slide20.xml"/><Relationship Id="rId75" Type="http://schemas.openxmlformats.org/officeDocument/2006/relationships/slide" Target="slides/slide25.xml"/><Relationship Id="rId83" Type="http://schemas.openxmlformats.org/officeDocument/2006/relationships/slide" Target="slides/slide33.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slide" Target="slides/slide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2.xml"/><Relationship Id="rId60" Type="http://schemas.openxmlformats.org/officeDocument/2006/relationships/slide" Target="slides/slide10.xml"/><Relationship Id="rId65" Type="http://schemas.openxmlformats.org/officeDocument/2006/relationships/slide" Target="slides/slide15.xml"/><Relationship Id="rId73" Type="http://schemas.openxmlformats.org/officeDocument/2006/relationships/slide" Target="slides/slide23.xml"/><Relationship Id="rId78" Type="http://schemas.openxmlformats.org/officeDocument/2006/relationships/slide" Target="slides/slide28.xml"/><Relationship Id="rId81" Type="http://schemas.openxmlformats.org/officeDocument/2006/relationships/slide" Target="slides/slide31.xml"/><Relationship Id="rId86" Type="http://schemas.openxmlformats.org/officeDocument/2006/relationships/slide" Target="slides/slide36.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Master" Target="slideMasters/slideMaster1.xml"/><Relationship Id="rId55" Type="http://schemas.openxmlformats.org/officeDocument/2006/relationships/slide" Target="slides/slide5.xml"/><Relationship Id="rId76" Type="http://schemas.openxmlformats.org/officeDocument/2006/relationships/slide" Target="slides/slide26.xml"/><Relationship Id="rId7" Type="http://schemas.openxmlformats.org/officeDocument/2006/relationships/customXml" Target="../customXml/item7.xml"/><Relationship Id="rId71" Type="http://schemas.openxmlformats.org/officeDocument/2006/relationships/slide" Target="slides/slide21.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slide" Target="slides/slide16.xml"/><Relationship Id="rId87" Type="http://schemas.openxmlformats.org/officeDocument/2006/relationships/notesMaster" Target="notesMasters/notesMaster1.xml"/><Relationship Id="rId61" Type="http://schemas.openxmlformats.org/officeDocument/2006/relationships/slide" Target="slides/slide11.xml"/><Relationship Id="rId82" Type="http://schemas.openxmlformats.org/officeDocument/2006/relationships/slide" Target="slides/slide32.xml"/><Relationship Id="rId19" Type="http://schemas.openxmlformats.org/officeDocument/2006/relationships/customXml" Target="../customXml/item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clustered"/>
        <c:varyColors val="1"/>
        <c:ser>
          <c:idx val="0"/>
          <c:order val="0"/>
          <c:tx>
            <c:strRef>
              <c:f>Sheet1!$B$1</c:f>
              <c:strCache>
                <c:ptCount val="1"/>
                <c:pt idx="0">
                  <c:v>Compute</c:v>
                </c:pt>
              </c:strCache>
            </c:strRef>
          </c:tx>
          <c:invertIfNegative val="1"/>
          <c:cat>
            <c:strRef>
              <c:f>Sheet1!$A$2:$A$5</c:f>
              <c:strCache>
                <c:ptCount val="4"/>
                <c:pt idx="0">
                  <c:v>1 YR NURI</c:v>
                </c:pt>
                <c:pt idx="1">
                  <c:v>3 YR NURI</c:v>
                </c:pt>
                <c:pt idx="2">
                  <c:v>Right-sized on-demand</c:v>
                </c:pt>
                <c:pt idx="3">
                  <c:v>Like-for-like</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0-E2B3-4D7F-BD8B-F47F49DCDEDE}"/>
            </c:ext>
          </c:extLst>
        </c:ser>
        <c:ser>
          <c:idx val="1"/>
          <c:order val="1"/>
          <c:tx>
            <c:strRef>
              <c:f>Sheet1!$C$1</c:f>
              <c:strCache>
                <c:ptCount val="1"/>
                <c:pt idx="0">
                  <c:v>Storage</c:v>
                </c:pt>
              </c:strCache>
            </c:strRef>
          </c:tx>
          <c:invertIfNegative val="1"/>
          <c:cat>
            <c:strRef>
              <c:f>Sheet1!$A$2:$A$5</c:f>
              <c:strCache>
                <c:ptCount val="4"/>
                <c:pt idx="0">
                  <c:v>1 YR NURI</c:v>
                </c:pt>
                <c:pt idx="1">
                  <c:v>3 YR NURI</c:v>
                </c:pt>
                <c:pt idx="2">
                  <c:v>Right-sized on-demand</c:v>
                </c:pt>
                <c:pt idx="3">
                  <c:v>Like-for-like</c:v>
                </c:pt>
              </c:strCache>
            </c:strRef>
          </c:cat>
          <c:val>
            <c:numRef>
              <c:f>Sheet1!$C$2:$C$5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1-E2B3-4D7F-BD8B-F47F49DCDEDE}"/>
            </c:ext>
          </c:extLst>
        </c:ser>
        <c:ser>
          <c:idx val="2"/>
          <c:order val="2"/>
          <c:tx>
            <c:strRef>
              <c:f>Sheet1!$D$1</c:f>
              <c:strCache>
                <c:ptCount val="1"/>
                <c:pt idx="0">
                  <c:v>Network</c:v>
                </c:pt>
              </c:strCache>
            </c:strRef>
          </c:tx>
          <c:invertIfNegative val="1"/>
          <c:dPt>
            <c:idx val="1"/>
            <c:invertIfNegative val="1"/>
            <c:bubble3D val="0"/>
            <c:spPr>
              <a:solidFill>
                <a:srgbClr val="A5A5A5"/>
              </a:solidFill>
            </c:spPr>
            <c:extLst>
              <c:ext xmlns:c16="http://schemas.microsoft.com/office/drawing/2014/chart" uri="{C3380CC4-5D6E-409C-BE32-E72D297353CC}">
                <c16:uniqueId val="{00000003-E2B3-4D7F-BD8B-F47F49DCDEDE}"/>
              </c:ext>
            </c:extLst>
          </c:dPt>
          <c:cat>
            <c:strRef>
              <c:f>Sheet1!$A$2:$A$5</c:f>
              <c:strCache>
                <c:ptCount val="4"/>
                <c:pt idx="0">
                  <c:v>1 YR NURI</c:v>
                </c:pt>
                <c:pt idx="1">
                  <c:v>3 YR NURI</c:v>
                </c:pt>
                <c:pt idx="2">
                  <c:v>Right-sized on-demand</c:v>
                </c:pt>
                <c:pt idx="3">
                  <c:v>Like-for-like</c:v>
                </c:pt>
              </c:strCache>
            </c:strRef>
          </c:cat>
          <c:val>
            <c:numRef>
              <c:f>Sheet1!$D$2:$D$5</c:f>
              <c:numCache>
                <c:formatCode>General</c:formatCode>
                <c:ptCount val="4"/>
                <c:pt idx="0">
                  <c:v>3</c:v>
                </c:pt>
                <c:pt idx="1">
                  <c:v>3</c:v>
                </c:pt>
                <c:pt idx="2">
                  <c:v>3</c:v>
                </c:pt>
                <c:pt idx="3">
                  <c:v>3</c:v>
                </c:pt>
              </c:numCache>
            </c:numRef>
          </c:val>
          <c:extLst>
            <c:ext xmlns:c16="http://schemas.microsoft.com/office/drawing/2014/chart" uri="{C3380CC4-5D6E-409C-BE32-E72D297353CC}">
              <c16:uniqueId val="{00000002-E2B3-4D7F-BD8B-F47F49DCDED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Sheet1!$A$2:$A$3</c:f>
              <c:strCache>
                <c:ptCount val="2"/>
                <c:pt idx="0">
                  <c:v>Estimated On-Premises Baseline Carbon Emissions</c:v>
                </c:pt>
                <c:pt idx="1">
                  <c:v>Estimated AWS Carbon Emissions</c:v>
                </c:pt>
              </c:strCache>
            </c:strRef>
          </c:cat>
          <c:val>
            <c:numRef>
              <c:f>Sheet1!$B$2:$B$3</c:f>
              <c:numCache>
                <c:formatCode>General</c:formatCode>
                <c:ptCount val="2"/>
                <c:pt idx="0">
                  <c:v>17.7</c:v>
                </c:pt>
              </c:numCache>
            </c:numRef>
          </c:val>
          <c:extLst>
            <c:ext xmlns:c16="http://schemas.microsoft.com/office/drawing/2014/chart" uri="{C3380CC4-5D6E-409C-BE32-E72D297353CC}">
              <c16:uniqueId val="{00000000-68A8-4FC4-8B69-E662C4AECC38}"/>
            </c:ext>
          </c:extLst>
        </c:ser>
        <c:ser>
          <c:idx val="1"/>
          <c:order val="1"/>
          <c:tx>
            <c:strRef>
              <c:f>Sheet1!$C$1</c:f>
              <c:strCache>
                <c:ptCount val="1"/>
                <c:pt idx="0">
                  <c:v>Series 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cat>
            <c:strRef>
              <c:f>Sheet1!$A$2:$A$3</c:f>
              <c:strCache>
                <c:ptCount val="2"/>
                <c:pt idx="0">
                  <c:v>Estimated On-Premises Baseline Carbon Emissions</c:v>
                </c:pt>
                <c:pt idx="1">
                  <c:v>Estimated AWS Carbon Emissions</c:v>
                </c:pt>
              </c:strCache>
            </c:strRef>
          </c:cat>
          <c:val>
            <c:numRef>
              <c:f>Sheet1!$C$2:$C$3</c:f>
              <c:numCache>
                <c:formatCode>General</c:formatCode>
                <c:ptCount val="2"/>
                <c:pt idx="1">
                  <c:v>0.54500000000000004</c:v>
                </c:pt>
              </c:numCache>
            </c:numRef>
          </c:val>
          <c:extLst>
            <c:ext xmlns:c16="http://schemas.microsoft.com/office/drawing/2014/chart" uri="{C3380CC4-5D6E-409C-BE32-E72D297353CC}">
              <c16:uniqueId val="{00000003-68A8-4FC4-8B69-E662C4AECC38}"/>
            </c:ext>
          </c:extLst>
        </c:ser>
        <c:ser>
          <c:idx val="2"/>
          <c:order val="2"/>
          <c:tx>
            <c:strRef>
              <c:f>Sheet1!$D$1</c:f>
              <c:strCache>
                <c:ptCount val="1"/>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dPt>
            <c:idx val="1"/>
            <c:invertIfNegative val="0"/>
            <c:bubble3D val="0"/>
            <c:extLst>
              <c:ext xmlns:c16="http://schemas.microsoft.com/office/drawing/2014/chart" uri="{C3380CC4-5D6E-409C-BE32-E72D297353CC}">
                <c16:uniqueId val="{00000005-68A8-4FC4-8B69-E662C4AECC38}"/>
              </c:ext>
            </c:extLst>
          </c:dPt>
          <c:cat>
            <c:strRef>
              <c:f>Sheet1!$A$2:$A$3</c:f>
              <c:strCache>
                <c:ptCount val="2"/>
                <c:pt idx="0">
                  <c:v>Estimated On-Premises Baseline Carbon Emissions</c:v>
                </c:pt>
                <c:pt idx="1">
                  <c:v>Estimated AWS Carbon Emissions</c:v>
                </c:pt>
              </c:strCache>
            </c:strRef>
          </c:cat>
          <c:val>
            <c:numRef>
              <c:f>Sheet1!$D$2:$D$3</c:f>
              <c:numCache>
                <c:formatCode>General</c:formatCode>
                <c:ptCount val="2"/>
              </c:numCache>
            </c:numRef>
          </c:val>
          <c:extLst>
            <c:ext xmlns:c16="http://schemas.microsoft.com/office/drawing/2014/chart" uri="{C3380CC4-5D6E-409C-BE32-E72D297353CC}">
              <c16:uniqueId val="{00000006-68A8-4FC4-8B69-E662C4AECC38}"/>
            </c:ext>
          </c:extLst>
        </c:ser>
        <c:dLbls>
          <c:showLegendKey val="0"/>
          <c:showVal val="0"/>
          <c:showCatName val="0"/>
          <c:showSerName val="0"/>
          <c:showPercent val="0"/>
          <c:showBubbleSize val="0"/>
        </c:dLbls>
        <c:gapWidth val="150"/>
        <c:overlap val="100"/>
        <c:axId val="737289487"/>
        <c:axId val="1572463551"/>
      </c:barChart>
      <c:valAx>
        <c:axId val="1572463551"/>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1"/>
                    </a:solidFill>
                    <a:latin typeface="+mn-lt"/>
                    <a:ea typeface="+mn-ea"/>
                    <a:cs typeface="+mn-cs"/>
                  </a:defRPr>
                </a:pPr>
                <a:r>
                  <a:rPr lang="en-US">
                    <a:solidFill>
                      <a:schemeClr val="tx1"/>
                    </a:solidFill>
                  </a:rPr>
                  <a:t>MTCO2e</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737289487"/>
        <c:crosses val="autoZero"/>
        <c:crossBetween val="between"/>
      </c:valAx>
      <c:catAx>
        <c:axId val="737289487"/>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72463551"/>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2A7BD-5240-454C-95A5-5B600C196D1C}" type="datetimeFigureOut">
              <a:rPr lang="en-GB" smtClean="0"/>
              <a:t>05/12/2025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E54D93-A8FF-4921-8248-ADBBCD1748F5}" type="slidenum">
              <a:rPr lang="en-GB" smtClean="0"/>
              <a:t>‹#›</a:t>
            </a:fld>
            <a:endParaRPr lang="en-GB"/>
          </a:p>
        </p:txBody>
      </p:sp>
    </p:spTree>
    <p:extLst>
      <p:ext uri="{BB962C8B-B14F-4D97-AF65-F5344CB8AC3E}">
        <p14:creationId xmlns:p14="http://schemas.microsoft.com/office/powerpoint/2010/main" val="3059070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1</a:t>
            </a:fld>
            <a:endParaRPr lang="en-GB"/>
          </a:p>
        </p:txBody>
      </p:sp>
    </p:spTree>
    <p:extLst>
      <p:ext uri="{BB962C8B-B14F-4D97-AF65-F5344CB8AC3E}">
        <p14:creationId xmlns:p14="http://schemas.microsoft.com/office/powerpoint/2010/main" val="892132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the main points we’re going to run through during the presentation, some of it I might skip over if it’s not entirely relevant to the assessment but it’s in there because it might be useful for you in the PDF after.</a:t>
            </a:r>
          </a:p>
        </p:txBody>
      </p:sp>
      <p:sp>
        <p:nvSpPr>
          <p:cNvPr id="4" name="Slide Number Placeholder 3"/>
          <p:cNvSpPr>
            <a:spLocks noGrp="1"/>
          </p:cNvSpPr>
          <p:nvPr>
            <p:ph type="sldNum" sz="quarter" idx="5"/>
          </p:nvPr>
        </p:nvSpPr>
        <p:spPr/>
        <p:txBody>
          <a:bodyPr/>
          <a:lstStyle/>
          <a:p>
            <a:fld id="{8CE54D93-A8FF-4921-8248-ADBBCD1748F5}" type="slidenum">
              <a:rPr lang="en-GB" smtClean="0"/>
              <a:t>2</a:t>
            </a:fld>
            <a:endParaRPr lang="en-GB"/>
          </a:p>
        </p:txBody>
      </p:sp>
    </p:spTree>
    <p:extLst>
      <p:ext uri="{BB962C8B-B14F-4D97-AF65-F5344CB8AC3E}">
        <p14:creationId xmlns:p14="http://schemas.microsoft.com/office/powerpoint/2010/main" val="1993323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Presentation focuses on overall estate that was assessed but you’ll see some variation in that number depending on what we’re talking about because of how the collector sees the data. It should all become clear but let me know if anything needs further explanation.</a:t>
            </a:r>
          </a:p>
          <a:p>
            <a:endParaRPr lang="en-GB" dirty="0"/>
          </a:p>
          <a:p>
            <a:r>
              <a:rPr lang="en-GB" dirty="0"/>
              <a:t>Savings % you see here may vary depending on final design and detail we find in scoping/readiness workshops</a:t>
            </a:r>
          </a:p>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4</a:t>
            </a:fld>
            <a:endParaRPr lang="en-GB"/>
          </a:p>
        </p:txBody>
      </p:sp>
    </p:spTree>
    <p:extLst>
      <p:ext uri="{BB962C8B-B14F-4D97-AF65-F5344CB8AC3E}">
        <p14:creationId xmlns:p14="http://schemas.microsoft.com/office/powerpoint/2010/main" val="1759088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Again, quick summary of the estate but a little more detail to show what the collector has picked up on.</a:t>
            </a:r>
          </a:p>
          <a:p>
            <a:endParaRPr lang="en-GB" dirty="0"/>
          </a:p>
          <a:p>
            <a:r>
              <a:rPr lang="en-GB" dirty="0"/>
              <a:t>Storage = 28.7TB overall, 22.3TB utilised</a:t>
            </a:r>
          </a:p>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5</a:t>
            </a:fld>
            <a:endParaRPr lang="en-GB"/>
          </a:p>
        </p:txBody>
      </p:sp>
    </p:spTree>
    <p:extLst>
      <p:ext uri="{BB962C8B-B14F-4D97-AF65-F5344CB8AC3E}">
        <p14:creationId xmlns:p14="http://schemas.microsoft.com/office/powerpoint/2010/main" val="2324480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dirty="0"/>
              <a:t>This shows a quick summary of the analysis results.</a:t>
            </a:r>
          </a:p>
          <a:p>
            <a:endParaRPr lang="en-US" dirty="0"/>
          </a:p>
          <a:p>
            <a:r>
              <a:rPr lang="en-US" dirty="0"/>
              <a:t>20% of servers used less than 30% of the time means some right-sizing is possible which you’ll see in the upcoming slides where we can go into more detail.</a:t>
            </a:r>
          </a:p>
          <a:p>
            <a:endParaRPr lang="en-US" dirty="0"/>
          </a:p>
          <a:p>
            <a:r>
              <a:rPr lang="en-US" dirty="0"/>
              <a:t>(But it’s worth remembering that the numbers might change as we do more discovery. We’ll perform a TCO calculation at each stage so we should see more accuracy at each stage of the migration.)</a:t>
            </a:r>
          </a:p>
        </p:txBody>
      </p:sp>
      <p:sp>
        <p:nvSpPr>
          <p:cNvPr id="4" name="Slide Number Placeholder 3"/>
          <p:cNvSpPr>
            <a:spLocks noGrp="1"/>
          </p:cNvSpPr>
          <p:nvPr>
            <p:ph type="sldNum" sz="quarter" idx="5"/>
          </p:nvPr>
        </p:nvSpPr>
        <p:spPr/>
        <p:txBody>
          <a:bodyPr/>
          <a:lstStyle/>
          <a:p>
            <a:fld id="{A3D89E5F-BEEF-42A1-A57B-E5A736D51194}" type="slidenum">
              <a:rPr lang="en-US" smtClean="0"/>
              <a:pPr/>
              <a:t>6</a:t>
            </a:fld>
            <a:endParaRPr lang="en-US"/>
          </a:p>
        </p:txBody>
      </p:sp>
    </p:spTree>
    <p:extLst>
      <p:ext uri="{BB962C8B-B14F-4D97-AF65-F5344CB8AC3E}">
        <p14:creationId xmlns:p14="http://schemas.microsoft.com/office/powerpoint/2010/main" val="2082335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Quick comparison of a selection of savings plans we might look at in the future.</a:t>
            </a:r>
          </a:p>
          <a:p>
            <a:endParaRPr lang="en-GB" dirty="0"/>
          </a:p>
          <a:p>
            <a:r>
              <a:rPr lang="en-GB" dirty="0"/>
              <a:t>Bar chart shows the comparison well, more detail on other slides.</a:t>
            </a:r>
          </a:p>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8</a:t>
            </a:fld>
            <a:endParaRPr lang="en-GB"/>
          </a:p>
        </p:txBody>
      </p:sp>
    </p:spTree>
    <p:extLst>
      <p:ext uri="{BB962C8B-B14F-4D97-AF65-F5344CB8AC3E}">
        <p14:creationId xmlns:p14="http://schemas.microsoft.com/office/powerpoint/2010/main" val="1144376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Quick primer on the differences between shared and dedicated hosts in AWS which you’ll see referenced on the next slide.</a:t>
            </a:r>
          </a:p>
          <a:p>
            <a:endParaRPr lang="en-GB" dirty="0"/>
          </a:p>
          <a:p>
            <a:r>
              <a:rPr lang="en-GB" dirty="0"/>
              <a:t>Shared = standard cloud server environment</a:t>
            </a:r>
          </a:p>
          <a:p>
            <a:r>
              <a:rPr lang="en-GB" dirty="0"/>
              <a:t>DH = you “purchase” the rack. More limiting in instance type, but can work well for licensing where needed.</a:t>
            </a:r>
          </a:p>
          <a:p>
            <a:endParaRPr lang="en-GB" dirty="0"/>
          </a:p>
          <a:p>
            <a:r>
              <a:rPr lang="en-GB" dirty="0"/>
              <a:t>You’ll see some recommendations for mixed tenancy, which is a combination of the two to provide the best of both worlds where needed.</a:t>
            </a:r>
          </a:p>
        </p:txBody>
      </p:sp>
      <p:sp>
        <p:nvSpPr>
          <p:cNvPr id="4" name="Slide Number Placeholder 3"/>
          <p:cNvSpPr>
            <a:spLocks noGrp="1"/>
          </p:cNvSpPr>
          <p:nvPr>
            <p:ph type="sldNum" sz="quarter" idx="5"/>
          </p:nvPr>
        </p:nvSpPr>
        <p:spPr/>
        <p:txBody>
          <a:bodyPr/>
          <a:lstStyle/>
          <a:p>
            <a:fld id="{8CE54D93-A8FF-4921-8248-ADBBCD1748F5}" type="slidenum">
              <a:rPr lang="en-GB" smtClean="0"/>
              <a:t>9</a:t>
            </a:fld>
            <a:endParaRPr lang="en-GB"/>
          </a:p>
        </p:txBody>
      </p:sp>
    </p:spTree>
    <p:extLst>
      <p:ext uri="{BB962C8B-B14F-4D97-AF65-F5344CB8AC3E}">
        <p14:creationId xmlns:p14="http://schemas.microsoft.com/office/powerpoint/2010/main" val="523923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Comparative charts – used to indicate the approximate difference between shared and mixed as a rough guide</a:t>
            </a:r>
          </a:p>
          <a:p>
            <a:endParaRPr lang="en-GB" dirty="0"/>
          </a:p>
          <a:p>
            <a:r>
              <a:rPr lang="en-GB" dirty="0"/>
              <a:t>With SA to cover your SQL BYOL, you can go LI for Windows and reduce complexity and mgmt. overhead.</a:t>
            </a:r>
          </a:p>
          <a:p>
            <a:endParaRPr lang="en-GB" dirty="0"/>
          </a:p>
          <a:p>
            <a:r>
              <a:rPr lang="en-GB" dirty="0"/>
              <a:t>Avoiding DH also makes right-sizing much easier/possible. And in this case, lowers the cost!</a:t>
            </a:r>
          </a:p>
          <a:p>
            <a:endParaRPr lang="en-GB" dirty="0"/>
          </a:p>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10</a:t>
            </a:fld>
            <a:endParaRPr lang="en-GB"/>
          </a:p>
        </p:txBody>
      </p:sp>
    </p:spTree>
    <p:extLst>
      <p:ext uri="{BB962C8B-B14F-4D97-AF65-F5344CB8AC3E}">
        <p14:creationId xmlns:p14="http://schemas.microsoft.com/office/powerpoint/2010/main" val="1052278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you have a handful of Linux servers, you might be interested in the Graviton instances.</a:t>
            </a:r>
          </a:p>
          <a:p>
            <a:endParaRPr lang="en-GB" dirty="0"/>
          </a:p>
          <a:p>
            <a:r>
              <a:rPr lang="en-GB" dirty="0"/>
              <a:t>They can lower costs a bit more where compatible.,</a:t>
            </a:r>
          </a:p>
          <a:p>
            <a:endParaRPr lang="en-GB" dirty="0"/>
          </a:p>
          <a:p>
            <a:r>
              <a:rPr lang="en-GB" dirty="0"/>
              <a:t>Here, assuming all Linux servers are eligible, saving is 23% in total for the 8 servers in scope.</a:t>
            </a:r>
          </a:p>
        </p:txBody>
      </p:sp>
      <p:sp>
        <p:nvSpPr>
          <p:cNvPr id="4" name="Slide Number Placeholder 3"/>
          <p:cNvSpPr>
            <a:spLocks noGrp="1"/>
          </p:cNvSpPr>
          <p:nvPr>
            <p:ph type="sldNum" sz="quarter" idx="5"/>
          </p:nvPr>
        </p:nvSpPr>
        <p:spPr/>
        <p:txBody>
          <a:bodyPr/>
          <a:lstStyle/>
          <a:p>
            <a:fld id="{8CE54D93-A8FF-4921-8248-ADBBCD1748F5}" type="slidenum">
              <a:rPr lang="en-GB" smtClean="0"/>
              <a:t>11</a:t>
            </a:fld>
            <a:endParaRPr lang="en-GB"/>
          </a:p>
        </p:txBody>
      </p:sp>
    </p:spTree>
    <p:extLst>
      <p:ext uri="{BB962C8B-B14F-4D97-AF65-F5344CB8AC3E}">
        <p14:creationId xmlns:p14="http://schemas.microsoft.com/office/powerpoint/2010/main" val="441396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few similar tables in the next slides.</a:t>
            </a:r>
          </a:p>
          <a:p>
            <a:endParaRPr lang="en-GB" dirty="0"/>
          </a:p>
          <a:p>
            <a:r>
              <a:rPr lang="en-GB" dirty="0"/>
              <a:t>This one shows potential savings based directly on the outputs from the Cloudamize assessment. </a:t>
            </a:r>
          </a:p>
          <a:p>
            <a:endParaRPr lang="en-GB" dirty="0"/>
          </a:p>
          <a:p>
            <a:r>
              <a:rPr lang="en-GB" dirty="0"/>
              <a:t>It doesn’t differentiate between Prod and non-prod, so it tends to default to t instances.</a:t>
            </a:r>
          </a:p>
          <a:p>
            <a:endParaRPr lang="en-GB" dirty="0"/>
          </a:p>
          <a:p>
            <a:r>
              <a:rPr lang="en-GB" dirty="0"/>
              <a:t>(further notes on next slide)</a:t>
            </a:r>
          </a:p>
        </p:txBody>
      </p:sp>
      <p:sp>
        <p:nvSpPr>
          <p:cNvPr id="4" name="Slide Number Placeholder 3"/>
          <p:cNvSpPr>
            <a:spLocks noGrp="1"/>
          </p:cNvSpPr>
          <p:nvPr>
            <p:ph type="sldNum" sz="quarter" idx="5"/>
          </p:nvPr>
        </p:nvSpPr>
        <p:spPr/>
        <p:txBody>
          <a:bodyPr/>
          <a:lstStyle/>
          <a:p>
            <a:fld id="{A3D89E5F-BEEF-42A1-A57B-E5A736D51194}" type="slidenum">
              <a:rPr lang="en-US" smtClean="0"/>
              <a:pPr/>
              <a:t>12</a:t>
            </a:fld>
            <a:endParaRPr lang="en-US"/>
          </a:p>
        </p:txBody>
      </p:sp>
    </p:spTree>
    <p:extLst>
      <p:ext uri="{BB962C8B-B14F-4D97-AF65-F5344CB8AC3E}">
        <p14:creationId xmlns:p14="http://schemas.microsoft.com/office/powerpoint/2010/main" val="1153716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13589-5B96-C425-95E9-F38DA03F7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5714B-429D-4DEB-78ED-E2533966D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67D2F0-8BD9-FD49-A4CC-07FE878B61F5}"/>
              </a:ext>
            </a:extLst>
          </p:cNvPr>
          <p:cNvSpPr>
            <a:spLocks noGrp="1"/>
          </p:cNvSpPr>
          <p:nvPr>
            <p:ph type="body" idx="1"/>
          </p:nvPr>
        </p:nvSpPr>
        <p:spPr/>
        <p:txBody>
          <a:bodyPr/>
          <a:lstStyle/>
          <a:p>
            <a:r>
              <a:rPr lang="en-GB" dirty="0"/>
              <a:t>A few similar tables in the next slides.</a:t>
            </a:r>
          </a:p>
          <a:p>
            <a:endParaRPr lang="en-GB" dirty="0"/>
          </a:p>
          <a:p>
            <a:r>
              <a:rPr lang="en-GB" dirty="0"/>
              <a:t>This one shows potential savings based directly on the outputs from the Cloudamize assessment. </a:t>
            </a:r>
          </a:p>
          <a:p>
            <a:endParaRPr lang="en-GB" dirty="0"/>
          </a:p>
          <a:p>
            <a:r>
              <a:rPr lang="en-GB" dirty="0"/>
              <a:t>It doesn’t differentiate between Prod and non-prod, so it tends to default to t instances.</a:t>
            </a:r>
          </a:p>
          <a:p>
            <a:endParaRPr lang="en-GB" dirty="0"/>
          </a:p>
          <a:p>
            <a:r>
              <a:rPr lang="en-GB" dirty="0"/>
              <a:t>(further notes on next slide)</a:t>
            </a:r>
          </a:p>
        </p:txBody>
      </p:sp>
      <p:sp>
        <p:nvSpPr>
          <p:cNvPr id="4" name="Slide Number Placeholder 3">
            <a:extLst>
              <a:ext uri="{FF2B5EF4-FFF2-40B4-BE49-F238E27FC236}">
                <a16:creationId xmlns:a16="http://schemas.microsoft.com/office/drawing/2014/main" id="{260A43A9-BDD1-982B-5E7F-DC0623062109}"/>
              </a:ext>
            </a:extLst>
          </p:cNvPr>
          <p:cNvSpPr>
            <a:spLocks noGrp="1"/>
          </p:cNvSpPr>
          <p:nvPr>
            <p:ph type="sldNum" sz="quarter" idx="5"/>
          </p:nvPr>
        </p:nvSpPr>
        <p:spPr/>
        <p:txBody>
          <a:bodyPr/>
          <a:lstStyle/>
          <a:p>
            <a:fld id="{A3D89E5F-BEEF-42A1-A57B-E5A736D51194}" type="slidenum">
              <a:rPr lang="en-US" smtClean="0"/>
              <a:pPr/>
              <a:t>13</a:t>
            </a:fld>
            <a:endParaRPr lang="en-US"/>
          </a:p>
        </p:txBody>
      </p:sp>
    </p:spTree>
    <p:extLst>
      <p:ext uri="{BB962C8B-B14F-4D97-AF65-F5344CB8AC3E}">
        <p14:creationId xmlns:p14="http://schemas.microsoft.com/office/powerpoint/2010/main" val="3134024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42377-1D91-036C-EC5C-D694E0C67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874E2-0CE7-84D1-0D6F-E0937021E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4527F-3BB2-944F-83FA-EACF5712A93B}"/>
              </a:ext>
            </a:extLst>
          </p:cNvPr>
          <p:cNvSpPr>
            <a:spLocks noGrp="1"/>
          </p:cNvSpPr>
          <p:nvPr>
            <p:ph type="body" idx="1"/>
          </p:nvPr>
        </p:nvSpPr>
        <p:spPr/>
        <p:txBody>
          <a:bodyPr/>
          <a:lstStyle/>
          <a:p>
            <a:r>
              <a:rPr lang="en-GB" dirty="0"/>
              <a:t>T instances are heavily used in automated data outputs but not recommended for production</a:t>
            </a:r>
          </a:p>
          <a:p>
            <a:endParaRPr lang="en-GB" dirty="0"/>
          </a:p>
          <a:p>
            <a:r>
              <a:rPr lang="en-GB" dirty="0"/>
              <a:t>Performance is inconsistent and will be throttled if credits are used up, affecting the performance of the server</a:t>
            </a:r>
          </a:p>
          <a:p>
            <a:endParaRPr lang="en-GB" dirty="0"/>
          </a:p>
          <a:p>
            <a:r>
              <a:rPr lang="en-GB" dirty="0"/>
              <a:t>Lower table replaces T family in production instances to show the difference.</a:t>
            </a:r>
          </a:p>
          <a:p>
            <a:endParaRPr lang="en-GB" dirty="0"/>
          </a:p>
          <a:p>
            <a:r>
              <a:rPr lang="en-GB" dirty="0"/>
              <a:t>Replaced with c6a and m6a, CPU/RAM kept same.</a:t>
            </a:r>
          </a:p>
          <a:p>
            <a:endParaRPr lang="en-GB" dirty="0"/>
          </a:p>
          <a:p>
            <a:r>
              <a:rPr lang="en-GB" dirty="0"/>
              <a:t>No match for anything with less than 4GB RAM so next one up was used (4GB).</a:t>
            </a:r>
          </a:p>
          <a:p>
            <a:endParaRPr lang="en-GB" dirty="0"/>
          </a:p>
          <a:p>
            <a:r>
              <a:rPr lang="en-GB" dirty="0"/>
              <a:t>Reality probably sits somewhere in between the 2 tables since rule is not set in stone, e.g. ADDC could be T instances.</a:t>
            </a:r>
          </a:p>
        </p:txBody>
      </p:sp>
      <p:sp>
        <p:nvSpPr>
          <p:cNvPr id="4" name="Slide Number Placeholder 3">
            <a:extLst>
              <a:ext uri="{FF2B5EF4-FFF2-40B4-BE49-F238E27FC236}">
                <a16:creationId xmlns:a16="http://schemas.microsoft.com/office/drawing/2014/main" id="{BBD30952-904D-96FC-6459-CB9D6701FB1D}"/>
              </a:ext>
            </a:extLst>
          </p:cNvPr>
          <p:cNvSpPr>
            <a:spLocks noGrp="1"/>
          </p:cNvSpPr>
          <p:nvPr>
            <p:ph type="sldNum" sz="quarter" idx="5"/>
          </p:nvPr>
        </p:nvSpPr>
        <p:spPr/>
        <p:txBody>
          <a:bodyPr/>
          <a:lstStyle/>
          <a:p>
            <a:fld id="{A3D89E5F-BEEF-42A1-A57B-E5A736D51194}" type="slidenum">
              <a:rPr lang="en-US" smtClean="0"/>
              <a:pPr/>
              <a:t>14</a:t>
            </a:fld>
            <a:endParaRPr lang="en-US"/>
          </a:p>
        </p:txBody>
      </p:sp>
    </p:spTree>
    <p:extLst>
      <p:ext uri="{BB962C8B-B14F-4D97-AF65-F5344CB8AC3E}">
        <p14:creationId xmlns:p14="http://schemas.microsoft.com/office/powerpoint/2010/main" val="86839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9C57-EAE8-BF2E-D1B7-46E2DF498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A5058-1985-F45B-4B95-FBDB2CA27E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BC641-72BF-0806-6916-8BB3BE896E13}"/>
              </a:ext>
            </a:extLst>
          </p:cNvPr>
          <p:cNvSpPr>
            <a:spLocks noGrp="1"/>
          </p:cNvSpPr>
          <p:nvPr>
            <p:ph type="body" idx="1"/>
          </p:nvPr>
        </p:nvSpPr>
        <p:spPr/>
        <p:txBody>
          <a:bodyPr/>
          <a:lstStyle/>
          <a:p>
            <a:r>
              <a:rPr lang="en-GB" dirty="0"/>
              <a:t>This delves a bit deeper by attempting to adjust further based on server utilisation.</a:t>
            </a:r>
          </a:p>
          <a:p>
            <a:endParaRPr lang="en-GB" dirty="0"/>
          </a:p>
          <a:p>
            <a:r>
              <a:rPr lang="en-GB" dirty="0"/>
              <a:t>Instances chosen to match CPU and memory as closely as possible while still keeping costs as low as possible.</a:t>
            </a:r>
          </a:p>
          <a:p>
            <a:endParaRPr lang="en-GB" dirty="0"/>
          </a:p>
          <a:p>
            <a:r>
              <a:rPr lang="en-GB" dirty="0"/>
              <a:t>t3a.small doesn’t have an equivalent to match memory, so closest is used, hence c6a.large is repeated for different adjustments.</a:t>
            </a:r>
          </a:p>
          <a:p>
            <a:endParaRPr lang="en-GB" dirty="0"/>
          </a:p>
          <a:p>
            <a:r>
              <a:rPr lang="en-GB" dirty="0"/>
              <a:t>Assumed running 100% of the time.</a:t>
            </a:r>
          </a:p>
          <a:p>
            <a:endParaRPr lang="en-GB" dirty="0"/>
          </a:p>
          <a:p>
            <a:endParaRPr lang="en-GB" dirty="0"/>
          </a:p>
        </p:txBody>
      </p:sp>
      <p:sp>
        <p:nvSpPr>
          <p:cNvPr id="4" name="Slide Number Placeholder 3">
            <a:extLst>
              <a:ext uri="{FF2B5EF4-FFF2-40B4-BE49-F238E27FC236}">
                <a16:creationId xmlns:a16="http://schemas.microsoft.com/office/drawing/2014/main" id="{F6CC0969-1736-BD79-DFC5-32D0596BB881}"/>
              </a:ext>
            </a:extLst>
          </p:cNvPr>
          <p:cNvSpPr>
            <a:spLocks noGrp="1"/>
          </p:cNvSpPr>
          <p:nvPr>
            <p:ph type="sldNum" sz="quarter" idx="5"/>
          </p:nvPr>
        </p:nvSpPr>
        <p:spPr/>
        <p:txBody>
          <a:bodyPr/>
          <a:lstStyle/>
          <a:p>
            <a:fld id="{A3D89E5F-BEEF-42A1-A57B-E5A736D51194}" type="slidenum">
              <a:rPr lang="en-US" smtClean="0"/>
              <a:pPr/>
              <a:t>15</a:t>
            </a:fld>
            <a:endParaRPr lang="en-US"/>
          </a:p>
        </p:txBody>
      </p:sp>
    </p:spTree>
    <p:extLst>
      <p:ext uri="{BB962C8B-B14F-4D97-AF65-F5344CB8AC3E}">
        <p14:creationId xmlns:p14="http://schemas.microsoft.com/office/powerpoint/2010/main" val="1759185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32496-E6FD-D928-54A4-7C8DB6A0F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14F87-DE35-E0DB-76AB-4E7D22572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E7D27-BACF-0F71-C232-27B78E21808B}"/>
              </a:ext>
            </a:extLst>
          </p:cNvPr>
          <p:cNvSpPr>
            <a:spLocks noGrp="1"/>
          </p:cNvSpPr>
          <p:nvPr>
            <p:ph type="body" idx="1"/>
          </p:nvPr>
        </p:nvSpPr>
        <p:spPr/>
        <p:txBody>
          <a:bodyPr/>
          <a:lstStyle/>
          <a:p>
            <a:r>
              <a:rPr lang="en-GB" dirty="0"/>
              <a:t>T instances are heavily used in automated data outputs but not recommended for production</a:t>
            </a:r>
          </a:p>
          <a:p>
            <a:endParaRPr lang="en-GB" dirty="0"/>
          </a:p>
          <a:p>
            <a:r>
              <a:rPr lang="en-GB" dirty="0"/>
              <a:t>Performance is inconsistent and will be throttled if credits are used up, affecting the performance of the server</a:t>
            </a:r>
          </a:p>
          <a:p>
            <a:endParaRPr lang="en-GB" dirty="0"/>
          </a:p>
          <a:p>
            <a:r>
              <a:rPr lang="en-GB" dirty="0"/>
              <a:t>Lower table replaces T family in production instances to show the difference.</a:t>
            </a:r>
          </a:p>
          <a:p>
            <a:endParaRPr lang="en-GB" dirty="0"/>
          </a:p>
          <a:p>
            <a:r>
              <a:rPr lang="en-GB" dirty="0"/>
              <a:t>Replaced with c6a and m6a, CPU/RAM kept same.</a:t>
            </a:r>
          </a:p>
          <a:p>
            <a:endParaRPr lang="en-GB" dirty="0"/>
          </a:p>
          <a:p>
            <a:r>
              <a:rPr lang="en-GB" dirty="0"/>
              <a:t>No match for anything with less than 4GB RAM so next one up was used (4GB).</a:t>
            </a:r>
          </a:p>
          <a:p>
            <a:endParaRPr lang="en-GB" dirty="0"/>
          </a:p>
          <a:p>
            <a:r>
              <a:rPr lang="en-GB" dirty="0"/>
              <a:t>Reality probably sits somewhere in between the 2 tables since rule is not set in stone, e.g. ADDC could be T instances.</a:t>
            </a:r>
          </a:p>
        </p:txBody>
      </p:sp>
      <p:sp>
        <p:nvSpPr>
          <p:cNvPr id="4" name="Slide Number Placeholder 3">
            <a:extLst>
              <a:ext uri="{FF2B5EF4-FFF2-40B4-BE49-F238E27FC236}">
                <a16:creationId xmlns:a16="http://schemas.microsoft.com/office/drawing/2014/main" id="{29F05E8A-0BC1-CBE7-4C43-E094D6496556}"/>
              </a:ext>
            </a:extLst>
          </p:cNvPr>
          <p:cNvSpPr>
            <a:spLocks noGrp="1"/>
          </p:cNvSpPr>
          <p:nvPr>
            <p:ph type="sldNum" sz="quarter" idx="5"/>
          </p:nvPr>
        </p:nvSpPr>
        <p:spPr/>
        <p:txBody>
          <a:bodyPr/>
          <a:lstStyle/>
          <a:p>
            <a:fld id="{A3D89E5F-BEEF-42A1-A57B-E5A736D51194}" type="slidenum">
              <a:rPr lang="en-US" smtClean="0"/>
              <a:pPr/>
              <a:t>16</a:t>
            </a:fld>
            <a:endParaRPr lang="en-US"/>
          </a:p>
        </p:txBody>
      </p:sp>
    </p:spTree>
    <p:extLst>
      <p:ext uri="{BB962C8B-B14F-4D97-AF65-F5344CB8AC3E}">
        <p14:creationId xmlns:p14="http://schemas.microsoft.com/office/powerpoint/2010/main" val="3724017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3A6DE-969E-7F33-0661-D9227B716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1A332-5D10-DBC9-1C19-D37366B69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49C3A-697F-3543-6E54-C57959363045}"/>
              </a:ext>
            </a:extLst>
          </p:cNvPr>
          <p:cNvSpPr>
            <a:spLocks noGrp="1"/>
          </p:cNvSpPr>
          <p:nvPr>
            <p:ph type="body" idx="1"/>
          </p:nvPr>
        </p:nvSpPr>
        <p:spPr/>
        <p:txBody>
          <a:bodyPr/>
          <a:lstStyle/>
          <a:p>
            <a:r>
              <a:rPr lang="en-GB" dirty="0"/>
              <a:t>This delves a bit deeper by attempting to adjust further based on server utilisation.</a:t>
            </a:r>
          </a:p>
          <a:p>
            <a:endParaRPr lang="en-GB" dirty="0"/>
          </a:p>
          <a:p>
            <a:r>
              <a:rPr lang="en-GB" dirty="0"/>
              <a:t>Instances chosen to match CPU and memory as closely as possible while still keeping costs as low as possible.</a:t>
            </a:r>
          </a:p>
          <a:p>
            <a:endParaRPr lang="en-GB" dirty="0"/>
          </a:p>
          <a:p>
            <a:r>
              <a:rPr lang="en-GB" dirty="0"/>
              <a:t>t3a.small doesn’t have an equivalent to match memory, so closest is used, hence c6a.large is repeated for different adjustments.</a:t>
            </a:r>
          </a:p>
          <a:p>
            <a:endParaRPr lang="en-GB" dirty="0"/>
          </a:p>
          <a:p>
            <a:r>
              <a:rPr lang="en-GB" dirty="0"/>
              <a:t>Assumed running 100% of the time.</a:t>
            </a:r>
          </a:p>
          <a:p>
            <a:endParaRPr lang="en-GB" dirty="0"/>
          </a:p>
          <a:p>
            <a:endParaRPr lang="en-GB" dirty="0"/>
          </a:p>
        </p:txBody>
      </p:sp>
      <p:sp>
        <p:nvSpPr>
          <p:cNvPr id="4" name="Slide Number Placeholder 3">
            <a:extLst>
              <a:ext uri="{FF2B5EF4-FFF2-40B4-BE49-F238E27FC236}">
                <a16:creationId xmlns:a16="http://schemas.microsoft.com/office/drawing/2014/main" id="{EA207C6C-7DB4-3237-A815-B39B06C6A735}"/>
              </a:ext>
            </a:extLst>
          </p:cNvPr>
          <p:cNvSpPr>
            <a:spLocks noGrp="1"/>
          </p:cNvSpPr>
          <p:nvPr>
            <p:ph type="sldNum" sz="quarter" idx="5"/>
          </p:nvPr>
        </p:nvSpPr>
        <p:spPr/>
        <p:txBody>
          <a:bodyPr/>
          <a:lstStyle/>
          <a:p>
            <a:fld id="{A3D89E5F-BEEF-42A1-A57B-E5A736D51194}" type="slidenum">
              <a:rPr lang="en-US" smtClean="0"/>
              <a:pPr/>
              <a:t>17</a:t>
            </a:fld>
            <a:endParaRPr lang="en-US"/>
          </a:p>
        </p:txBody>
      </p:sp>
    </p:spTree>
    <p:extLst>
      <p:ext uri="{BB962C8B-B14F-4D97-AF65-F5344CB8AC3E}">
        <p14:creationId xmlns:p14="http://schemas.microsoft.com/office/powerpoint/2010/main" val="577971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Lots of info on licensing in links, will share after meeting for full coverage, have condensed it…</a:t>
            </a:r>
          </a:p>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19</a:t>
            </a:fld>
            <a:endParaRPr lang="en-GB"/>
          </a:p>
        </p:txBody>
      </p:sp>
    </p:spTree>
    <p:extLst>
      <p:ext uri="{BB962C8B-B14F-4D97-AF65-F5344CB8AC3E}">
        <p14:creationId xmlns:p14="http://schemas.microsoft.com/office/powerpoint/2010/main" val="1452713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Key takeaways from licensing info. Important bit is with SA, you don’t need DH for SQL so recommended to go LI for Windows for an easier time.</a:t>
            </a:r>
          </a:p>
          <a:p>
            <a:endPar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r>
              <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Most important thing to remember is that DH is required for Windows but not for SQL.</a:t>
            </a:r>
          </a:p>
          <a:p>
            <a:endPar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r>
              <a:rPr lang="en-GB"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As most of your servers are 2016, a good portion could be eligible. We’d need to calculate extra cost of DH vs. BYOL savings.</a:t>
            </a:r>
            <a:endPar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Slide Number Placeholder 3"/>
          <p:cNvSpPr>
            <a:spLocks noGrp="1"/>
          </p:cNvSpPr>
          <p:nvPr>
            <p:ph type="sldNum" sz="quarter" idx="5"/>
          </p:nvPr>
        </p:nvSpPr>
        <p:spPr/>
        <p:txBody>
          <a:bodyPr/>
          <a:lstStyle/>
          <a:p>
            <a:fld id="{69C3F2ED-74C5-7D4F-8560-0CC253E9A436}" type="slidenum">
              <a:rPr lang="en-US" smtClean="0"/>
              <a:pPr/>
              <a:t>20</a:t>
            </a:fld>
            <a:endParaRPr lang="en-US" dirty="0"/>
          </a:p>
        </p:txBody>
      </p:sp>
      <p:sp>
        <p:nvSpPr>
          <p:cNvPr id="5" name="Date Placeholder 4">
            <a:extLst>
              <a:ext uri="{FF2B5EF4-FFF2-40B4-BE49-F238E27FC236}">
                <a16:creationId xmlns:a16="http://schemas.microsoft.com/office/drawing/2014/main" id="{C096F996-C1E6-E247-8125-BA776CF4905C}"/>
              </a:ext>
            </a:extLst>
          </p:cNvPr>
          <p:cNvSpPr>
            <a:spLocks noGrp="1"/>
          </p:cNvSpPr>
          <p:nvPr>
            <p:ph type="dt" idx="1"/>
          </p:nvPr>
        </p:nvSpPr>
        <p:spPr/>
        <p:txBody>
          <a:bodyPr/>
          <a:lstStyle/>
          <a:p>
            <a:fld id="{527D0671-E860-4B4C-B4A6-D5A00EDEC1AD}" type="datetime1">
              <a:rPr lang="en-CA" smtClean="0"/>
              <a:t>2025-12-05</a:t>
            </a:fld>
            <a:endParaRPr lang="en-US" dirty="0"/>
          </a:p>
        </p:txBody>
      </p:sp>
    </p:spTree>
    <p:extLst>
      <p:ext uri="{BB962C8B-B14F-4D97-AF65-F5344CB8AC3E}">
        <p14:creationId xmlns:p14="http://schemas.microsoft.com/office/powerpoint/2010/main" val="9781205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About a year and a half left on windows 2016 support, worth keeping that in mind for modernisation after the migration.</a:t>
            </a:r>
          </a:p>
        </p:txBody>
      </p:sp>
      <p:sp>
        <p:nvSpPr>
          <p:cNvPr id="4" name="Slide Number Placeholder 3"/>
          <p:cNvSpPr>
            <a:spLocks noGrp="1"/>
          </p:cNvSpPr>
          <p:nvPr>
            <p:ph type="sldNum" sz="quarter" idx="5"/>
          </p:nvPr>
        </p:nvSpPr>
        <p:spPr/>
        <p:txBody>
          <a:bodyPr/>
          <a:lstStyle/>
          <a:p>
            <a:fld id="{8CE54D93-A8FF-4921-8248-ADBBCD1748F5}" type="slidenum">
              <a:rPr lang="en-GB" smtClean="0"/>
              <a:t>22</a:t>
            </a:fld>
            <a:endParaRPr lang="en-GB"/>
          </a:p>
        </p:txBody>
      </p:sp>
    </p:spTree>
    <p:extLst>
      <p:ext uri="{BB962C8B-B14F-4D97-AF65-F5344CB8AC3E}">
        <p14:creationId xmlns:p14="http://schemas.microsoft.com/office/powerpoint/2010/main" val="1234774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Plenty of support left on SQL so less urgent. </a:t>
            </a:r>
          </a:p>
          <a:p>
            <a:endParaRPr lang="en-GB" dirty="0"/>
          </a:p>
          <a:p>
            <a:r>
              <a:rPr lang="en-GB" dirty="0"/>
              <a:t>RDS can still provide benefits to remove this management overhead if interested.</a:t>
            </a:r>
          </a:p>
        </p:txBody>
      </p:sp>
      <p:sp>
        <p:nvSpPr>
          <p:cNvPr id="4" name="Slide Number Placeholder 3"/>
          <p:cNvSpPr>
            <a:spLocks noGrp="1"/>
          </p:cNvSpPr>
          <p:nvPr>
            <p:ph type="sldNum" sz="quarter" idx="5"/>
          </p:nvPr>
        </p:nvSpPr>
        <p:spPr/>
        <p:txBody>
          <a:bodyPr/>
          <a:lstStyle/>
          <a:p>
            <a:fld id="{8CE54D93-A8FF-4921-8248-ADBBCD1748F5}" type="slidenum">
              <a:rPr lang="en-GB" smtClean="0"/>
              <a:t>23</a:t>
            </a:fld>
            <a:endParaRPr lang="en-GB"/>
          </a:p>
        </p:txBody>
      </p:sp>
    </p:spTree>
    <p:extLst>
      <p:ext uri="{BB962C8B-B14F-4D97-AF65-F5344CB8AC3E}">
        <p14:creationId xmlns:p14="http://schemas.microsoft.com/office/powerpoint/2010/main" val="988466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Something the business might be interested in to add to green credentials. </a:t>
            </a:r>
          </a:p>
        </p:txBody>
      </p:sp>
      <p:sp>
        <p:nvSpPr>
          <p:cNvPr id="4" name="Slide Number Placeholder 3"/>
          <p:cNvSpPr>
            <a:spLocks noGrp="1"/>
          </p:cNvSpPr>
          <p:nvPr>
            <p:ph type="sldNum" sz="quarter" idx="5"/>
          </p:nvPr>
        </p:nvSpPr>
        <p:spPr/>
        <p:txBody>
          <a:bodyPr/>
          <a:lstStyle/>
          <a:p>
            <a:fld id="{8CE54D93-A8FF-4921-8248-ADBBCD1748F5}" type="slidenum">
              <a:rPr lang="en-GB" smtClean="0"/>
              <a:t>25</a:t>
            </a:fld>
            <a:endParaRPr lang="en-GB"/>
          </a:p>
        </p:txBody>
      </p:sp>
    </p:spTree>
    <p:extLst>
      <p:ext uri="{BB962C8B-B14F-4D97-AF65-F5344CB8AC3E}">
        <p14:creationId xmlns:p14="http://schemas.microsoft.com/office/powerpoint/2010/main" val="2817805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Implementing well-architected framework, effective alerting and observability and leveraging AWS automations and integrations can provide significant increased in productivity.</a:t>
            </a:r>
          </a:p>
          <a:p>
            <a:endParaRPr lang="en-GB" dirty="0"/>
          </a:p>
          <a:p>
            <a:r>
              <a:rPr lang="en-GB" dirty="0"/>
              <a:t>Resilience of managed services and self-healing infrastructure means less fire-fighting and </a:t>
            </a:r>
            <a:r>
              <a:rPr lang="en-GB"/>
              <a:t>management overhead.</a:t>
            </a:r>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26</a:t>
            </a:fld>
            <a:endParaRPr lang="en-GB"/>
          </a:p>
        </p:txBody>
      </p:sp>
    </p:spTree>
    <p:extLst>
      <p:ext uri="{BB962C8B-B14F-4D97-AF65-F5344CB8AC3E}">
        <p14:creationId xmlns:p14="http://schemas.microsoft.com/office/powerpoint/2010/main" val="1471620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 landing zone and supporting resources get built out in the Mobilise phase, which is the 2</a:t>
            </a:r>
            <a:r>
              <a:rPr lang="en-GB" baseline="30000" dirty="0"/>
              <a:t>nd</a:t>
            </a:r>
            <a:r>
              <a:rPr lang="en-GB" dirty="0"/>
              <a:t> phase of the migration.</a:t>
            </a:r>
          </a:p>
        </p:txBody>
      </p:sp>
      <p:sp>
        <p:nvSpPr>
          <p:cNvPr id="4" name="Slide Number Placeholder 3"/>
          <p:cNvSpPr>
            <a:spLocks noGrp="1"/>
          </p:cNvSpPr>
          <p:nvPr>
            <p:ph type="sldNum" sz="quarter" idx="5"/>
          </p:nvPr>
        </p:nvSpPr>
        <p:spPr/>
        <p:txBody>
          <a:bodyPr/>
          <a:lstStyle/>
          <a:p>
            <a:fld id="{8CE54D93-A8FF-4921-8248-ADBBCD1748F5}" type="slidenum">
              <a:rPr lang="en-GB" smtClean="0"/>
              <a:t>28</a:t>
            </a:fld>
            <a:endParaRPr lang="en-GB"/>
          </a:p>
        </p:txBody>
      </p:sp>
    </p:spTree>
    <p:extLst>
      <p:ext uri="{BB962C8B-B14F-4D97-AF65-F5344CB8AC3E}">
        <p14:creationId xmlns:p14="http://schemas.microsoft.com/office/powerpoint/2010/main" val="3508018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b="0" dirty="0"/>
              <a:t>Funding!</a:t>
            </a:r>
          </a:p>
          <a:p>
            <a:endParaRPr lang="en-US" b="0" dirty="0"/>
          </a:p>
          <a:p>
            <a:r>
              <a:rPr lang="en-US" b="0" dirty="0"/>
              <a:t>Specialist to talk about this?</a:t>
            </a:r>
          </a:p>
        </p:txBody>
      </p:sp>
      <p:sp>
        <p:nvSpPr>
          <p:cNvPr id="4" name="Slide Number Placeholder 3"/>
          <p:cNvSpPr>
            <a:spLocks noGrp="1"/>
          </p:cNvSpPr>
          <p:nvPr>
            <p:ph type="sldNum" sz="quarter" idx="10"/>
          </p:nvPr>
        </p:nvSpPr>
        <p:spPr/>
        <p:txBody>
          <a:bodyPr/>
          <a:lstStyle/>
          <a:p>
            <a:fld id="{69C3F2ED-74C5-7D4F-8560-0CC253E9A436}" type="slidenum">
              <a:rPr lang="en-US" smtClean="0"/>
              <a:pPr/>
              <a:t>29</a:t>
            </a:fld>
            <a:endParaRPr lang="en-US" dirty="0"/>
          </a:p>
        </p:txBody>
      </p:sp>
    </p:spTree>
    <p:extLst>
      <p:ext uri="{BB962C8B-B14F-4D97-AF65-F5344CB8AC3E}">
        <p14:creationId xmlns:p14="http://schemas.microsoft.com/office/powerpoint/2010/main" val="1437550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Standard migration process, splits all migration tasks between the second and third phases.</a:t>
            </a:r>
          </a:p>
          <a:p>
            <a:endParaRPr lang="en-GB" dirty="0"/>
          </a:p>
          <a:p>
            <a:r>
              <a:rPr lang="en-GB" dirty="0"/>
              <a:t>This means majority of servers wouldn’t start replicating until a few weeks into the project which may cause unacceptable delays given the exit dates.</a:t>
            </a:r>
          </a:p>
        </p:txBody>
      </p:sp>
      <p:sp>
        <p:nvSpPr>
          <p:cNvPr id="4" name="Slide Number Placeholder 3"/>
          <p:cNvSpPr>
            <a:spLocks noGrp="1"/>
          </p:cNvSpPr>
          <p:nvPr>
            <p:ph type="sldNum" sz="quarter" idx="5"/>
          </p:nvPr>
        </p:nvSpPr>
        <p:spPr/>
        <p:txBody>
          <a:bodyPr/>
          <a:lstStyle/>
          <a:p>
            <a:fld id="{8CE54D93-A8FF-4921-8248-ADBBCD1748F5}" type="slidenum">
              <a:rPr lang="en-GB" smtClean="0"/>
              <a:t>30</a:t>
            </a:fld>
            <a:endParaRPr lang="en-GB"/>
          </a:p>
        </p:txBody>
      </p:sp>
    </p:spTree>
    <p:extLst>
      <p:ext uri="{BB962C8B-B14F-4D97-AF65-F5344CB8AC3E}">
        <p14:creationId xmlns:p14="http://schemas.microsoft.com/office/powerpoint/2010/main" val="1113806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Adjusted for this project, all replication happens as early as possible in the Mobilise phase.</a:t>
            </a:r>
          </a:p>
          <a:p>
            <a:endParaRPr lang="en-GB" dirty="0"/>
          </a:p>
          <a:p>
            <a:r>
              <a:rPr lang="en-GB" dirty="0"/>
              <a:t>Pilot candidates are identified by non-prod servers to sync up first (agreed by customer at the time)</a:t>
            </a:r>
          </a:p>
          <a:p>
            <a:endParaRPr lang="en-GB" dirty="0"/>
          </a:p>
          <a:p>
            <a:r>
              <a:rPr lang="en-GB" dirty="0"/>
              <a:t>All servers should already be in sync by the time phase 3 starts, potentially removing a couple of weeks from the timeline.</a:t>
            </a:r>
          </a:p>
        </p:txBody>
      </p:sp>
      <p:sp>
        <p:nvSpPr>
          <p:cNvPr id="4" name="Slide Number Placeholder 3"/>
          <p:cNvSpPr>
            <a:spLocks noGrp="1"/>
          </p:cNvSpPr>
          <p:nvPr>
            <p:ph type="sldNum" sz="quarter" idx="5"/>
          </p:nvPr>
        </p:nvSpPr>
        <p:spPr/>
        <p:txBody>
          <a:bodyPr/>
          <a:lstStyle/>
          <a:p>
            <a:fld id="{8CE54D93-A8FF-4921-8248-ADBBCD1748F5}" type="slidenum">
              <a:rPr lang="en-GB" smtClean="0"/>
              <a:t>31</a:t>
            </a:fld>
            <a:endParaRPr lang="en-GB"/>
          </a:p>
        </p:txBody>
      </p:sp>
    </p:spTree>
    <p:extLst>
      <p:ext uri="{BB962C8B-B14F-4D97-AF65-F5344CB8AC3E}">
        <p14:creationId xmlns:p14="http://schemas.microsoft.com/office/powerpoint/2010/main" val="3902819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Further considerations to speed up the migration process.</a:t>
            </a:r>
          </a:p>
          <a:p>
            <a:endParaRPr lang="en-GB" dirty="0"/>
          </a:p>
          <a:p>
            <a:r>
              <a:rPr lang="en-GB" dirty="0"/>
              <a:t>Remember we talked about T instances for </a:t>
            </a:r>
            <a:r>
              <a:rPr lang="en-GB"/>
              <a:t>production? Same issue with replication servers.</a:t>
            </a:r>
            <a:endParaRPr lang="en-GB" dirty="0"/>
          </a:p>
          <a:p>
            <a:endParaRPr lang="en-GB" dirty="0"/>
          </a:p>
          <a:p>
            <a:r>
              <a:rPr lang="en-GB" dirty="0"/>
              <a:t>C6i is recommended over other instance types because it has higher network bandwidth, higher EBS throughput and consistent performance.</a:t>
            </a:r>
          </a:p>
          <a:p>
            <a:endParaRPr lang="en-GB" dirty="0"/>
          </a:p>
          <a:p>
            <a:r>
              <a:rPr lang="en-GB" dirty="0"/>
              <a:t>C6a would improve cost/performance ratio but has lower throughput values.</a:t>
            </a:r>
          </a:p>
        </p:txBody>
      </p:sp>
      <p:sp>
        <p:nvSpPr>
          <p:cNvPr id="4" name="Slide Number Placeholder 3"/>
          <p:cNvSpPr>
            <a:spLocks noGrp="1"/>
          </p:cNvSpPr>
          <p:nvPr>
            <p:ph type="sldNum" sz="quarter" idx="5"/>
          </p:nvPr>
        </p:nvSpPr>
        <p:spPr/>
        <p:txBody>
          <a:bodyPr/>
          <a:lstStyle/>
          <a:p>
            <a:fld id="{7FF8D360-0B98-4D57-9BC7-3A501996F7B3}" type="slidenum">
              <a:rPr lang="en-GB" smtClean="0"/>
              <a:t>32</a:t>
            </a:fld>
            <a:endParaRPr lang="en-GB"/>
          </a:p>
        </p:txBody>
      </p:sp>
    </p:spTree>
    <p:extLst>
      <p:ext uri="{BB962C8B-B14F-4D97-AF65-F5344CB8AC3E}">
        <p14:creationId xmlns:p14="http://schemas.microsoft.com/office/powerpoint/2010/main" val="3678103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E54D93-A8FF-4921-8248-ADBBCD1748F5}" type="slidenum">
              <a:rPr lang="en-GB" smtClean="0"/>
              <a:t>33</a:t>
            </a:fld>
            <a:endParaRPr lang="en-GB"/>
          </a:p>
        </p:txBody>
      </p:sp>
    </p:spTree>
    <p:extLst>
      <p:ext uri="{BB962C8B-B14F-4D97-AF65-F5344CB8AC3E}">
        <p14:creationId xmlns:p14="http://schemas.microsoft.com/office/powerpoint/2010/main" val="3223767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bin"/><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F5719-C80C-AEBF-CE4F-C6C2E43CC8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79441C-44B5-4D6E-556C-C14F72BAD5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BA576E3-0DAD-ACAF-E874-85DC561FFA83}"/>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5" name="Footer Placeholder 4">
            <a:extLst>
              <a:ext uri="{FF2B5EF4-FFF2-40B4-BE49-F238E27FC236}">
                <a16:creationId xmlns:a16="http://schemas.microsoft.com/office/drawing/2014/main" id="{6D8D7D9A-14D8-5486-29B4-15399FAA3E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20B82F-88F2-FC71-7F6C-ABC789C40F57}"/>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285747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B0BF-9416-760D-8036-3B878DA0EF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086EB56-4CC0-97B6-F7C5-20ACB7B130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0F765A-A3B3-195F-9123-2F5A8686471F}"/>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5" name="Footer Placeholder 4">
            <a:extLst>
              <a:ext uri="{FF2B5EF4-FFF2-40B4-BE49-F238E27FC236}">
                <a16:creationId xmlns:a16="http://schemas.microsoft.com/office/drawing/2014/main" id="{0F37C0B4-22A3-5241-5120-F8BC13361C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BB3AAEB-3C05-D679-0A42-2072F21BA2D0}"/>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3801347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DE9FB-F16B-21E2-FCB2-A18BA6D7A5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B271DE4-E270-3799-DE98-DBE579EF22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D67FA6-A86E-AC7A-E995-055F62C3ABAD}"/>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5" name="Footer Placeholder 4">
            <a:extLst>
              <a:ext uri="{FF2B5EF4-FFF2-40B4-BE49-F238E27FC236}">
                <a16:creationId xmlns:a16="http://schemas.microsoft.com/office/drawing/2014/main" id="{0F414CC3-B541-05BD-A24F-0566BF29B7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6EA7F5-F6A1-94AF-931C-1BEE578D9042}"/>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1948968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0094B-5831-2A9C-9D70-FABFCCCC55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1C3C7AA-8DED-24E2-1A78-294E7D1FA7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C24881C-9720-712A-E126-3B0CD9CD0B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0A5321B-BA98-BFC0-D7C0-E008F9D987BA}"/>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6" name="Footer Placeholder 5">
            <a:extLst>
              <a:ext uri="{FF2B5EF4-FFF2-40B4-BE49-F238E27FC236}">
                <a16:creationId xmlns:a16="http://schemas.microsoft.com/office/drawing/2014/main" id="{EA11152D-49A6-F98D-E2C5-A051016914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CA2EA07-C5E6-035A-F604-752740BD9859}"/>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4009187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F1415-AA73-0621-5A27-3ACB03EAE7C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74BBD1C-25AC-8FC9-F580-6B96AA846F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8A5992-C462-14EA-1ADB-1177218250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5BF546-E93B-4585-9ADF-E641314FC7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3D0666-0E0D-07F9-1816-DC657C6E81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DB4E4E4-738C-D091-5B61-3046B0E652EF}"/>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8" name="Footer Placeholder 7">
            <a:extLst>
              <a:ext uri="{FF2B5EF4-FFF2-40B4-BE49-F238E27FC236}">
                <a16:creationId xmlns:a16="http://schemas.microsoft.com/office/drawing/2014/main" id="{20D87766-1B73-CAC9-629E-343BBACC966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82FD1C4-BE48-1218-7A65-087CE5E459E6}"/>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158462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C69F1-1587-5ECF-2BA0-51DE3C2B926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5F692D-A073-5164-469E-933A32515E4E}"/>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4" name="Footer Placeholder 3">
            <a:extLst>
              <a:ext uri="{FF2B5EF4-FFF2-40B4-BE49-F238E27FC236}">
                <a16:creationId xmlns:a16="http://schemas.microsoft.com/office/drawing/2014/main" id="{D105D419-465A-22CC-8C52-CEE5AB9F54E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3FAF092-855B-63BC-E861-D10C4E01402F}"/>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676224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C9126-E716-D429-3641-C905EDF70934}"/>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3" name="Footer Placeholder 2">
            <a:extLst>
              <a:ext uri="{FF2B5EF4-FFF2-40B4-BE49-F238E27FC236}">
                <a16:creationId xmlns:a16="http://schemas.microsoft.com/office/drawing/2014/main" id="{56CAB3C5-ADD3-2BDA-4E23-344DD6028A4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B26C32-77D1-91A6-3815-6055828A7056}"/>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877467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EF11-D4F6-BB07-EA7B-99095FAA6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9BEC324-40A2-ABD5-7FC1-C5A3DDA376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6A84F76-C2CA-7F07-C402-838B7C494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69A6E-9192-E0DE-6984-89EC6E1D4036}"/>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6" name="Footer Placeholder 5">
            <a:extLst>
              <a:ext uri="{FF2B5EF4-FFF2-40B4-BE49-F238E27FC236}">
                <a16:creationId xmlns:a16="http://schemas.microsoft.com/office/drawing/2014/main" id="{CDCB2FA6-F23C-0DF7-B139-AFE9532922C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4B6090-D8CB-149C-FF5D-CBD07BBF046F}"/>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1254357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ACF0-26DB-38E5-5743-18A5A48C07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1545673-9FA0-E457-DA4D-7B275B3B0D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0677CFA-D2E9-E8EB-F9F5-E2DE052F1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F7F89E-852B-9E37-5120-DE6C5CC818BB}"/>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6" name="Footer Placeholder 5">
            <a:extLst>
              <a:ext uri="{FF2B5EF4-FFF2-40B4-BE49-F238E27FC236}">
                <a16:creationId xmlns:a16="http://schemas.microsoft.com/office/drawing/2014/main" id="{514C4C83-E1B9-4845-2DB1-2FD011593F2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31893FA-9006-D876-E6A4-8DB69171BF66}"/>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2251420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0AB12-E64D-A67A-ED06-4001ED5A40A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B4ED0B-8B96-B013-874F-58B24BFF94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B727B64-EF15-0490-90A3-75C74A2ADBEE}"/>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5" name="Footer Placeholder 4">
            <a:extLst>
              <a:ext uri="{FF2B5EF4-FFF2-40B4-BE49-F238E27FC236}">
                <a16:creationId xmlns:a16="http://schemas.microsoft.com/office/drawing/2014/main" id="{C55EC0ED-FC9A-1B95-6250-C66009A2CF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9715EC6-8241-17FD-C6BA-2EA7F29FF491}"/>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1666375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249769-1927-21B3-016F-D0E4A79A2C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7E054E-3AB5-4370-92B1-7F63641816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655B9C-2279-70B0-EAA8-B9F7CE84F97F}"/>
              </a:ext>
            </a:extLst>
          </p:cNvPr>
          <p:cNvSpPr>
            <a:spLocks noGrp="1"/>
          </p:cNvSpPr>
          <p:nvPr>
            <p:ph type="dt" sz="half" idx="10"/>
          </p:nvPr>
        </p:nvSpPr>
        <p:spPr/>
        <p:txBody>
          <a:bodyPr/>
          <a:lstStyle/>
          <a:p>
            <a:fld id="{D06C1394-D1D8-4FCA-A42A-0194DAB28956}" type="datetimeFigureOut">
              <a:rPr lang="en-GB" smtClean="0"/>
              <a:t>05/12/2025</a:t>
            </a:fld>
            <a:endParaRPr lang="en-GB"/>
          </a:p>
        </p:txBody>
      </p:sp>
      <p:sp>
        <p:nvSpPr>
          <p:cNvPr id="5" name="Footer Placeholder 4">
            <a:extLst>
              <a:ext uri="{FF2B5EF4-FFF2-40B4-BE49-F238E27FC236}">
                <a16:creationId xmlns:a16="http://schemas.microsoft.com/office/drawing/2014/main" id="{F3B811CB-F645-6811-6B13-60844A8C1A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9F9EE7-C8B4-DAA4-4548-EB76FE54C28F}"/>
              </a:ext>
            </a:extLst>
          </p:cNvPr>
          <p:cNvSpPr>
            <a:spLocks noGrp="1"/>
          </p:cNvSpPr>
          <p:nvPr>
            <p:ph type="sldNum" sz="quarter" idx="12"/>
          </p:nvPr>
        </p:nvSpPr>
        <p:spPr/>
        <p:txBody>
          <a:bodyPr/>
          <a:lstStyle/>
          <a:p>
            <a:fld id="{41DAF538-693A-4E80-987F-3E9C27B38952}" type="slidenum">
              <a:rPr lang="en-GB" smtClean="0"/>
              <a:t>‹#›</a:t>
            </a:fld>
            <a:endParaRPr lang="en-GB"/>
          </a:p>
        </p:txBody>
      </p:sp>
    </p:spTree>
    <p:extLst>
      <p:ext uri="{BB962C8B-B14F-4D97-AF65-F5344CB8AC3E}">
        <p14:creationId xmlns:p14="http://schemas.microsoft.com/office/powerpoint/2010/main" val="3109039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p>
            <a:fld id="{57543A10-8BC2-9248-86DA-BAD08EDEBD3C}" type="datetime1">
              <a:rPr lang="en-US" smtClean="0"/>
              <a:t>12/5/2025</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261507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ne_Bulleted_Lis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3248"/>
            <a:ext cx="11259550" cy="535531"/>
          </a:xfrm>
        </p:spPr>
        <p:txBody>
          <a:bodyPr/>
          <a:lstStyle/>
          <a:p>
            <a:r>
              <a:rPr lang="en-US" dirty="0"/>
              <a:t>Click to edit Master title style</a:t>
            </a:r>
          </a:p>
        </p:txBody>
      </p:sp>
      <p:sp>
        <p:nvSpPr>
          <p:cNvPr id="3" name="Content Placeholder 2"/>
          <p:cNvSpPr>
            <a:spLocks noGrp="1"/>
          </p:cNvSpPr>
          <p:nvPr>
            <p:ph sz="half" idx="1"/>
          </p:nvPr>
        </p:nvSpPr>
        <p:spPr>
          <a:xfrm>
            <a:off x="457200" y="1371600"/>
            <a:ext cx="11258550" cy="4525963"/>
          </a:xfrm>
          <a:prstGeom prst="rect">
            <a:avLst/>
          </a:prstGeom>
        </p:spPr>
        <p:txBody>
          <a:bodyPr>
            <a:normAutofit/>
          </a:bodyPr>
          <a:lstStyle>
            <a:lvl1pPr>
              <a:defRPr sz="2667"/>
            </a:lvl1pPr>
            <a:lvl2pPr>
              <a:defRPr sz="2417"/>
            </a:lvl2pPr>
            <a:lvl3pPr>
              <a:defRPr sz="2167"/>
            </a:lvl3pPr>
            <a:lvl4pPr marL="1828727" indent="0">
              <a:buNone/>
              <a:defRPr sz="2167"/>
            </a:lvl4pPr>
            <a:lvl5pPr>
              <a:defRPr sz="2133"/>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37588867"/>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3CDCA6-DF5F-D057-31C7-E53D19A6F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1874"/>
            <a:ext cx="12191996" cy="6854250"/>
          </a:xfrm>
          <a:prstGeom prst="rect">
            <a:avLst/>
          </a:prstGeom>
        </p:spPr>
      </p:pic>
      <p:pic>
        <p:nvPicPr>
          <p:cNvPr id="10" name="Picture 9" descr="A white text on a black background&#10;&#10;Description automatically generated">
            <a:extLst>
              <a:ext uri="{FF2B5EF4-FFF2-40B4-BE49-F238E27FC236}">
                <a16:creationId xmlns:a16="http://schemas.microsoft.com/office/drawing/2014/main" id="{9B81A0B4-CBB6-49C1-68B1-EB8EC3532A1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95600" y="378386"/>
            <a:ext cx="1441765" cy="448549"/>
          </a:xfrm>
          <a:prstGeom prst="rect">
            <a:avLst/>
          </a:prstGeom>
        </p:spPr>
      </p:pic>
      <p:sp>
        <p:nvSpPr>
          <p:cNvPr id="9" name="Text Placeholder 2">
            <a:extLst>
              <a:ext uri="{FF2B5EF4-FFF2-40B4-BE49-F238E27FC236}">
                <a16:creationId xmlns:a16="http://schemas.microsoft.com/office/drawing/2014/main" id="{7343EEFD-71BE-8D95-EB56-382E7344ADBD}"/>
              </a:ext>
            </a:extLst>
          </p:cNvPr>
          <p:cNvSpPr>
            <a:spLocks noGrp="1"/>
          </p:cNvSpPr>
          <p:nvPr>
            <p:ph type="body" sz="quarter" idx="10" hasCustomPrompt="1"/>
          </p:nvPr>
        </p:nvSpPr>
        <p:spPr>
          <a:xfrm>
            <a:off x="461327" y="1917947"/>
            <a:ext cx="6515943" cy="1511053"/>
          </a:xfrm>
        </p:spPr>
        <p:txBody>
          <a:bodyPr>
            <a:noAutofit/>
          </a:bodyPr>
          <a:lstStyle>
            <a:lvl1pPr marL="0" indent="0">
              <a:buNone/>
              <a:defRPr sz="5400">
                <a:solidFill>
                  <a:schemeClr val="bg1"/>
                </a:solidFill>
                <a:latin typeface="+mj-lt"/>
              </a:defRPr>
            </a:lvl1pPr>
          </a:lstStyle>
          <a:p>
            <a:pPr lvl="0"/>
            <a:r>
              <a:rPr lang="en-GB" dirty="0"/>
              <a:t>Click to add title</a:t>
            </a:r>
          </a:p>
        </p:txBody>
      </p:sp>
      <p:sp>
        <p:nvSpPr>
          <p:cNvPr id="11" name="Text Placeholder 11">
            <a:extLst>
              <a:ext uri="{FF2B5EF4-FFF2-40B4-BE49-F238E27FC236}">
                <a16:creationId xmlns:a16="http://schemas.microsoft.com/office/drawing/2014/main" id="{7CD6C0F4-E22C-2949-DD65-7193CFB0832E}"/>
              </a:ext>
            </a:extLst>
          </p:cNvPr>
          <p:cNvSpPr>
            <a:spLocks noGrp="1"/>
          </p:cNvSpPr>
          <p:nvPr>
            <p:ph type="body" sz="quarter" idx="11" hasCustomPrompt="1"/>
          </p:nvPr>
        </p:nvSpPr>
        <p:spPr>
          <a:xfrm>
            <a:off x="461327" y="5665750"/>
            <a:ext cx="3519488" cy="496040"/>
          </a:xfrm>
        </p:spPr>
        <p:txBody>
          <a:bodyPr>
            <a:noAutofit/>
          </a:bodyPr>
          <a:lstStyle>
            <a:lvl1pPr marL="0" indent="0">
              <a:buNone/>
              <a:defRPr sz="1600">
                <a:solidFill>
                  <a:schemeClr val="bg1"/>
                </a:solidFill>
              </a:defRPr>
            </a:lvl1pPr>
          </a:lstStyle>
          <a:p>
            <a:pPr lvl="0"/>
            <a:r>
              <a:rPr lang="en-GB"/>
              <a:t>Add in name, enter to add role description and date</a:t>
            </a:r>
          </a:p>
        </p:txBody>
      </p:sp>
    </p:spTree>
    <p:extLst>
      <p:ext uri="{BB962C8B-B14F-4D97-AF65-F5344CB8AC3E}">
        <p14:creationId xmlns:p14="http://schemas.microsoft.com/office/powerpoint/2010/main" val="1177484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slide 24">
    <p:bg>
      <p:bgPr>
        <a:solidFill>
          <a:srgbClr val="FFFFFF"/>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1377A18-0EDA-A409-387A-7DBA387DB16A}"/>
              </a:ext>
            </a:extLst>
          </p:cNvPr>
          <p:cNvSpPr>
            <a:spLocks noGrp="1"/>
          </p:cNvSpPr>
          <p:nvPr>
            <p:ph type="body" sz="quarter" idx="10" hasCustomPrompt="1"/>
          </p:nvPr>
        </p:nvSpPr>
        <p:spPr>
          <a:xfrm>
            <a:off x="463514" y="357188"/>
            <a:ext cx="2775627" cy="708025"/>
          </a:xfrm>
        </p:spPr>
        <p:txBody>
          <a:bodyPr>
            <a:noAutofit/>
          </a:bodyPr>
          <a:lstStyle>
            <a:lvl1pPr marL="0" indent="0">
              <a:buNone/>
              <a:defRPr>
                <a:solidFill>
                  <a:srgbClr val="472566"/>
                </a:solidFill>
                <a:latin typeface="Avenir Next LT Pro Demi" panose="020B0704020202020204" pitchFamily="34" charset="0"/>
              </a:defRPr>
            </a:lvl1pPr>
          </a:lstStyle>
          <a:p>
            <a:pPr lvl="0"/>
            <a:r>
              <a:rPr lang="en-GB"/>
              <a:t>Add title</a:t>
            </a:r>
          </a:p>
        </p:txBody>
      </p:sp>
      <p:sp>
        <p:nvSpPr>
          <p:cNvPr id="2" name="Slide Number Placeholder 4">
            <a:extLst>
              <a:ext uri="{FF2B5EF4-FFF2-40B4-BE49-F238E27FC236}">
                <a16:creationId xmlns:a16="http://schemas.microsoft.com/office/drawing/2014/main" id="{B498EACA-63B6-0B27-7558-D04FD8047998}"/>
              </a:ext>
            </a:extLst>
          </p:cNvPr>
          <p:cNvSpPr>
            <a:spLocks noGrp="1"/>
          </p:cNvSpPr>
          <p:nvPr>
            <p:ph type="sldNum" sz="quarter" idx="15"/>
          </p:nvPr>
        </p:nvSpPr>
        <p:spPr>
          <a:xfrm>
            <a:off x="11064751" y="6289829"/>
            <a:ext cx="665922" cy="372440"/>
          </a:xfrm>
        </p:spPr>
        <p:txBody>
          <a:bodyPr>
            <a:noAutofit/>
          </a:bodyPr>
          <a:lstStyle>
            <a:lvl1pPr>
              <a:defRPr sz="1000">
                <a:solidFill>
                  <a:schemeClr val="tx1"/>
                </a:solidFill>
              </a:defRPr>
            </a:lvl1pPr>
          </a:lstStyle>
          <a:p>
            <a:fld id="{41DAF538-693A-4E80-987F-3E9C27B38952}" type="slidenum">
              <a:rPr lang="en-GB"/>
              <a:pPr/>
              <a:t>‹#›</a:t>
            </a:fld>
            <a:endParaRPr lang="en-GB"/>
          </a:p>
        </p:txBody>
      </p:sp>
      <p:sp>
        <p:nvSpPr>
          <p:cNvPr id="3" name="Text Placeholder 13">
            <a:extLst>
              <a:ext uri="{FF2B5EF4-FFF2-40B4-BE49-F238E27FC236}">
                <a16:creationId xmlns:a16="http://schemas.microsoft.com/office/drawing/2014/main" id="{B1D707E6-07CE-7207-BC9E-F60D25ADF201}"/>
              </a:ext>
            </a:extLst>
          </p:cNvPr>
          <p:cNvSpPr>
            <a:spLocks noGrp="1"/>
          </p:cNvSpPr>
          <p:nvPr>
            <p:ph type="body" sz="quarter" idx="12" hasCustomPrompt="1"/>
          </p:nvPr>
        </p:nvSpPr>
        <p:spPr>
          <a:xfrm>
            <a:off x="461327" y="6376658"/>
            <a:ext cx="3006725" cy="252742"/>
          </a:xfrm>
        </p:spPr>
        <p:txBody>
          <a:bodyPr>
            <a:noAutofit/>
          </a:bodyPr>
          <a:lstStyle>
            <a:lvl1pPr marL="0" indent="0">
              <a:buNone/>
              <a:defRPr sz="1000">
                <a:solidFill>
                  <a:srgbClr val="000000"/>
                </a:solidFill>
              </a:defRPr>
            </a:lvl1pPr>
          </a:lstStyle>
          <a:p>
            <a:pPr lvl="0"/>
            <a:r>
              <a:rPr lang="en-GB"/>
              <a:t>Document name</a:t>
            </a:r>
          </a:p>
        </p:txBody>
      </p:sp>
    </p:spTree>
    <p:extLst>
      <p:ext uri="{BB962C8B-B14F-4D97-AF65-F5344CB8AC3E}">
        <p14:creationId xmlns:p14="http://schemas.microsoft.com/office/powerpoint/2010/main" val="3538838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ivider slide 1">
    <p:bg>
      <p:bgPr>
        <a:solidFill>
          <a:srgbClr val="FFFFFF"/>
        </a:solidFill>
        <a:effectLst/>
      </p:bgPr>
    </p:bg>
    <p:spTree>
      <p:nvGrpSpPr>
        <p:cNvPr id="1" name=""/>
        <p:cNvGrpSpPr/>
        <p:nvPr/>
      </p:nvGrpSpPr>
      <p:grpSpPr>
        <a:xfrm>
          <a:off x="0" y="0"/>
          <a:ext cx="0" cy="0"/>
          <a:chOff x="0" y="0"/>
          <a:chExt cx="0" cy="0"/>
        </a:xfrm>
      </p:grpSpPr>
      <p:pic>
        <p:nvPicPr>
          <p:cNvPr id="11" name="Picture 10" descr="A purple and white object&#10;&#10;Description automatically generated with medium confidence">
            <a:extLst>
              <a:ext uri="{FF2B5EF4-FFF2-40B4-BE49-F238E27FC236}">
                <a16:creationId xmlns:a16="http://schemas.microsoft.com/office/drawing/2014/main" id="{0C47E300-6A8D-288C-C842-862F52C03D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874"/>
            <a:ext cx="12192000" cy="6854252"/>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8C2F2088-9651-09EE-FF3E-7EA8E45B4B7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95600" y="378386"/>
            <a:ext cx="1441765" cy="448549"/>
          </a:xfrm>
          <a:prstGeom prst="rect">
            <a:avLst/>
          </a:prstGeom>
        </p:spPr>
      </p:pic>
      <p:sp>
        <p:nvSpPr>
          <p:cNvPr id="4" name="Text Placeholder 3">
            <a:extLst>
              <a:ext uri="{FF2B5EF4-FFF2-40B4-BE49-F238E27FC236}">
                <a16:creationId xmlns:a16="http://schemas.microsoft.com/office/drawing/2014/main" id="{006ACAB7-D52D-017F-80AE-0789BB5ACFFE}"/>
              </a:ext>
            </a:extLst>
          </p:cNvPr>
          <p:cNvSpPr>
            <a:spLocks noGrp="1"/>
          </p:cNvSpPr>
          <p:nvPr>
            <p:ph type="body" sz="quarter" idx="10" hasCustomPrompt="1"/>
          </p:nvPr>
        </p:nvSpPr>
        <p:spPr>
          <a:xfrm>
            <a:off x="542925" y="3079346"/>
            <a:ext cx="7358871" cy="699308"/>
          </a:xfrm>
        </p:spPr>
        <p:txBody>
          <a:bodyPr>
            <a:noAutofit/>
          </a:bodyPr>
          <a:lstStyle>
            <a:lvl1pPr marL="0" indent="0">
              <a:buNone/>
              <a:defRPr sz="4800">
                <a:solidFill>
                  <a:schemeClr val="bg1"/>
                </a:solidFill>
                <a:latin typeface="+mj-lt"/>
              </a:defRPr>
            </a:lvl1pPr>
          </a:lstStyle>
          <a:p>
            <a:pPr lvl="0"/>
            <a:r>
              <a:rPr lang="en-US" dirty="0"/>
              <a:t>Click to add title</a:t>
            </a:r>
            <a:endParaRPr lang="en-GB" dirty="0"/>
          </a:p>
        </p:txBody>
      </p:sp>
    </p:spTree>
    <p:extLst>
      <p:ext uri="{BB962C8B-B14F-4D97-AF65-F5344CB8AC3E}">
        <p14:creationId xmlns:p14="http://schemas.microsoft.com/office/powerpoint/2010/main" val="1219076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Agenda slid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3CDCA6-DF5F-D057-31C7-E53D19A6F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1874"/>
            <a:ext cx="12191998" cy="6854251"/>
          </a:xfrm>
          <a:prstGeom prst="rect">
            <a:avLst/>
          </a:prstGeom>
        </p:spPr>
      </p:pic>
      <p:sp>
        <p:nvSpPr>
          <p:cNvPr id="2" name="Text Placeholder 4">
            <a:extLst>
              <a:ext uri="{FF2B5EF4-FFF2-40B4-BE49-F238E27FC236}">
                <a16:creationId xmlns:a16="http://schemas.microsoft.com/office/drawing/2014/main" id="{3A0527D2-0D2C-39B4-626A-7D1F50C3F324}"/>
              </a:ext>
            </a:extLst>
          </p:cNvPr>
          <p:cNvSpPr>
            <a:spLocks noGrp="1"/>
          </p:cNvSpPr>
          <p:nvPr>
            <p:ph type="body" sz="quarter" idx="10" hasCustomPrompt="1"/>
          </p:nvPr>
        </p:nvSpPr>
        <p:spPr>
          <a:xfrm>
            <a:off x="484779" y="357188"/>
            <a:ext cx="4692650" cy="708025"/>
          </a:xfrm>
        </p:spPr>
        <p:txBody>
          <a:bodyPr>
            <a:noAutofit/>
          </a:bodyPr>
          <a:lstStyle>
            <a:lvl1pPr marL="0" indent="0">
              <a:buNone/>
              <a:defRPr>
                <a:solidFill>
                  <a:schemeClr val="tx1"/>
                </a:solidFill>
                <a:latin typeface="Avenir Next LT Pro Demi" panose="020B0704020202020204" pitchFamily="34" charset="0"/>
              </a:defRPr>
            </a:lvl1pPr>
          </a:lstStyle>
          <a:p>
            <a:pPr lvl="0"/>
            <a:r>
              <a:rPr lang="en-GB"/>
              <a:t>Agenda / Contents / Title</a:t>
            </a:r>
          </a:p>
        </p:txBody>
      </p:sp>
      <p:sp>
        <p:nvSpPr>
          <p:cNvPr id="10" name="Slide Number Placeholder 4">
            <a:extLst>
              <a:ext uri="{FF2B5EF4-FFF2-40B4-BE49-F238E27FC236}">
                <a16:creationId xmlns:a16="http://schemas.microsoft.com/office/drawing/2014/main" id="{EBCF4769-4018-7C07-DCDC-643F2A48D729}"/>
              </a:ext>
            </a:extLst>
          </p:cNvPr>
          <p:cNvSpPr>
            <a:spLocks noGrp="1"/>
          </p:cNvSpPr>
          <p:nvPr>
            <p:ph type="sldNum" sz="quarter" idx="15"/>
          </p:nvPr>
        </p:nvSpPr>
        <p:spPr>
          <a:xfrm>
            <a:off x="11064751" y="6289829"/>
            <a:ext cx="665922" cy="372440"/>
          </a:xfrm>
        </p:spPr>
        <p:txBody>
          <a:bodyPr>
            <a:noAutofit/>
          </a:bodyPr>
          <a:lstStyle>
            <a:lvl1pPr>
              <a:defRPr sz="1000">
                <a:solidFill>
                  <a:schemeClr val="tx1"/>
                </a:solidFill>
              </a:defRPr>
            </a:lvl1pPr>
          </a:lstStyle>
          <a:p>
            <a:fld id="{41DAF538-693A-4E80-987F-3E9C27B38952}" type="slidenum">
              <a:rPr lang="en-GB"/>
              <a:pPr/>
              <a:t>‹#›</a:t>
            </a:fld>
            <a:endParaRPr lang="en-GB"/>
          </a:p>
        </p:txBody>
      </p:sp>
      <p:sp>
        <p:nvSpPr>
          <p:cNvPr id="3" name="Text Placeholder 3">
            <a:extLst>
              <a:ext uri="{FF2B5EF4-FFF2-40B4-BE49-F238E27FC236}">
                <a16:creationId xmlns:a16="http://schemas.microsoft.com/office/drawing/2014/main" id="{78C43933-8513-8B90-C324-F3E6C86BA05D}"/>
              </a:ext>
            </a:extLst>
          </p:cNvPr>
          <p:cNvSpPr>
            <a:spLocks noGrp="1"/>
          </p:cNvSpPr>
          <p:nvPr>
            <p:ph type="body" sz="quarter" idx="16" hasCustomPrompt="1"/>
          </p:nvPr>
        </p:nvSpPr>
        <p:spPr>
          <a:xfrm>
            <a:off x="2087563" y="1768208"/>
            <a:ext cx="5280025" cy="3622675"/>
          </a:xfrm>
        </p:spPr>
        <p:txBody>
          <a:bodyPr>
            <a:noAutofit/>
          </a:bodyPr>
          <a:lstStyle>
            <a:lvl1pPr marL="514350" indent="-514350">
              <a:buFont typeface="+mj-lt"/>
              <a:buAutoNum type="arabicPeriod"/>
              <a:defRPr sz="2400">
                <a:solidFill>
                  <a:schemeClr val="tx1"/>
                </a:solidFill>
              </a:defRPr>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en-GB" dirty="0"/>
              <a:t>Click to add content</a:t>
            </a:r>
          </a:p>
          <a:p>
            <a:pPr lvl="0"/>
            <a:r>
              <a:rPr lang="en-GB" dirty="0"/>
              <a:t>Click to add content</a:t>
            </a:r>
          </a:p>
          <a:p>
            <a:pPr lvl="0"/>
            <a:r>
              <a:rPr lang="en-GB" dirty="0"/>
              <a:t>Click to add content</a:t>
            </a:r>
          </a:p>
          <a:p>
            <a:pPr lvl="0"/>
            <a:r>
              <a:rPr lang="en-GB" dirty="0"/>
              <a:t>Click to add content</a:t>
            </a:r>
          </a:p>
          <a:p>
            <a:pPr lvl="0"/>
            <a:r>
              <a:rPr lang="en-GB" dirty="0"/>
              <a:t>Click to add content</a:t>
            </a:r>
          </a:p>
          <a:p>
            <a:pPr lvl="0"/>
            <a:r>
              <a:rPr lang="en-GB" dirty="0"/>
              <a:t>Click to add content</a:t>
            </a:r>
          </a:p>
          <a:p>
            <a:pPr lvl="0"/>
            <a:r>
              <a:rPr lang="en-GB" dirty="0"/>
              <a:t>Click to add content</a:t>
            </a:r>
          </a:p>
          <a:p>
            <a:pPr lvl="0"/>
            <a:r>
              <a:rPr lang="en-GB" dirty="0"/>
              <a:t>Click to add content</a:t>
            </a:r>
          </a:p>
        </p:txBody>
      </p:sp>
      <p:sp>
        <p:nvSpPr>
          <p:cNvPr id="4" name="Text Placeholder 13">
            <a:extLst>
              <a:ext uri="{FF2B5EF4-FFF2-40B4-BE49-F238E27FC236}">
                <a16:creationId xmlns:a16="http://schemas.microsoft.com/office/drawing/2014/main" id="{F164FC79-B0EA-664F-220B-459A2DE7E423}"/>
              </a:ext>
            </a:extLst>
          </p:cNvPr>
          <p:cNvSpPr>
            <a:spLocks noGrp="1"/>
          </p:cNvSpPr>
          <p:nvPr>
            <p:ph type="body" sz="quarter" idx="12" hasCustomPrompt="1"/>
          </p:nvPr>
        </p:nvSpPr>
        <p:spPr>
          <a:xfrm>
            <a:off x="461327" y="6376658"/>
            <a:ext cx="3006725" cy="252742"/>
          </a:xfrm>
        </p:spPr>
        <p:txBody>
          <a:bodyPr>
            <a:noAutofit/>
          </a:bodyPr>
          <a:lstStyle>
            <a:lvl1pPr marL="0" indent="0">
              <a:buNone/>
              <a:defRPr sz="1000">
                <a:solidFill>
                  <a:schemeClr val="tx1"/>
                </a:solidFill>
              </a:defRPr>
            </a:lvl1pPr>
          </a:lstStyle>
          <a:p>
            <a:pPr lvl="0"/>
            <a:r>
              <a:rPr lang="en-GB"/>
              <a:t>Document name</a:t>
            </a:r>
          </a:p>
        </p:txBody>
      </p:sp>
    </p:spTree>
    <p:extLst>
      <p:ext uri="{BB962C8B-B14F-4D97-AF65-F5344CB8AC3E}">
        <p14:creationId xmlns:p14="http://schemas.microsoft.com/office/powerpoint/2010/main" val="5602099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slide 2">
    <p:bg>
      <p:bgPr>
        <a:solidFill>
          <a:srgbClr val="FFFFFF"/>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3EDB491-59FD-53DB-14D4-D31763671BAF}"/>
              </a:ext>
            </a:extLst>
          </p:cNvPr>
          <p:cNvSpPr>
            <a:spLocks noGrp="1"/>
          </p:cNvSpPr>
          <p:nvPr>
            <p:ph type="body" sz="quarter" idx="10" hasCustomPrompt="1"/>
          </p:nvPr>
        </p:nvSpPr>
        <p:spPr>
          <a:xfrm>
            <a:off x="484781" y="357188"/>
            <a:ext cx="4692650" cy="708025"/>
          </a:xfrm>
        </p:spPr>
        <p:txBody>
          <a:bodyPr>
            <a:noAutofit/>
          </a:bodyPr>
          <a:lstStyle>
            <a:lvl1pPr marL="0" indent="0">
              <a:buNone/>
              <a:defRPr>
                <a:solidFill>
                  <a:srgbClr val="472566"/>
                </a:solidFill>
                <a:latin typeface="Avenir Next LT Pro Demi" panose="020B0704020202020204" pitchFamily="34" charset="0"/>
              </a:defRPr>
            </a:lvl1pPr>
          </a:lstStyle>
          <a:p>
            <a:pPr lvl="0"/>
            <a:r>
              <a:rPr lang="en-GB"/>
              <a:t>Add title text</a:t>
            </a:r>
          </a:p>
        </p:txBody>
      </p:sp>
      <p:sp>
        <p:nvSpPr>
          <p:cNvPr id="2" name="Text Placeholder 13">
            <a:extLst>
              <a:ext uri="{FF2B5EF4-FFF2-40B4-BE49-F238E27FC236}">
                <a16:creationId xmlns:a16="http://schemas.microsoft.com/office/drawing/2014/main" id="{210BF13C-51B1-888F-E0F9-902FF113788F}"/>
              </a:ext>
            </a:extLst>
          </p:cNvPr>
          <p:cNvSpPr>
            <a:spLocks noGrp="1"/>
          </p:cNvSpPr>
          <p:nvPr>
            <p:ph type="body" sz="quarter" idx="12" hasCustomPrompt="1"/>
          </p:nvPr>
        </p:nvSpPr>
        <p:spPr>
          <a:xfrm>
            <a:off x="461327" y="6376658"/>
            <a:ext cx="3006725" cy="252742"/>
          </a:xfrm>
        </p:spPr>
        <p:txBody>
          <a:bodyPr>
            <a:noAutofit/>
          </a:bodyPr>
          <a:lstStyle>
            <a:lvl1pPr marL="0" indent="0">
              <a:buNone/>
              <a:defRPr sz="1000">
                <a:solidFill>
                  <a:srgbClr val="000000"/>
                </a:solidFill>
              </a:defRPr>
            </a:lvl1pPr>
          </a:lstStyle>
          <a:p>
            <a:pPr lvl="0"/>
            <a:r>
              <a:rPr lang="en-GB"/>
              <a:t>Document name</a:t>
            </a:r>
          </a:p>
        </p:txBody>
      </p:sp>
      <p:sp>
        <p:nvSpPr>
          <p:cNvPr id="3" name="Slide Number Placeholder 4">
            <a:extLst>
              <a:ext uri="{FF2B5EF4-FFF2-40B4-BE49-F238E27FC236}">
                <a16:creationId xmlns:a16="http://schemas.microsoft.com/office/drawing/2014/main" id="{EFFBB072-7856-DAEB-8E13-91BD3B9A8955}"/>
              </a:ext>
            </a:extLst>
          </p:cNvPr>
          <p:cNvSpPr>
            <a:spLocks noGrp="1"/>
          </p:cNvSpPr>
          <p:nvPr>
            <p:ph type="sldNum" sz="quarter" idx="15"/>
          </p:nvPr>
        </p:nvSpPr>
        <p:spPr>
          <a:xfrm>
            <a:off x="11064751" y="6289829"/>
            <a:ext cx="665922" cy="372440"/>
          </a:xfrm>
        </p:spPr>
        <p:txBody>
          <a:bodyPr>
            <a:noAutofit/>
          </a:bodyPr>
          <a:lstStyle>
            <a:lvl1pPr>
              <a:defRPr sz="1000">
                <a:solidFill>
                  <a:schemeClr val="tx1"/>
                </a:solidFill>
              </a:defRPr>
            </a:lvl1pPr>
          </a:lstStyle>
          <a:p>
            <a:fld id="{41DAF538-693A-4E80-987F-3E9C27B38952}" type="slidenum">
              <a:rPr lang="en-GB"/>
              <a:pPr/>
              <a:t>‹#›</a:t>
            </a:fld>
            <a:endParaRPr lang="en-GB"/>
          </a:p>
        </p:txBody>
      </p:sp>
      <p:sp>
        <p:nvSpPr>
          <p:cNvPr id="7" name="Content Placeholder 9">
            <a:extLst>
              <a:ext uri="{FF2B5EF4-FFF2-40B4-BE49-F238E27FC236}">
                <a16:creationId xmlns:a16="http://schemas.microsoft.com/office/drawing/2014/main" id="{61817E7D-387A-4A74-B845-6CCBB19E4F0D}"/>
              </a:ext>
            </a:extLst>
          </p:cNvPr>
          <p:cNvSpPr>
            <a:spLocks noGrp="1"/>
          </p:cNvSpPr>
          <p:nvPr>
            <p:ph sz="quarter" idx="11" hasCustomPrompt="1"/>
          </p:nvPr>
        </p:nvSpPr>
        <p:spPr>
          <a:xfrm>
            <a:off x="484188" y="1828800"/>
            <a:ext cx="3554412" cy="3744913"/>
          </a:xfrm>
        </p:spPr>
        <p:txBody>
          <a:bodyPr>
            <a:noAutofit/>
          </a:bodyPr>
          <a:lstStyle>
            <a:lvl1pPr marL="0" indent="0">
              <a:buNone/>
              <a:defRPr sz="1400">
                <a:solidFill>
                  <a:schemeClr val="tx1"/>
                </a:solidFill>
              </a:defRPr>
            </a:lvl1pPr>
          </a:lstStyle>
          <a:p>
            <a:pPr lvl="0"/>
            <a:r>
              <a:rPr lang="en-US" dirty="0"/>
              <a:t>Insert text or image</a:t>
            </a:r>
            <a:endParaRPr lang="en-GB" dirty="0"/>
          </a:p>
        </p:txBody>
      </p:sp>
      <p:sp>
        <p:nvSpPr>
          <p:cNvPr id="8" name="Content Placeholder 9">
            <a:extLst>
              <a:ext uri="{FF2B5EF4-FFF2-40B4-BE49-F238E27FC236}">
                <a16:creationId xmlns:a16="http://schemas.microsoft.com/office/drawing/2014/main" id="{1975B2EA-96B8-F241-8950-5D2492AA1202}"/>
              </a:ext>
            </a:extLst>
          </p:cNvPr>
          <p:cNvSpPr>
            <a:spLocks noGrp="1"/>
          </p:cNvSpPr>
          <p:nvPr>
            <p:ph sz="quarter" idx="13" hasCustomPrompt="1"/>
          </p:nvPr>
        </p:nvSpPr>
        <p:spPr>
          <a:xfrm>
            <a:off x="4318794" y="1828799"/>
            <a:ext cx="3554412" cy="3744913"/>
          </a:xfrm>
        </p:spPr>
        <p:txBody>
          <a:bodyPr>
            <a:noAutofit/>
          </a:bodyPr>
          <a:lstStyle>
            <a:lvl1pPr marL="0" indent="0">
              <a:buNone/>
              <a:defRPr sz="1400">
                <a:solidFill>
                  <a:schemeClr val="tx1"/>
                </a:solidFill>
              </a:defRPr>
            </a:lvl1pPr>
          </a:lstStyle>
          <a:p>
            <a:pPr lvl="0"/>
            <a:r>
              <a:rPr lang="en-US" dirty="0"/>
              <a:t>Insert text or image</a:t>
            </a:r>
            <a:endParaRPr lang="en-GB" dirty="0"/>
          </a:p>
        </p:txBody>
      </p:sp>
      <p:sp>
        <p:nvSpPr>
          <p:cNvPr id="10" name="Content Placeholder 9">
            <a:extLst>
              <a:ext uri="{FF2B5EF4-FFF2-40B4-BE49-F238E27FC236}">
                <a16:creationId xmlns:a16="http://schemas.microsoft.com/office/drawing/2014/main" id="{B4D98D84-28DF-86D0-7BCD-79B8FA8B9421}"/>
              </a:ext>
            </a:extLst>
          </p:cNvPr>
          <p:cNvSpPr>
            <a:spLocks noGrp="1"/>
          </p:cNvSpPr>
          <p:nvPr>
            <p:ph sz="quarter" idx="16" hasCustomPrompt="1"/>
          </p:nvPr>
        </p:nvSpPr>
        <p:spPr>
          <a:xfrm>
            <a:off x="8153400" y="1828799"/>
            <a:ext cx="3554412" cy="3744913"/>
          </a:xfrm>
        </p:spPr>
        <p:txBody>
          <a:bodyPr>
            <a:noAutofit/>
          </a:bodyPr>
          <a:lstStyle>
            <a:lvl1pPr marL="0" indent="0">
              <a:buNone/>
              <a:defRPr sz="1400">
                <a:solidFill>
                  <a:schemeClr val="tx1"/>
                </a:solidFill>
              </a:defRPr>
            </a:lvl1pPr>
          </a:lstStyle>
          <a:p>
            <a:pPr lvl="0"/>
            <a:r>
              <a:rPr lang="en-US" dirty="0"/>
              <a:t>Insert text or image</a:t>
            </a:r>
            <a:endParaRPr lang="en-GB" dirty="0"/>
          </a:p>
        </p:txBody>
      </p:sp>
    </p:spTree>
    <p:extLst>
      <p:ext uri="{BB962C8B-B14F-4D97-AF65-F5344CB8AC3E}">
        <p14:creationId xmlns:p14="http://schemas.microsoft.com/office/powerpoint/2010/main" val="867187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nd slid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3CDCA6-DF5F-D057-31C7-E53D19A6F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11399"/>
            <a:ext cx="12191996" cy="6854250"/>
          </a:xfrm>
          <a:prstGeom prst="rect">
            <a:avLst/>
          </a:prstGeom>
        </p:spPr>
      </p:pic>
      <p:pic>
        <p:nvPicPr>
          <p:cNvPr id="10" name="Picture 9" descr="A white text on a black background&#10;&#10;Description automatically generated">
            <a:extLst>
              <a:ext uri="{FF2B5EF4-FFF2-40B4-BE49-F238E27FC236}">
                <a16:creationId xmlns:a16="http://schemas.microsoft.com/office/drawing/2014/main" id="{9B81A0B4-CBB6-49C1-68B1-EB8EC3532A1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95600" y="378386"/>
            <a:ext cx="1441765" cy="448549"/>
          </a:xfrm>
          <a:prstGeom prst="rect">
            <a:avLst/>
          </a:prstGeom>
        </p:spPr>
      </p:pic>
      <p:sp>
        <p:nvSpPr>
          <p:cNvPr id="2" name="Text Placeholder 3">
            <a:extLst>
              <a:ext uri="{FF2B5EF4-FFF2-40B4-BE49-F238E27FC236}">
                <a16:creationId xmlns:a16="http://schemas.microsoft.com/office/drawing/2014/main" id="{EE2BD5D4-A7C6-FE13-51E3-3DAD93405F6C}"/>
              </a:ext>
            </a:extLst>
          </p:cNvPr>
          <p:cNvSpPr>
            <a:spLocks noGrp="1"/>
          </p:cNvSpPr>
          <p:nvPr>
            <p:ph type="body" sz="quarter" idx="10" hasCustomPrompt="1"/>
          </p:nvPr>
        </p:nvSpPr>
        <p:spPr>
          <a:xfrm>
            <a:off x="395600" y="5930692"/>
            <a:ext cx="3584575" cy="704850"/>
          </a:xfrm>
        </p:spPr>
        <p:txBody>
          <a:bodyPr>
            <a:noAutofit/>
          </a:bodyPr>
          <a:lstStyle>
            <a:lvl1pPr marL="0" indent="0">
              <a:buNone/>
              <a:defRPr sz="1400" b="0">
                <a:solidFill>
                  <a:schemeClr val="bg1"/>
                </a:solidFill>
                <a:latin typeface="+mj-lt"/>
              </a:defRPr>
            </a:lvl1pPr>
          </a:lstStyle>
          <a:p>
            <a:pPr lvl="0"/>
            <a:r>
              <a:rPr lang="en-GB" dirty="0"/>
              <a:t>Click to add contact details </a:t>
            </a:r>
          </a:p>
          <a:p>
            <a:pPr lvl="0"/>
            <a:r>
              <a:rPr lang="en-GB" dirty="0"/>
              <a:t>Find out more www.Softcat.com</a:t>
            </a:r>
          </a:p>
        </p:txBody>
      </p:sp>
    </p:spTree>
    <p:extLst>
      <p:ext uri="{BB962C8B-B14F-4D97-AF65-F5344CB8AC3E}">
        <p14:creationId xmlns:p14="http://schemas.microsoft.com/office/powerpoint/2010/main" val="8380157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slide 15">
    <p:bg>
      <p:bgPr>
        <a:solidFill>
          <a:srgbClr val="FFFFFF"/>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ACDC5B25-0E62-0736-1288-B49AEDB0C4BB}"/>
              </a:ext>
            </a:extLst>
          </p:cNvPr>
          <p:cNvSpPr>
            <a:spLocks noGrp="1"/>
          </p:cNvSpPr>
          <p:nvPr>
            <p:ph type="body" sz="quarter" idx="10" hasCustomPrompt="1"/>
          </p:nvPr>
        </p:nvSpPr>
        <p:spPr>
          <a:xfrm>
            <a:off x="463514" y="357188"/>
            <a:ext cx="2775627" cy="708025"/>
          </a:xfrm>
        </p:spPr>
        <p:txBody>
          <a:bodyPr>
            <a:noAutofit/>
          </a:bodyPr>
          <a:lstStyle>
            <a:lvl1pPr marL="0" indent="0">
              <a:buNone/>
              <a:defRPr>
                <a:solidFill>
                  <a:srgbClr val="472566"/>
                </a:solidFill>
                <a:latin typeface="Avenir Next LT Pro Demi" panose="020B0704020202020204" pitchFamily="34" charset="0"/>
              </a:defRPr>
            </a:lvl1pPr>
          </a:lstStyle>
          <a:p>
            <a:pPr lvl="0"/>
            <a:r>
              <a:rPr lang="en-GB"/>
              <a:t>Add title</a:t>
            </a:r>
          </a:p>
        </p:txBody>
      </p:sp>
      <p:sp>
        <p:nvSpPr>
          <p:cNvPr id="15" name="Slide Number Placeholder 4">
            <a:extLst>
              <a:ext uri="{FF2B5EF4-FFF2-40B4-BE49-F238E27FC236}">
                <a16:creationId xmlns:a16="http://schemas.microsoft.com/office/drawing/2014/main" id="{95CA57B9-AF5A-F6DF-9C36-8298242CFE41}"/>
              </a:ext>
            </a:extLst>
          </p:cNvPr>
          <p:cNvSpPr>
            <a:spLocks noGrp="1"/>
          </p:cNvSpPr>
          <p:nvPr>
            <p:ph type="sldNum" sz="quarter" idx="15"/>
          </p:nvPr>
        </p:nvSpPr>
        <p:spPr>
          <a:xfrm>
            <a:off x="11064751" y="6289829"/>
            <a:ext cx="665922" cy="372440"/>
          </a:xfrm>
        </p:spPr>
        <p:txBody>
          <a:bodyPr>
            <a:noAutofit/>
          </a:bodyPr>
          <a:lstStyle>
            <a:lvl1pPr>
              <a:defRPr sz="1000">
                <a:solidFill>
                  <a:schemeClr val="tx1"/>
                </a:solidFill>
              </a:defRPr>
            </a:lvl1pPr>
          </a:lstStyle>
          <a:p>
            <a:fld id="{41DAF538-693A-4E80-987F-3E9C27B38952}" type="slidenum">
              <a:rPr lang="en-GB" smtClean="0"/>
              <a:pPr/>
              <a:t>‹#›</a:t>
            </a:fld>
            <a:endParaRPr lang="en-GB"/>
          </a:p>
        </p:txBody>
      </p:sp>
      <p:sp>
        <p:nvSpPr>
          <p:cNvPr id="16" name="Text Placeholder 13">
            <a:extLst>
              <a:ext uri="{FF2B5EF4-FFF2-40B4-BE49-F238E27FC236}">
                <a16:creationId xmlns:a16="http://schemas.microsoft.com/office/drawing/2014/main" id="{C71F317B-D04A-B863-BE6C-ADAAF92F1D72}"/>
              </a:ext>
            </a:extLst>
          </p:cNvPr>
          <p:cNvSpPr>
            <a:spLocks noGrp="1"/>
          </p:cNvSpPr>
          <p:nvPr>
            <p:ph type="body" sz="quarter" idx="12" hasCustomPrompt="1"/>
          </p:nvPr>
        </p:nvSpPr>
        <p:spPr>
          <a:xfrm>
            <a:off x="461327" y="6376658"/>
            <a:ext cx="3006725" cy="252742"/>
          </a:xfrm>
        </p:spPr>
        <p:txBody>
          <a:bodyPr>
            <a:noAutofit/>
          </a:bodyPr>
          <a:lstStyle>
            <a:lvl1pPr marL="0" indent="0">
              <a:buNone/>
              <a:defRPr sz="1000">
                <a:solidFill>
                  <a:srgbClr val="000000"/>
                </a:solidFill>
              </a:defRPr>
            </a:lvl1pPr>
          </a:lstStyle>
          <a:p>
            <a:pPr lvl="0"/>
            <a:r>
              <a:rPr lang="en-GB"/>
              <a:t>Document name</a:t>
            </a:r>
          </a:p>
        </p:txBody>
      </p:sp>
      <p:sp>
        <p:nvSpPr>
          <p:cNvPr id="18" name="Text Placeholder 6">
            <a:extLst>
              <a:ext uri="{FF2B5EF4-FFF2-40B4-BE49-F238E27FC236}">
                <a16:creationId xmlns:a16="http://schemas.microsoft.com/office/drawing/2014/main" id="{8DFB33F3-2ABC-D1C0-1100-48A272322CE4}"/>
              </a:ext>
            </a:extLst>
          </p:cNvPr>
          <p:cNvSpPr>
            <a:spLocks noGrp="1"/>
          </p:cNvSpPr>
          <p:nvPr>
            <p:ph type="body" sz="quarter" idx="16" hasCustomPrompt="1"/>
          </p:nvPr>
        </p:nvSpPr>
        <p:spPr>
          <a:xfrm>
            <a:off x="3338741" y="2274852"/>
            <a:ext cx="2571977" cy="401393"/>
          </a:xfrm>
        </p:spPr>
        <p:txBody>
          <a:bodyPr>
            <a:noAutofit/>
          </a:bodyPr>
          <a:lstStyle>
            <a:lvl1pPr marL="0" indent="0">
              <a:buNone/>
              <a:defRPr sz="1400">
                <a:solidFill>
                  <a:schemeClr val="tx2"/>
                </a:solidFill>
                <a:latin typeface="+mj-lt"/>
              </a:defRPr>
            </a:lvl1pPr>
          </a:lstStyle>
          <a:p>
            <a:pPr lvl="0"/>
            <a:r>
              <a:rPr lang="en-GB"/>
              <a:t>Add in title</a:t>
            </a:r>
          </a:p>
        </p:txBody>
      </p:sp>
      <p:sp>
        <p:nvSpPr>
          <p:cNvPr id="20" name="Text Placeholder 6">
            <a:extLst>
              <a:ext uri="{FF2B5EF4-FFF2-40B4-BE49-F238E27FC236}">
                <a16:creationId xmlns:a16="http://schemas.microsoft.com/office/drawing/2014/main" id="{2A71C977-E76F-FA74-017E-8E8BD355664E}"/>
              </a:ext>
            </a:extLst>
          </p:cNvPr>
          <p:cNvSpPr>
            <a:spLocks noGrp="1"/>
          </p:cNvSpPr>
          <p:nvPr>
            <p:ph type="body" sz="quarter" idx="18" hasCustomPrompt="1"/>
          </p:nvPr>
        </p:nvSpPr>
        <p:spPr>
          <a:xfrm>
            <a:off x="6233925" y="2287031"/>
            <a:ext cx="2586770" cy="401393"/>
          </a:xfrm>
        </p:spPr>
        <p:txBody>
          <a:bodyPr>
            <a:noAutofit/>
          </a:bodyPr>
          <a:lstStyle>
            <a:lvl1pPr marL="0" indent="0">
              <a:buNone/>
              <a:defRPr sz="1400">
                <a:solidFill>
                  <a:schemeClr val="accent6"/>
                </a:solidFill>
                <a:latin typeface="+mj-lt"/>
              </a:defRPr>
            </a:lvl1pPr>
          </a:lstStyle>
          <a:p>
            <a:pPr lvl="0"/>
            <a:r>
              <a:rPr lang="en-GB"/>
              <a:t>Add in title</a:t>
            </a:r>
          </a:p>
        </p:txBody>
      </p:sp>
      <p:sp>
        <p:nvSpPr>
          <p:cNvPr id="21" name="Text Placeholder 6">
            <a:extLst>
              <a:ext uri="{FF2B5EF4-FFF2-40B4-BE49-F238E27FC236}">
                <a16:creationId xmlns:a16="http://schemas.microsoft.com/office/drawing/2014/main" id="{E80EDC4F-84EC-DD6A-EE5B-757281E06284}"/>
              </a:ext>
            </a:extLst>
          </p:cNvPr>
          <p:cNvSpPr>
            <a:spLocks noGrp="1"/>
          </p:cNvSpPr>
          <p:nvPr>
            <p:ph type="body" sz="quarter" idx="19" hasCustomPrompt="1"/>
          </p:nvPr>
        </p:nvSpPr>
        <p:spPr>
          <a:xfrm>
            <a:off x="9158427" y="2862402"/>
            <a:ext cx="2572245" cy="2343955"/>
          </a:xfrm>
        </p:spPr>
        <p:txBody>
          <a:bodyPr>
            <a:noAutofit/>
          </a:bodyPr>
          <a:lstStyle>
            <a:lvl1pPr marL="0" indent="0">
              <a:buNone/>
              <a:defRPr sz="1400"/>
            </a:lvl1pPr>
          </a:lstStyle>
          <a:p>
            <a:pPr lvl="0"/>
            <a:r>
              <a:rPr lang="en-GB"/>
              <a:t>Add in copy</a:t>
            </a:r>
          </a:p>
        </p:txBody>
      </p:sp>
      <p:sp>
        <p:nvSpPr>
          <p:cNvPr id="22" name="Text Placeholder 6">
            <a:extLst>
              <a:ext uri="{FF2B5EF4-FFF2-40B4-BE49-F238E27FC236}">
                <a16:creationId xmlns:a16="http://schemas.microsoft.com/office/drawing/2014/main" id="{698E1450-F3B6-641A-8717-5D0041B3E966}"/>
              </a:ext>
            </a:extLst>
          </p:cNvPr>
          <p:cNvSpPr>
            <a:spLocks noGrp="1"/>
          </p:cNvSpPr>
          <p:nvPr>
            <p:ph type="body" sz="quarter" idx="20" hasCustomPrompt="1"/>
          </p:nvPr>
        </p:nvSpPr>
        <p:spPr>
          <a:xfrm>
            <a:off x="9158427" y="2294828"/>
            <a:ext cx="2572244" cy="401393"/>
          </a:xfrm>
        </p:spPr>
        <p:txBody>
          <a:bodyPr>
            <a:noAutofit/>
          </a:bodyPr>
          <a:lstStyle>
            <a:lvl1pPr marL="0" indent="0">
              <a:buNone/>
              <a:defRPr sz="1400">
                <a:solidFill>
                  <a:schemeClr val="bg2"/>
                </a:solidFill>
                <a:latin typeface="+mj-lt"/>
              </a:defRPr>
            </a:lvl1pPr>
          </a:lstStyle>
          <a:p>
            <a:pPr lvl="0"/>
            <a:r>
              <a:rPr lang="en-GB"/>
              <a:t>Add in title</a:t>
            </a:r>
          </a:p>
        </p:txBody>
      </p:sp>
      <p:sp>
        <p:nvSpPr>
          <p:cNvPr id="23" name="Text Placeholder 6">
            <a:extLst>
              <a:ext uri="{FF2B5EF4-FFF2-40B4-BE49-F238E27FC236}">
                <a16:creationId xmlns:a16="http://schemas.microsoft.com/office/drawing/2014/main" id="{4E509BE1-BF56-41C9-3486-4427BDA9D6F1}"/>
              </a:ext>
            </a:extLst>
          </p:cNvPr>
          <p:cNvSpPr>
            <a:spLocks noGrp="1"/>
          </p:cNvSpPr>
          <p:nvPr>
            <p:ph type="body" sz="quarter" idx="21" hasCustomPrompt="1"/>
          </p:nvPr>
        </p:nvSpPr>
        <p:spPr>
          <a:xfrm>
            <a:off x="461327" y="2862402"/>
            <a:ext cx="2572245" cy="2343955"/>
          </a:xfrm>
        </p:spPr>
        <p:txBody>
          <a:bodyPr wrap="square">
            <a:noAutofit/>
          </a:bodyPr>
          <a:lstStyle>
            <a:lvl1pPr marL="0" indent="0">
              <a:buNone/>
              <a:defRPr sz="1400"/>
            </a:lvl1pPr>
          </a:lstStyle>
          <a:p>
            <a:pPr lvl="0"/>
            <a:r>
              <a:rPr lang="en-GB" dirty="0"/>
              <a:t>Add </a:t>
            </a:r>
            <a:r>
              <a:rPr lang="en-GB"/>
              <a:t>in copy</a:t>
            </a:r>
            <a:endParaRPr lang="en-GB" dirty="0"/>
          </a:p>
        </p:txBody>
      </p:sp>
      <p:sp>
        <p:nvSpPr>
          <p:cNvPr id="24" name="Text Placeholder 6">
            <a:extLst>
              <a:ext uri="{FF2B5EF4-FFF2-40B4-BE49-F238E27FC236}">
                <a16:creationId xmlns:a16="http://schemas.microsoft.com/office/drawing/2014/main" id="{FB10034C-9D17-3F5F-B5C9-0B9AFE03DC73}"/>
              </a:ext>
            </a:extLst>
          </p:cNvPr>
          <p:cNvSpPr>
            <a:spLocks noGrp="1"/>
          </p:cNvSpPr>
          <p:nvPr>
            <p:ph type="body" sz="quarter" idx="22" hasCustomPrompt="1"/>
          </p:nvPr>
        </p:nvSpPr>
        <p:spPr>
          <a:xfrm>
            <a:off x="461327" y="2294828"/>
            <a:ext cx="2572244" cy="401393"/>
          </a:xfrm>
        </p:spPr>
        <p:txBody>
          <a:bodyPr>
            <a:noAutofit/>
          </a:bodyPr>
          <a:lstStyle>
            <a:lvl1pPr marL="0" indent="0">
              <a:buNone/>
              <a:defRPr sz="1400">
                <a:solidFill>
                  <a:schemeClr val="accent2"/>
                </a:solidFill>
                <a:latin typeface="+mj-lt"/>
              </a:defRPr>
            </a:lvl1pPr>
          </a:lstStyle>
          <a:p>
            <a:pPr lvl="0"/>
            <a:r>
              <a:rPr lang="en-GB"/>
              <a:t>Add in title</a:t>
            </a:r>
          </a:p>
        </p:txBody>
      </p:sp>
      <p:sp>
        <p:nvSpPr>
          <p:cNvPr id="25" name="Text Placeholder 6">
            <a:extLst>
              <a:ext uri="{FF2B5EF4-FFF2-40B4-BE49-F238E27FC236}">
                <a16:creationId xmlns:a16="http://schemas.microsoft.com/office/drawing/2014/main" id="{993723ED-C299-BE57-ED7D-90DBF9276999}"/>
              </a:ext>
            </a:extLst>
          </p:cNvPr>
          <p:cNvSpPr>
            <a:spLocks noGrp="1"/>
          </p:cNvSpPr>
          <p:nvPr>
            <p:ph type="body" sz="quarter" idx="23" hasCustomPrompt="1"/>
          </p:nvPr>
        </p:nvSpPr>
        <p:spPr>
          <a:xfrm>
            <a:off x="3338473" y="2862402"/>
            <a:ext cx="2572245" cy="2343955"/>
          </a:xfrm>
        </p:spPr>
        <p:txBody>
          <a:bodyPr>
            <a:noAutofit/>
          </a:bodyPr>
          <a:lstStyle>
            <a:lvl1pPr marL="0" indent="0">
              <a:buNone/>
              <a:defRPr sz="1400"/>
            </a:lvl1pPr>
          </a:lstStyle>
          <a:p>
            <a:pPr lvl="0"/>
            <a:r>
              <a:rPr lang="en-GB"/>
              <a:t>Add in copy</a:t>
            </a:r>
          </a:p>
        </p:txBody>
      </p:sp>
      <p:sp>
        <p:nvSpPr>
          <p:cNvPr id="26" name="Text Placeholder 6">
            <a:extLst>
              <a:ext uri="{FF2B5EF4-FFF2-40B4-BE49-F238E27FC236}">
                <a16:creationId xmlns:a16="http://schemas.microsoft.com/office/drawing/2014/main" id="{DAB48C37-9A88-50CC-649B-C4E90F3DAF44}"/>
              </a:ext>
            </a:extLst>
          </p:cNvPr>
          <p:cNvSpPr>
            <a:spLocks noGrp="1"/>
          </p:cNvSpPr>
          <p:nvPr>
            <p:ph type="body" sz="quarter" idx="24" hasCustomPrompt="1"/>
          </p:nvPr>
        </p:nvSpPr>
        <p:spPr>
          <a:xfrm>
            <a:off x="6248450" y="2862402"/>
            <a:ext cx="2572245" cy="2343955"/>
          </a:xfrm>
        </p:spPr>
        <p:txBody>
          <a:bodyPr>
            <a:noAutofit/>
          </a:bodyPr>
          <a:lstStyle>
            <a:lvl1pPr marL="0" indent="0">
              <a:buNone/>
              <a:defRPr sz="1400"/>
            </a:lvl1pPr>
          </a:lstStyle>
          <a:p>
            <a:pPr lvl="0"/>
            <a:r>
              <a:rPr lang="en-GB"/>
              <a:t>Add in copy</a:t>
            </a:r>
          </a:p>
        </p:txBody>
      </p:sp>
    </p:spTree>
    <p:extLst>
      <p:ext uri="{BB962C8B-B14F-4D97-AF65-F5344CB8AC3E}">
        <p14:creationId xmlns:p14="http://schemas.microsoft.com/office/powerpoint/2010/main" val="42769220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slide 11">
    <p:bg>
      <p:bgPr>
        <a:solidFill>
          <a:srgbClr val="FFFFFF"/>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ACDC5B25-0E62-0736-1288-B49AEDB0C4BB}"/>
              </a:ext>
            </a:extLst>
          </p:cNvPr>
          <p:cNvSpPr>
            <a:spLocks noGrp="1"/>
          </p:cNvSpPr>
          <p:nvPr>
            <p:ph type="body" sz="quarter" idx="10" hasCustomPrompt="1"/>
          </p:nvPr>
        </p:nvSpPr>
        <p:spPr>
          <a:xfrm>
            <a:off x="463514" y="357188"/>
            <a:ext cx="3056759" cy="708025"/>
          </a:xfrm>
        </p:spPr>
        <p:txBody>
          <a:bodyPr>
            <a:noAutofit/>
          </a:bodyPr>
          <a:lstStyle>
            <a:lvl1pPr marL="0" indent="0">
              <a:buNone/>
              <a:defRPr>
                <a:solidFill>
                  <a:srgbClr val="472566"/>
                </a:solidFill>
                <a:latin typeface="Avenir Next LT Pro Demi" panose="020B0704020202020204" pitchFamily="34" charset="0"/>
              </a:defRPr>
            </a:lvl1pPr>
          </a:lstStyle>
          <a:p>
            <a:pPr lvl="0"/>
            <a:r>
              <a:rPr lang="en-GB" dirty="0"/>
              <a:t>Add title</a:t>
            </a:r>
          </a:p>
        </p:txBody>
      </p:sp>
      <p:sp>
        <p:nvSpPr>
          <p:cNvPr id="9" name="Slide Number Placeholder 4">
            <a:extLst>
              <a:ext uri="{FF2B5EF4-FFF2-40B4-BE49-F238E27FC236}">
                <a16:creationId xmlns:a16="http://schemas.microsoft.com/office/drawing/2014/main" id="{66BA7314-C28B-6F4A-7AAB-72AB43351D62}"/>
              </a:ext>
            </a:extLst>
          </p:cNvPr>
          <p:cNvSpPr>
            <a:spLocks noGrp="1"/>
          </p:cNvSpPr>
          <p:nvPr>
            <p:ph type="sldNum" sz="quarter" idx="15"/>
          </p:nvPr>
        </p:nvSpPr>
        <p:spPr>
          <a:xfrm>
            <a:off x="11064751" y="6289829"/>
            <a:ext cx="665922" cy="372440"/>
          </a:xfrm>
        </p:spPr>
        <p:txBody>
          <a:bodyPr>
            <a:noAutofit/>
          </a:bodyPr>
          <a:lstStyle>
            <a:lvl1pPr>
              <a:defRPr sz="1000">
                <a:solidFill>
                  <a:schemeClr val="tx1"/>
                </a:solidFill>
              </a:defRPr>
            </a:lvl1pPr>
          </a:lstStyle>
          <a:p>
            <a:fld id="{41DAF538-693A-4E80-987F-3E9C27B38952}" type="slidenum">
              <a:rPr lang="en-GB"/>
              <a:pPr/>
              <a:t>‹#›</a:t>
            </a:fld>
            <a:endParaRPr lang="en-GB"/>
          </a:p>
        </p:txBody>
      </p:sp>
      <p:sp>
        <p:nvSpPr>
          <p:cNvPr id="10" name="Text Placeholder 13">
            <a:extLst>
              <a:ext uri="{FF2B5EF4-FFF2-40B4-BE49-F238E27FC236}">
                <a16:creationId xmlns:a16="http://schemas.microsoft.com/office/drawing/2014/main" id="{6642FB1C-7D51-2F4B-90A9-43EDA193D426}"/>
              </a:ext>
            </a:extLst>
          </p:cNvPr>
          <p:cNvSpPr>
            <a:spLocks noGrp="1"/>
          </p:cNvSpPr>
          <p:nvPr>
            <p:ph type="body" sz="quarter" idx="12" hasCustomPrompt="1"/>
          </p:nvPr>
        </p:nvSpPr>
        <p:spPr>
          <a:xfrm>
            <a:off x="461327" y="6376658"/>
            <a:ext cx="3006725" cy="252742"/>
          </a:xfrm>
        </p:spPr>
        <p:txBody>
          <a:bodyPr>
            <a:noAutofit/>
          </a:bodyPr>
          <a:lstStyle>
            <a:lvl1pPr marL="0" indent="0">
              <a:buNone/>
              <a:defRPr sz="1000">
                <a:solidFill>
                  <a:srgbClr val="000000"/>
                </a:solidFill>
              </a:defRPr>
            </a:lvl1pPr>
          </a:lstStyle>
          <a:p>
            <a:pPr lvl="0"/>
            <a:r>
              <a:rPr lang="en-GB"/>
              <a:t>Document name</a:t>
            </a:r>
          </a:p>
        </p:txBody>
      </p:sp>
      <p:sp>
        <p:nvSpPr>
          <p:cNvPr id="3" name="Text Placeholder 6">
            <a:extLst>
              <a:ext uri="{FF2B5EF4-FFF2-40B4-BE49-F238E27FC236}">
                <a16:creationId xmlns:a16="http://schemas.microsoft.com/office/drawing/2014/main" id="{3B3EBE39-90B9-0BB9-31B8-8C3A430204C1}"/>
              </a:ext>
            </a:extLst>
          </p:cNvPr>
          <p:cNvSpPr>
            <a:spLocks noGrp="1"/>
          </p:cNvSpPr>
          <p:nvPr>
            <p:ph type="body" sz="quarter" idx="21" hasCustomPrompt="1"/>
          </p:nvPr>
        </p:nvSpPr>
        <p:spPr>
          <a:xfrm>
            <a:off x="461327" y="2947909"/>
            <a:ext cx="3256658" cy="2343955"/>
          </a:xfrm>
        </p:spPr>
        <p:txBody>
          <a:bodyPr>
            <a:noAutofit/>
          </a:bodyPr>
          <a:lstStyle>
            <a:lvl1pPr marL="0" indent="0">
              <a:buNone/>
              <a:defRPr sz="1400"/>
            </a:lvl1pPr>
          </a:lstStyle>
          <a:p>
            <a:pPr lvl="0"/>
            <a:r>
              <a:rPr lang="en-GB" dirty="0"/>
              <a:t>Add in copy</a:t>
            </a:r>
          </a:p>
        </p:txBody>
      </p:sp>
      <p:sp>
        <p:nvSpPr>
          <p:cNvPr id="4" name="Text Placeholder 6">
            <a:extLst>
              <a:ext uri="{FF2B5EF4-FFF2-40B4-BE49-F238E27FC236}">
                <a16:creationId xmlns:a16="http://schemas.microsoft.com/office/drawing/2014/main" id="{B32D2C5B-ADE7-D942-7AC4-14DFD957A830}"/>
              </a:ext>
            </a:extLst>
          </p:cNvPr>
          <p:cNvSpPr>
            <a:spLocks noGrp="1"/>
          </p:cNvSpPr>
          <p:nvPr>
            <p:ph type="body" sz="quarter" idx="22" hasCustomPrompt="1"/>
          </p:nvPr>
        </p:nvSpPr>
        <p:spPr>
          <a:xfrm>
            <a:off x="461326" y="2405880"/>
            <a:ext cx="3256657" cy="401393"/>
          </a:xfrm>
        </p:spPr>
        <p:txBody>
          <a:bodyPr>
            <a:noAutofit/>
          </a:bodyPr>
          <a:lstStyle>
            <a:lvl1pPr marL="0" indent="0">
              <a:buNone/>
              <a:defRPr sz="1400">
                <a:solidFill>
                  <a:schemeClr val="tx2"/>
                </a:solidFill>
                <a:latin typeface="+mj-lt"/>
              </a:defRPr>
            </a:lvl1pPr>
          </a:lstStyle>
          <a:p>
            <a:pPr lvl="0"/>
            <a:r>
              <a:rPr lang="en-GB" dirty="0"/>
              <a:t>Add in title</a:t>
            </a:r>
          </a:p>
        </p:txBody>
      </p:sp>
      <p:sp>
        <p:nvSpPr>
          <p:cNvPr id="5" name="Text Placeholder 6">
            <a:extLst>
              <a:ext uri="{FF2B5EF4-FFF2-40B4-BE49-F238E27FC236}">
                <a16:creationId xmlns:a16="http://schemas.microsoft.com/office/drawing/2014/main" id="{749F12DA-AFD4-13AB-10E7-153FF6F25117}"/>
              </a:ext>
            </a:extLst>
          </p:cNvPr>
          <p:cNvSpPr>
            <a:spLocks noGrp="1"/>
          </p:cNvSpPr>
          <p:nvPr>
            <p:ph type="body" sz="quarter" idx="23" hasCustomPrompt="1"/>
          </p:nvPr>
        </p:nvSpPr>
        <p:spPr>
          <a:xfrm>
            <a:off x="7997214" y="2947909"/>
            <a:ext cx="3510424" cy="2343955"/>
          </a:xfrm>
        </p:spPr>
        <p:txBody>
          <a:bodyPr>
            <a:noAutofit/>
          </a:bodyPr>
          <a:lstStyle>
            <a:lvl1pPr marL="0" indent="0">
              <a:buNone/>
              <a:defRPr sz="1400"/>
            </a:lvl1pPr>
          </a:lstStyle>
          <a:p>
            <a:pPr lvl="0"/>
            <a:r>
              <a:rPr lang="en-GB"/>
              <a:t>Add in copy</a:t>
            </a:r>
          </a:p>
        </p:txBody>
      </p:sp>
      <p:sp>
        <p:nvSpPr>
          <p:cNvPr id="6" name="Text Placeholder 6">
            <a:extLst>
              <a:ext uri="{FF2B5EF4-FFF2-40B4-BE49-F238E27FC236}">
                <a16:creationId xmlns:a16="http://schemas.microsoft.com/office/drawing/2014/main" id="{CF7F6830-55BC-E827-F1D1-FF923E7C29B7}"/>
              </a:ext>
            </a:extLst>
          </p:cNvPr>
          <p:cNvSpPr>
            <a:spLocks noGrp="1"/>
          </p:cNvSpPr>
          <p:nvPr>
            <p:ph type="body" sz="quarter" idx="24" hasCustomPrompt="1"/>
          </p:nvPr>
        </p:nvSpPr>
        <p:spPr>
          <a:xfrm>
            <a:off x="7997214" y="2405880"/>
            <a:ext cx="3510424" cy="401393"/>
          </a:xfrm>
        </p:spPr>
        <p:txBody>
          <a:bodyPr>
            <a:noAutofit/>
          </a:bodyPr>
          <a:lstStyle>
            <a:lvl1pPr marL="0" indent="0">
              <a:buNone/>
              <a:defRPr sz="1400">
                <a:solidFill>
                  <a:schemeClr val="accent4"/>
                </a:solidFill>
                <a:latin typeface="+mj-lt"/>
              </a:defRPr>
            </a:lvl1pPr>
          </a:lstStyle>
          <a:p>
            <a:pPr lvl="0"/>
            <a:r>
              <a:rPr lang="en-GB"/>
              <a:t>Add in title</a:t>
            </a:r>
          </a:p>
        </p:txBody>
      </p:sp>
      <p:sp>
        <p:nvSpPr>
          <p:cNvPr id="7" name="Text Placeholder 6">
            <a:extLst>
              <a:ext uri="{FF2B5EF4-FFF2-40B4-BE49-F238E27FC236}">
                <a16:creationId xmlns:a16="http://schemas.microsoft.com/office/drawing/2014/main" id="{8D591765-E12C-05E1-A967-280943DD7FA6}"/>
              </a:ext>
            </a:extLst>
          </p:cNvPr>
          <p:cNvSpPr>
            <a:spLocks noGrp="1"/>
          </p:cNvSpPr>
          <p:nvPr>
            <p:ph type="body" sz="quarter" idx="25" hasCustomPrompt="1"/>
          </p:nvPr>
        </p:nvSpPr>
        <p:spPr>
          <a:xfrm>
            <a:off x="4229270" y="2942136"/>
            <a:ext cx="3256658" cy="2343955"/>
          </a:xfrm>
        </p:spPr>
        <p:txBody>
          <a:bodyPr>
            <a:noAutofit/>
          </a:bodyPr>
          <a:lstStyle>
            <a:lvl1pPr marL="0" indent="0">
              <a:buNone/>
              <a:defRPr sz="1400"/>
            </a:lvl1pPr>
          </a:lstStyle>
          <a:p>
            <a:pPr lvl="0"/>
            <a:r>
              <a:rPr lang="en-GB"/>
              <a:t>Add in copy</a:t>
            </a:r>
          </a:p>
        </p:txBody>
      </p:sp>
      <p:sp>
        <p:nvSpPr>
          <p:cNvPr id="8" name="Text Placeholder 6">
            <a:extLst>
              <a:ext uri="{FF2B5EF4-FFF2-40B4-BE49-F238E27FC236}">
                <a16:creationId xmlns:a16="http://schemas.microsoft.com/office/drawing/2014/main" id="{81B361DF-959B-571B-2475-5EC0A773724A}"/>
              </a:ext>
            </a:extLst>
          </p:cNvPr>
          <p:cNvSpPr>
            <a:spLocks noGrp="1"/>
          </p:cNvSpPr>
          <p:nvPr>
            <p:ph type="body" sz="quarter" idx="26" hasCustomPrompt="1"/>
          </p:nvPr>
        </p:nvSpPr>
        <p:spPr>
          <a:xfrm>
            <a:off x="4229270" y="2405879"/>
            <a:ext cx="3256657" cy="401393"/>
          </a:xfrm>
        </p:spPr>
        <p:txBody>
          <a:bodyPr>
            <a:noAutofit/>
          </a:bodyPr>
          <a:lstStyle>
            <a:lvl1pPr marL="0" indent="0">
              <a:buNone/>
              <a:defRPr sz="1400">
                <a:solidFill>
                  <a:schemeClr val="accent2"/>
                </a:solidFill>
                <a:latin typeface="+mj-lt"/>
              </a:defRPr>
            </a:lvl1pPr>
          </a:lstStyle>
          <a:p>
            <a:pPr lvl="0"/>
            <a:r>
              <a:rPr lang="en-GB"/>
              <a:t>Add in title</a:t>
            </a:r>
          </a:p>
        </p:txBody>
      </p:sp>
    </p:spTree>
    <p:extLst>
      <p:ext uri="{BB962C8B-B14F-4D97-AF65-F5344CB8AC3E}">
        <p14:creationId xmlns:p14="http://schemas.microsoft.com/office/powerpoint/2010/main" val="25346351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Default content slide ">
    <p:bg>
      <p:bgPr>
        <a:solidFill>
          <a:srgbClr val="FFFFFF"/>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3EDB491-59FD-53DB-14D4-D31763671BAF}"/>
              </a:ext>
            </a:extLst>
          </p:cNvPr>
          <p:cNvSpPr>
            <a:spLocks noGrp="1"/>
          </p:cNvSpPr>
          <p:nvPr>
            <p:ph type="body" sz="quarter" idx="10" hasCustomPrompt="1"/>
          </p:nvPr>
        </p:nvSpPr>
        <p:spPr>
          <a:xfrm>
            <a:off x="484780" y="357189"/>
            <a:ext cx="11192869" cy="481010"/>
          </a:xfrm>
        </p:spPr>
        <p:txBody>
          <a:bodyPr>
            <a:noAutofit/>
          </a:bodyPr>
          <a:lstStyle>
            <a:lvl1pPr marL="0" indent="0">
              <a:buNone/>
              <a:defRPr>
                <a:solidFill>
                  <a:srgbClr val="472566"/>
                </a:solidFill>
                <a:latin typeface="Avenir Next LT Pro Demi" panose="020B0704020202020204" pitchFamily="34" charset="0"/>
              </a:defRPr>
            </a:lvl1pPr>
          </a:lstStyle>
          <a:p>
            <a:pPr lvl="0"/>
            <a:r>
              <a:rPr lang="en-GB" dirty="0"/>
              <a:t>Click to add title</a:t>
            </a:r>
          </a:p>
        </p:txBody>
      </p:sp>
      <p:sp>
        <p:nvSpPr>
          <p:cNvPr id="7" name="Content Placeholder 2">
            <a:extLst>
              <a:ext uri="{FF2B5EF4-FFF2-40B4-BE49-F238E27FC236}">
                <a16:creationId xmlns:a16="http://schemas.microsoft.com/office/drawing/2014/main" id="{FA24C5EF-C8C6-B7EB-C606-95FDF7E70929}"/>
              </a:ext>
            </a:extLst>
          </p:cNvPr>
          <p:cNvSpPr>
            <a:spLocks noGrp="1"/>
          </p:cNvSpPr>
          <p:nvPr userDrawn="1"/>
        </p:nvSpPr>
        <p:spPr>
          <a:xfrm>
            <a:off x="320341" y="2335923"/>
            <a:ext cx="11551318" cy="3894962"/>
          </a:xfrm>
          <a:prstGeom prst="rect">
            <a:avLst/>
          </a:prstGeom>
        </p:spPr>
        <p:txBody>
          <a:bodyPr lIns="0" tIns="0" rIns="0" bIns="0">
            <a:noAutofit/>
          </a:bodyPr>
          <a:lstStyle>
            <a:lvl1pPr marL="270000" indent="-270000" algn="l" defTabSz="914400" rtl="0" eaLnBrk="1" latinLnBrk="0" hangingPunct="1">
              <a:lnSpc>
                <a:spcPct val="120000"/>
              </a:lnSpc>
              <a:spcBef>
                <a:spcPts val="0"/>
              </a:spcBef>
              <a:spcAft>
                <a:spcPts val="600"/>
              </a:spcAft>
              <a:buFont typeface="Arial" panose="020B0604020202020204" pitchFamily="34" charset="0"/>
              <a:buChar char="•"/>
              <a:defRPr sz="1400" kern="1200">
                <a:solidFill>
                  <a:schemeClr val="tx1"/>
                </a:solidFill>
                <a:latin typeface="Open Sans Light" pitchFamily="2" charset="0"/>
                <a:ea typeface="Open Sans Light" pitchFamily="2" charset="0"/>
                <a:cs typeface="Open Sans Light" pitchFamily="2" charset="0"/>
              </a:defRPr>
            </a:lvl1pPr>
            <a:lvl2pPr marL="540000" indent="-270000" algn="l" defTabSz="914400" rtl="0" eaLnBrk="1" latinLnBrk="0" hangingPunct="1">
              <a:lnSpc>
                <a:spcPct val="120000"/>
              </a:lnSpc>
              <a:spcBef>
                <a:spcPts val="0"/>
              </a:spcBef>
              <a:spcAft>
                <a:spcPts val="600"/>
              </a:spcAft>
              <a:buFont typeface="Arial" panose="020B0604020202020204" pitchFamily="34" charset="0"/>
              <a:buChar char="•"/>
              <a:defRPr sz="1400" kern="1200">
                <a:solidFill>
                  <a:schemeClr val="tx1"/>
                </a:solidFill>
                <a:latin typeface="Open Sans Light" pitchFamily="2" charset="0"/>
                <a:ea typeface="Open Sans Light" pitchFamily="2" charset="0"/>
                <a:cs typeface="Open Sans Light" pitchFamily="2" charset="0"/>
              </a:defRPr>
            </a:lvl2pPr>
            <a:lvl3pPr marL="810000" indent="-270000" algn="l" defTabSz="914400" rtl="0" eaLnBrk="1" latinLnBrk="0" hangingPunct="1">
              <a:lnSpc>
                <a:spcPct val="120000"/>
              </a:lnSpc>
              <a:spcBef>
                <a:spcPts val="0"/>
              </a:spcBef>
              <a:spcAft>
                <a:spcPts val="600"/>
              </a:spcAft>
              <a:buFont typeface="Arial" panose="020B0604020202020204" pitchFamily="34" charset="0"/>
              <a:buChar char="•"/>
              <a:defRPr sz="1200" kern="1200">
                <a:solidFill>
                  <a:schemeClr val="tx1"/>
                </a:solidFill>
                <a:latin typeface="Open Sans Light" pitchFamily="2" charset="0"/>
                <a:ea typeface="Open Sans Light" pitchFamily="2" charset="0"/>
                <a:cs typeface="Open Sans Light" pitchFamily="2" charset="0"/>
              </a:defRPr>
            </a:lvl3pPr>
            <a:lvl4pPr marL="0" indent="0" algn="l" defTabSz="914400" rtl="0" eaLnBrk="1" latinLnBrk="0" hangingPunct="1">
              <a:lnSpc>
                <a:spcPct val="120000"/>
              </a:lnSpc>
              <a:spcBef>
                <a:spcPts val="0"/>
              </a:spcBef>
              <a:spcAft>
                <a:spcPts val="1200"/>
              </a:spcAft>
              <a:buFont typeface="Arial" panose="020B0604020202020204" pitchFamily="34" charset="0"/>
              <a:buNone/>
              <a:defRPr sz="1600" b="0" i="0" kern="1200">
                <a:solidFill>
                  <a:schemeClr val="tx1"/>
                </a:solidFill>
                <a:latin typeface="Mont SemiBold" pitchFamily="2" charset="0"/>
                <a:ea typeface="+mn-ea"/>
                <a:cs typeface="+mn-cs"/>
              </a:defRPr>
            </a:lvl4pPr>
            <a:lvl5pPr marL="0" indent="0" algn="l" defTabSz="914400" rtl="0" eaLnBrk="1" latinLnBrk="0" hangingPunct="1">
              <a:lnSpc>
                <a:spcPct val="120000"/>
              </a:lnSpc>
              <a:spcBef>
                <a:spcPts val="0"/>
              </a:spcBef>
              <a:spcAft>
                <a:spcPts val="1200"/>
              </a:spcAft>
              <a:buFont typeface="Arial" panose="020B0604020202020204" pitchFamily="34" charset="0"/>
              <a:buChar char="​"/>
              <a:tabLst/>
              <a:defRPr sz="1600" kern="1200">
                <a:solidFill>
                  <a:schemeClr val="tx1"/>
                </a:solidFill>
                <a:latin typeface="Open Sans Light" pitchFamily="2" charset="0"/>
                <a:ea typeface="Open Sans Light" pitchFamily="2" charset="0"/>
                <a:cs typeface="Open Sans Light" pitchFamily="2" charset="0"/>
              </a:defRPr>
            </a:lvl5pPr>
            <a:lvl6pPr marL="180000" indent="-180000" algn="l" defTabSz="914400" rtl="0" eaLnBrk="1" latinLnBrk="0" hangingPunct="1">
              <a:lnSpc>
                <a:spcPct val="120000"/>
              </a:lnSpc>
              <a:spcBef>
                <a:spcPts val="0"/>
              </a:spcBef>
              <a:spcAft>
                <a:spcPts val="600"/>
              </a:spcAft>
              <a:buFont typeface="Arial" panose="020B0604020202020204" pitchFamily="34" charset="0"/>
              <a:buChar char="•"/>
              <a:defRPr sz="1400" kern="1200">
                <a:solidFill>
                  <a:schemeClr val="tx1"/>
                </a:solidFill>
                <a:latin typeface="Open Sans Light" pitchFamily="2" charset="0"/>
                <a:ea typeface="Open Sans Light" pitchFamily="2" charset="0"/>
                <a:cs typeface="Open Sans Light" pitchFamily="2" charset="0"/>
              </a:defRPr>
            </a:lvl6pPr>
            <a:lvl7pPr marL="0" indent="0" algn="l" defTabSz="914400" rtl="0" eaLnBrk="1" latinLnBrk="0" hangingPunct="1">
              <a:lnSpc>
                <a:spcPct val="120000"/>
              </a:lnSpc>
              <a:spcBef>
                <a:spcPts val="0"/>
              </a:spcBef>
              <a:spcAft>
                <a:spcPts val="600"/>
              </a:spcAft>
              <a:buFont typeface="Arial" panose="020B0604020202020204" pitchFamily="34" charset="0"/>
              <a:buNone/>
              <a:defRPr sz="1400" b="1" i="0" kern="1200" baseline="0">
                <a:solidFill>
                  <a:schemeClr val="tx1"/>
                </a:solidFill>
                <a:latin typeface="Open Sans SemiBold" pitchFamily="2" charset="0"/>
                <a:ea typeface="Open Sans SemiBold" pitchFamily="2" charset="0"/>
                <a:cs typeface="Open Sans SemiBold" pitchFamily="2" charset="0"/>
              </a:defRPr>
            </a:lvl7pPr>
            <a:lvl8pPr marL="0" indent="0" algn="l" defTabSz="914400" rtl="0" eaLnBrk="1" latinLnBrk="0" hangingPunct="1">
              <a:lnSpc>
                <a:spcPct val="120000"/>
              </a:lnSpc>
              <a:spcBef>
                <a:spcPts val="0"/>
              </a:spcBef>
              <a:spcAft>
                <a:spcPts val="600"/>
              </a:spcAft>
              <a:buFont typeface="Arial" panose="020B0604020202020204" pitchFamily="34" charset="0"/>
              <a:buChar char="​"/>
              <a:defRPr sz="1400" kern="1200">
                <a:solidFill>
                  <a:schemeClr val="tx1"/>
                </a:solidFill>
                <a:latin typeface="Open Sans Light" pitchFamily="2" charset="0"/>
                <a:ea typeface="Open Sans Light" pitchFamily="2" charset="0"/>
                <a:cs typeface="Open Sans Light" pitchFamily="2" charset="0"/>
              </a:defRPr>
            </a:lvl8pPr>
            <a:lvl9pPr marL="0" indent="0" algn="l" defTabSz="914400" rtl="0" eaLnBrk="1" latinLnBrk="0" hangingPunct="1">
              <a:lnSpc>
                <a:spcPct val="90000"/>
              </a:lnSpc>
              <a:spcBef>
                <a:spcPts val="1800"/>
              </a:spcBef>
              <a:spcAft>
                <a:spcPts val="0"/>
              </a:spcAft>
              <a:buFont typeface="Arial" panose="020B0604020202020204" pitchFamily="34" charset="0"/>
              <a:buChar char="​"/>
              <a:defRPr sz="4800" b="0" i="0" kern="1200" baseline="0">
                <a:solidFill>
                  <a:schemeClr val="tx1"/>
                </a:solidFill>
                <a:latin typeface="Mont SemiBold" pitchFamily="2" charset="0"/>
                <a:ea typeface="+mn-ea"/>
                <a:cs typeface="+mn-cs"/>
              </a:defRPr>
            </a:lvl9pPr>
          </a:lstStyle>
          <a:p>
            <a:endParaRPr lang="en-US"/>
          </a:p>
        </p:txBody>
      </p:sp>
      <p:sp>
        <p:nvSpPr>
          <p:cNvPr id="15" name="Content Placeholder 14">
            <a:extLst>
              <a:ext uri="{FF2B5EF4-FFF2-40B4-BE49-F238E27FC236}">
                <a16:creationId xmlns:a16="http://schemas.microsoft.com/office/drawing/2014/main" id="{6B53823E-069D-5F60-F228-C1D630F789EB}"/>
              </a:ext>
            </a:extLst>
          </p:cNvPr>
          <p:cNvSpPr>
            <a:spLocks noGrp="1"/>
          </p:cNvSpPr>
          <p:nvPr>
            <p:ph sz="quarter" idx="13" hasCustomPrompt="1"/>
          </p:nvPr>
        </p:nvSpPr>
        <p:spPr>
          <a:xfrm>
            <a:off x="483594" y="1773399"/>
            <a:ext cx="11193462" cy="4076700"/>
          </a:xfrm>
        </p:spPr>
        <p:txBody>
          <a:bodyPr>
            <a:noAutofit/>
          </a:bodyPr>
          <a:lstStyle>
            <a:lvl1pPr marL="0" indent="0">
              <a:buNone/>
              <a:defRPr sz="1400">
                <a:solidFill>
                  <a:schemeClr val="tx1"/>
                </a:solidFill>
                <a:latin typeface="Avenir Next LT Pro" panose="020B0504020202020204" pitchFamily="34" charset="0"/>
              </a:defRPr>
            </a:lvl1pPr>
            <a:lvl2pPr>
              <a:defRPr sz="1800">
                <a:solidFill>
                  <a:schemeClr val="accent6"/>
                </a:solidFill>
              </a:defRPr>
            </a:lvl2pPr>
            <a:lvl3pPr>
              <a:defRPr sz="1800">
                <a:solidFill>
                  <a:schemeClr val="accent6"/>
                </a:solidFill>
              </a:defRPr>
            </a:lvl3pPr>
            <a:lvl4pPr>
              <a:defRPr sz="1800">
                <a:solidFill>
                  <a:schemeClr val="accent6"/>
                </a:solidFill>
              </a:defRPr>
            </a:lvl4pPr>
            <a:lvl5pPr>
              <a:defRPr sz="1800">
                <a:solidFill>
                  <a:schemeClr val="accent6"/>
                </a:solidFill>
              </a:defRPr>
            </a:lvl5pPr>
          </a:lstStyle>
          <a:p>
            <a:pPr lvl="0"/>
            <a:r>
              <a:rPr lang="en-US" dirty="0"/>
              <a:t>Click to add text</a:t>
            </a:r>
          </a:p>
        </p:txBody>
      </p:sp>
      <p:sp>
        <p:nvSpPr>
          <p:cNvPr id="17" name="Footer Placeholder 4">
            <a:extLst>
              <a:ext uri="{FF2B5EF4-FFF2-40B4-BE49-F238E27FC236}">
                <a16:creationId xmlns:a16="http://schemas.microsoft.com/office/drawing/2014/main" id="{05A353C7-FFED-AF98-7160-2CCA9E68A59E}"/>
              </a:ext>
            </a:extLst>
          </p:cNvPr>
          <p:cNvSpPr>
            <a:spLocks noGrp="1"/>
          </p:cNvSpPr>
          <p:nvPr userDrawn="1"/>
        </p:nvSpPr>
        <p:spPr>
          <a:xfrm>
            <a:off x="1745022" y="6534150"/>
            <a:ext cx="2948351" cy="141861"/>
          </a:xfrm>
          <a:prstGeom prst="rect">
            <a:avLst/>
          </a:prstGeom>
        </p:spPr>
        <p:txBody>
          <a:bodyPr vert="horz" lIns="0" tIns="0" rIns="0" bIns="0" rtlCol="0" anchor="t" anchorCtr="0">
            <a:noAutofit/>
          </a:bodyPr>
          <a:lstStyle>
            <a:defPPr>
              <a:defRPr lang="en-US"/>
            </a:defPPr>
            <a:lvl1pPr marL="0" algn="l" defTabSz="914400" rtl="0" eaLnBrk="1" latinLnBrk="0" hangingPunct="1">
              <a:defRPr sz="700" kern="1200">
                <a:solidFill>
                  <a:schemeClr val="accent6">
                    <a:lumMod val="75000"/>
                  </a:schemeClr>
                </a:solidFill>
                <a:latin typeface="+mn-lt"/>
                <a:ea typeface="Open Sans Light" pitchFamily="2" charset="0"/>
                <a:cs typeface="Open Sans 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Text Placeholder 13">
            <a:extLst>
              <a:ext uri="{FF2B5EF4-FFF2-40B4-BE49-F238E27FC236}">
                <a16:creationId xmlns:a16="http://schemas.microsoft.com/office/drawing/2014/main" id="{E113940A-7666-5722-8720-EBB6E052D1C8}"/>
              </a:ext>
            </a:extLst>
          </p:cNvPr>
          <p:cNvSpPr>
            <a:spLocks noGrp="1"/>
          </p:cNvSpPr>
          <p:nvPr>
            <p:ph type="body" sz="quarter" idx="12" hasCustomPrompt="1"/>
          </p:nvPr>
        </p:nvSpPr>
        <p:spPr>
          <a:xfrm>
            <a:off x="461327" y="6376658"/>
            <a:ext cx="3006725" cy="252742"/>
          </a:xfrm>
        </p:spPr>
        <p:txBody>
          <a:bodyPr>
            <a:noAutofit/>
          </a:bodyPr>
          <a:lstStyle>
            <a:lvl1pPr marL="0" indent="0">
              <a:buNone/>
              <a:defRPr sz="1000">
                <a:solidFill>
                  <a:srgbClr val="000000"/>
                </a:solidFill>
              </a:defRPr>
            </a:lvl1pPr>
          </a:lstStyle>
          <a:p>
            <a:pPr lvl="0"/>
            <a:r>
              <a:rPr lang="en-GB"/>
              <a:t>Document name</a:t>
            </a:r>
          </a:p>
        </p:txBody>
      </p:sp>
      <p:sp>
        <p:nvSpPr>
          <p:cNvPr id="5" name="Slide Number Placeholder 4">
            <a:extLst>
              <a:ext uri="{FF2B5EF4-FFF2-40B4-BE49-F238E27FC236}">
                <a16:creationId xmlns:a16="http://schemas.microsoft.com/office/drawing/2014/main" id="{029256CA-B1EC-691F-022D-9AFA8585B678}"/>
              </a:ext>
            </a:extLst>
          </p:cNvPr>
          <p:cNvSpPr>
            <a:spLocks noGrp="1"/>
          </p:cNvSpPr>
          <p:nvPr>
            <p:ph type="sldNum" sz="quarter" idx="24"/>
          </p:nvPr>
        </p:nvSpPr>
        <p:spPr>
          <a:xfrm>
            <a:off x="11064751" y="6289829"/>
            <a:ext cx="665922" cy="372440"/>
          </a:xfrm>
        </p:spPr>
        <p:txBody>
          <a:bodyPr>
            <a:noAutofit/>
          </a:bodyPr>
          <a:lstStyle>
            <a:lvl1pPr>
              <a:defRPr sz="1000">
                <a:solidFill>
                  <a:schemeClr val="tx1"/>
                </a:solidFill>
              </a:defRPr>
            </a:lvl1pPr>
          </a:lstStyle>
          <a:p>
            <a:fld id="{41DAF538-693A-4E80-987F-3E9C27B38952}" type="slidenum">
              <a:rPr lang="en-GB" smtClean="0"/>
              <a:pPr/>
              <a:t>‹#›</a:t>
            </a:fld>
            <a:endParaRPr lang="en-GB" dirty="0"/>
          </a:p>
        </p:txBody>
      </p:sp>
    </p:spTree>
    <p:extLst>
      <p:ext uri="{BB962C8B-B14F-4D97-AF65-F5344CB8AC3E}">
        <p14:creationId xmlns:p14="http://schemas.microsoft.com/office/powerpoint/2010/main" val="708039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4B1407-0C59-B7CD-248F-90B144A2BD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951F68-DE81-7199-F841-72A1A003EA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3075F2-EFEF-0FFC-D790-FF6069A670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6C1394-D1D8-4FCA-A42A-0194DAB28956}" type="datetimeFigureOut">
              <a:rPr lang="en-GB" smtClean="0"/>
              <a:t>05/12/2025</a:t>
            </a:fld>
            <a:endParaRPr lang="en-GB"/>
          </a:p>
        </p:txBody>
      </p:sp>
      <p:sp>
        <p:nvSpPr>
          <p:cNvPr id="5" name="Footer Placeholder 4">
            <a:extLst>
              <a:ext uri="{FF2B5EF4-FFF2-40B4-BE49-F238E27FC236}">
                <a16:creationId xmlns:a16="http://schemas.microsoft.com/office/drawing/2014/main" id="{79EC3BCD-4200-E597-7F4D-9C52C8C52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8387F4A-8897-BC68-669B-24B474B87D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AF538-693A-4E80-987F-3E9C27B38952}" type="slidenum">
              <a:rPr lang="en-GB" smtClean="0"/>
              <a:t>‹#›</a:t>
            </a:fld>
            <a:endParaRPr lang="en-GB"/>
          </a:p>
        </p:txBody>
      </p:sp>
    </p:spTree>
    <p:extLst>
      <p:ext uri="{BB962C8B-B14F-4D97-AF65-F5344CB8AC3E}">
        <p14:creationId xmlns:p14="http://schemas.microsoft.com/office/powerpoint/2010/main" val="2037672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4" r:id="rId13"/>
    <p:sldLayoutId id="2147483666" r:id="rId14"/>
    <p:sldLayoutId id="2147483667" r:id="rId15"/>
    <p:sldLayoutId id="2147483668" r:id="rId16"/>
    <p:sldLayoutId id="2147483671" r:id="rId17"/>
    <p:sldLayoutId id="2147483675" r:id="rId18"/>
    <p:sldLayoutId id="2147483677" r:id="rId19"/>
    <p:sldLayoutId id="2147483678" r:id="rId20"/>
    <p:sldLayoutId id="2147483679" r:id="rId21"/>
    <p:sldLayoutId id="214748368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customXml" Target="../../customXml/item22.xml"/><Relationship Id="rId1" Type="http://schemas.openxmlformats.org/officeDocument/2006/relationships/customXml" Target="../../customXml/item10.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customXml" Target="../../customXml/item43.xml"/><Relationship Id="rId1" Type="http://schemas.openxmlformats.org/officeDocument/2006/relationships/customXml" Target="../../customXml/item4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46.xml"/><Relationship Id="rId1" Type="http://schemas.openxmlformats.org/officeDocument/2006/relationships/customXml" Target="../../customXml/item5.xml"/></Relationships>
</file>

<file path=ppt/slides/_rels/slide4.xml.rels><?xml version="1.0" encoding="UTF-8" standalone="yes"?>
<Relationships xmlns="http://schemas.openxmlformats.org/package/2006/relationships"><Relationship Id="rId3" Type="http://schemas.openxmlformats.org/officeDocument/2006/relationships/tags" Target="../tags/tag1.xml"/><Relationship Id="rId7" Type="http://schemas.openxmlformats.org/officeDocument/2006/relationships/image" Target="../media/image6.jpg"/><Relationship Id="rId2" Type="http://schemas.openxmlformats.org/officeDocument/2006/relationships/customXml" Target="../../customXml/item25.xml"/><Relationship Id="rId1" Type="http://schemas.openxmlformats.org/officeDocument/2006/relationships/customXml" Target="../../customXml/item13.xml"/><Relationship Id="rId6" Type="http://schemas.openxmlformats.org/officeDocument/2006/relationships/image" Target="../media/image5.bin"/><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customXml" Target="../../customXml/item14.xml"/><Relationship Id="rId1" Type="http://schemas.openxmlformats.org/officeDocument/2006/relationships/customXml" Target="../../customXml/item20.xml"/><Relationship Id="rId6" Type="http://schemas.openxmlformats.org/officeDocument/2006/relationships/image" Target="../media/image6.jpg"/><Relationship Id="rId5" Type="http://schemas.openxmlformats.org/officeDocument/2006/relationships/notesSlide" Target="../notesSlides/notesSlide4.xml"/><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3.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27.xml"/><Relationship Id="rId1" Type="http://schemas.openxmlformats.org/officeDocument/2006/relationships/customXml" Target="../../customXml/item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ustomXml" Target="../../customXml/item21.xml"/><Relationship Id="rId1" Type="http://schemas.openxmlformats.org/officeDocument/2006/relationships/customXml" Target="../../customXml/item24.xml"/><Relationship Id="rId6" Type="http://schemas.openxmlformats.org/officeDocument/2006/relationships/image" Target="../media/image7.png"/><Relationship Id="rId5" Type="http://schemas.openxmlformats.org/officeDocument/2006/relationships/chart" Target="../charts/chart1.xml"/><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9.xml"/><Relationship Id="rId1" Type="http://schemas.openxmlformats.org/officeDocument/2006/relationships/customXml" Target="../../customXml/item2.xml"/></Relationships>
</file>

<file path=ppt/slides/_rels/slide19.xml.rels><?xml version="1.0" encoding="UTF-8" standalone="yes"?>
<Relationships xmlns="http://schemas.openxmlformats.org/package/2006/relationships"><Relationship Id="rId8" Type="http://schemas.openxmlformats.org/officeDocument/2006/relationships/hyperlink" Target="https://aws.amazon.com/aws%20cost%20management/aws%20cost%20explorer/" TargetMode="External"/><Relationship Id="rId3" Type="http://schemas.openxmlformats.org/officeDocument/2006/relationships/tags" Target="../tags/tag4.xml"/><Relationship Id="rId7" Type="http://schemas.openxmlformats.org/officeDocument/2006/relationships/hyperlink" Target="https://aws.amazon.com/windows/faq/#:~:text=AWS%20is%20also%20an%20authorized%20license%20mobility%20partner.,today%2C%20including%20Dole%20Foods%2C%20Hess%20Corporation%2C%20and%20Lionsgate." TargetMode="External"/><Relationship Id="rId2" Type="http://schemas.openxmlformats.org/officeDocument/2006/relationships/customXml" Target="../../customXml/item23.xml"/><Relationship Id="rId1" Type="http://schemas.openxmlformats.org/officeDocument/2006/relationships/customXml" Target="../../customXml/item29.xml"/><Relationship Id="rId6" Type="http://schemas.openxmlformats.org/officeDocument/2006/relationships/hyperlink" Target="https://aws.amazon.com/windows/resources/licensing/" TargetMode="External"/><Relationship Id="rId11" Type="http://schemas.openxmlformats.org/officeDocument/2006/relationships/image" Target="../media/image6.jpg"/><Relationship Id="rId5" Type="http://schemas.openxmlformats.org/officeDocument/2006/relationships/notesSlide" Target="../notesSlides/notesSlide16.xml"/><Relationship Id="rId10" Type="http://schemas.openxmlformats.org/officeDocument/2006/relationships/hyperlink" Target="https://aws.amazon.com/license%20manager/" TargetMode="External"/><Relationship Id="rId4" Type="http://schemas.openxmlformats.org/officeDocument/2006/relationships/slideLayout" Target="../slideLayouts/slideLayout1.xml"/><Relationship Id="rId9" Type="http://schemas.openxmlformats.org/officeDocument/2006/relationships/hyperlink" Target="https://aws.amazon.com/blogs/modernizing%20with%20aws/three%20ways%20to%20run%20sql%20server%20on%20aw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microsoft.com/en-us/licensing/licensing-programs/software-assurance-license-mobility?activetab=software-assurance-license-mobility-pivot%3aprimaryr2"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hyperlink" Target="http://aws.amazon.com/windows/resources/licensemobility/"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33.xml"/><Relationship Id="rId1" Type="http://schemas.openxmlformats.org/officeDocument/2006/relationships/customXml" Target="../../customXml/item48.xml"/></Relationships>
</file>

<file path=ppt/slides/_rels/slide2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customXml" Target="../../customXml/item30.xml"/><Relationship Id="rId1" Type="http://schemas.openxmlformats.org/officeDocument/2006/relationships/customXml" Target="../../customXml/item34.xml"/><Relationship Id="rId6" Type="http://schemas.openxmlformats.org/officeDocument/2006/relationships/image" Target="../media/image6.jpg"/><Relationship Id="rId5" Type="http://schemas.openxmlformats.org/officeDocument/2006/relationships/notesSlide" Target="../notesSlides/notesSlide18.xml"/><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customXml" Target="../../customXml/item15.xml"/><Relationship Id="rId1" Type="http://schemas.openxmlformats.org/officeDocument/2006/relationships/customXml" Target="../../customXml/item7.xml"/><Relationship Id="rId6" Type="http://schemas.openxmlformats.org/officeDocument/2006/relationships/image" Target="../media/image6.jpg"/><Relationship Id="rId5" Type="http://schemas.openxmlformats.org/officeDocument/2006/relationships/notesSlide" Target="../notesSlides/notesSlide19.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45.xml"/><Relationship Id="rId1" Type="http://schemas.openxmlformats.org/officeDocument/2006/relationships/customXml" Target="../../customXml/item4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36.xml"/><Relationship Id="rId1" Type="http://schemas.openxmlformats.org/officeDocument/2006/relationships/customXml" Target="../../customXml/item32.xml"/><Relationship Id="rId5" Type="http://schemas.openxmlformats.org/officeDocument/2006/relationships/chart" Target="../charts/chart2.xml"/><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8" Type="http://schemas.openxmlformats.org/officeDocument/2006/relationships/image" Target="../media/image11.bin"/><Relationship Id="rId3" Type="http://schemas.openxmlformats.org/officeDocument/2006/relationships/tags" Target="../tags/tag7.xml"/><Relationship Id="rId7" Type="http://schemas.openxmlformats.org/officeDocument/2006/relationships/image" Target="../media/image10.bin"/><Relationship Id="rId2" Type="http://schemas.openxmlformats.org/officeDocument/2006/relationships/customXml" Target="../../customXml/item3.xml"/><Relationship Id="rId1" Type="http://schemas.openxmlformats.org/officeDocument/2006/relationships/customXml" Target="../../customXml/item12.xml"/><Relationship Id="rId6" Type="http://schemas.openxmlformats.org/officeDocument/2006/relationships/image" Target="../media/image9.bin"/><Relationship Id="rId5" Type="http://schemas.openxmlformats.org/officeDocument/2006/relationships/notesSlide" Target="../notesSlides/notesSlide21.xml"/><Relationship Id="rId10" Type="http://schemas.openxmlformats.org/officeDocument/2006/relationships/image" Target="../media/image6.jpg"/><Relationship Id="rId4" Type="http://schemas.openxmlformats.org/officeDocument/2006/relationships/slideLayout" Target="../slideLayouts/slideLayout21.xml"/><Relationship Id="rId9" Type="http://schemas.openxmlformats.org/officeDocument/2006/relationships/hyperlink" Target="https://pages.awscloud.com/global-in-gc-500-business-value-of-migration-whitepaper-learn.html" TargetMode="Externa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9.xml"/><Relationship Id="rId1" Type="http://schemas.openxmlformats.org/officeDocument/2006/relationships/customXml" Target="../../customXml/item1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8.xml"/><Relationship Id="rId5" Type="http://schemas.openxmlformats.org/officeDocument/2006/relationships/image" Target="../media/image6.jp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9.xml"/><Relationship Id="rId5" Type="http://schemas.openxmlformats.org/officeDocument/2006/relationships/image" Target="../media/image6.jp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customXml" Target="../../customXml/item1.xml"/><Relationship Id="rId1" Type="http://schemas.openxmlformats.org/officeDocument/2006/relationships/customXml" Target="../../customXml/item17.xml"/><Relationship Id="rId5" Type="http://schemas.openxmlformats.org/officeDocument/2006/relationships/image" Target="../media/image14.png"/><Relationship Id="rId4"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customXml" Target="../../customXml/item26.xml"/><Relationship Id="rId1" Type="http://schemas.openxmlformats.org/officeDocument/2006/relationships/customXml" Target="../../customXml/item37.xml"/><Relationship Id="rId5" Type="http://schemas.openxmlformats.org/officeDocument/2006/relationships/image" Target="../media/image15.png"/><Relationship Id="rId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39.xml"/><Relationship Id="rId1" Type="http://schemas.openxmlformats.org/officeDocument/2006/relationships/customXml" Target="../../customXml/item49.xml"/><Relationship Id="rId4"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6.xml"/><Relationship Id="rId1" Type="http://schemas.openxmlformats.org/officeDocument/2006/relationships/customXml" Target="../../customXml/item4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15.xml"/><Relationship Id="rId7" Type="http://schemas.openxmlformats.org/officeDocument/2006/relationships/image" Target="../media/image23.svg"/><Relationship Id="rId2" Type="http://schemas.openxmlformats.org/officeDocument/2006/relationships/customXml" Target="../../customXml/item31.xml"/><Relationship Id="rId1" Type="http://schemas.openxmlformats.org/officeDocument/2006/relationships/customXml" Target="../../customXml/item38.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3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ecat.softcat.com/" TargetMode="External"/><Relationship Id="rId3" Type="http://schemas.openxmlformats.org/officeDocument/2006/relationships/slideLayout" Target="../slideLayouts/slideLayout19.xml"/><Relationship Id="rId7" Type="http://schemas.openxmlformats.org/officeDocument/2006/relationships/hyperlink" Target="https://www.linkedin.com/company/softcat/" TargetMode="External"/><Relationship Id="rId12" Type="http://schemas.openxmlformats.org/officeDocument/2006/relationships/image" Target="../media/image31.svg"/><Relationship Id="rId2" Type="http://schemas.openxmlformats.org/officeDocument/2006/relationships/customXml" Target="../../customXml/item42.xml"/><Relationship Id="rId1" Type="http://schemas.openxmlformats.org/officeDocument/2006/relationships/customXml" Target="../../customXml/item6.xml"/><Relationship Id="rId6" Type="http://schemas.openxmlformats.org/officeDocument/2006/relationships/image" Target="../media/image27.sv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hyperlink" Target="https://www.softcat.com/1117/3080/6035/Softcat_plc_Annual_Report_and_Accounts_Interactive_2024.pdf" TargetMode="External"/><Relationship Id="rId10" Type="http://schemas.openxmlformats.org/officeDocument/2006/relationships/hyperlink" Target="https://www.youtube.com/user/SoftcatProductions" TargetMode="External"/><Relationship Id="rId4" Type="http://schemas.openxmlformats.org/officeDocument/2006/relationships/hyperlink" Target="https://www.instagram.com/softcat/" TargetMode="External"/><Relationship Id="rId9" Type="http://schemas.openxmlformats.org/officeDocument/2006/relationships/image" Target="../media/image29.svg"/><Relationship Id="rId14" Type="http://schemas.openxmlformats.org/officeDocument/2006/relationships/image" Target="../media/image3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973FF1-E51C-714B-CEBB-9369917BBFD3}"/>
              </a:ext>
            </a:extLst>
          </p:cNvPr>
          <p:cNvSpPr>
            <a:spLocks noGrp="1"/>
          </p:cNvSpPr>
          <p:nvPr>
            <p:ph type="body" sz="quarter" idx="10"/>
          </p:nvPr>
        </p:nvSpPr>
        <p:spPr/>
        <p:txBody>
          <a:bodyPr/>
          <a:lstStyle/>
          <a:p>
            <a:r>
              <a:rPr lang="en-GB" dirty="0"/>
              <a:t>Optimisation &amp; Licensing Assessment</a:t>
            </a:r>
          </a:p>
        </p:txBody>
      </p:sp>
      <p:sp>
        <p:nvSpPr>
          <p:cNvPr id="3" name="Text Placeholder 2">
            <a:extLst>
              <a:ext uri="{FF2B5EF4-FFF2-40B4-BE49-F238E27FC236}">
                <a16:creationId xmlns:a16="http://schemas.microsoft.com/office/drawing/2014/main" id="{E2A4A18D-2B1C-CBC7-2B7A-7453D3F612A6}"/>
              </a:ext>
            </a:extLst>
          </p:cNvPr>
          <p:cNvSpPr>
            <a:spLocks noGrp="1"/>
          </p:cNvSpPr>
          <p:nvPr>
            <p:ph type="body" sz="quarter" idx="11"/>
          </p:nvPr>
        </p:nvSpPr>
        <p:spPr>
          <a:xfrm>
            <a:off x="461327" y="5665749"/>
            <a:ext cx="3519488" cy="707129"/>
          </a:xfrm>
        </p:spPr>
        <p:txBody>
          <a:bodyPr/>
          <a:lstStyle/>
          <a:p>
            <a:r>
              <a:rPr lang="en-GB" dirty="0"/>
              <a:t>Name, Job Title</a:t>
            </a:r>
          </a:p>
          <a:p>
            <a:r>
              <a:rPr lang="en-GB"/>
              <a:t>Date</a:t>
            </a:r>
            <a:endParaRPr lang="en-GB" dirty="0"/>
          </a:p>
        </p:txBody>
      </p:sp>
    </p:spTree>
    <p:custDataLst>
      <p:custData r:id="rId1"/>
      <p:custData r:id="rId2"/>
    </p:custDataLst>
    <p:extLst>
      <p:ext uri="{BB962C8B-B14F-4D97-AF65-F5344CB8AC3E}">
        <p14:creationId xmlns:p14="http://schemas.microsoft.com/office/powerpoint/2010/main" val="2078697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B3632F-7883-1B4F-69C3-101335A2678B}"/>
              </a:ext>
            </a:extLst>
          </p:cNvPr>
          <p:cNvSpPr>
            <a:spLocks noGrp="1"/>
          </p:cNvSpPr>
          <p:nvPr>
            <p:ph type="body" sz="quarter" idx="10"/>
          </p:nvPr>
        </p:nvSpPr>
        <p:spPr/>
        <p:txBody>
          <a:bodyPr/>
          <a:lstStyle/>
          <a:p>
            <a:r>
              <a:rPr lang="en-GB" dirty="0"/>
              <a:t>Agenda</a:t>
            </a:r>
          </a:p>
        </p:txBody>
      </p:sp>
      <p:sp>
        <p:nvSpPr>
          <p:cNvPr id="3" name="Slide Number Placeholder 2">
            <a:extLst>
              <a:ext uri="{FF2B5EF4-FFF2-40B4-BE49-F238E27FC236}">
                <a16:creationId xmlns:a16="http://schemas.microsoft.com/office/drawing/2014/main" id="{16407AD9-D33B-F8FD-336C-DBE6D757D6B6}"/>
              </a:ext>
            </a:extLst>
          </p:cNvPr>
          <p:cNvSpPr>
            <a:spLocks noGrp="1"/>
          </p:cNvSpPr>
          <p:nvPr>
            <p:ph type="sldNum" sz="quarter" idx="15"/>
          </p:nvPr>
        </p:nvSpPr>
        <p:spPr/>
        <p:txBody>
          <a:bodyPr/>
          <a:lstStyle/>
          <a:p>
            <a:fld id="{41DAF538-693A-4E80-987F-3E9C27B38952}" type="slidenum">
              <a:rPr lang="en-GB"/>
              <a:pPr/>
              <a:t>2</a:t>
            </a:fld>
            <a:endParaRPr lang="en-GB"/>
          </a:p>
        </p:txBody>
      </p:sp>
      <p:sp>
        <p:nvSpPr>
          <p:cNvPr id="4" name="Text Placeholder 3">
            <a:extLst>
              <a:ext uri="{FF2B5EF4-FFF2-40B4-BE49-F238E27FC236}">
                <a16:creationId xmlns:a16="http://schemas.microsoft.com/office/drawing/2014/main" id="{1348D7D1-14A0-1E66-1B80-2848D4E07FB2}"/>
              </a:ext>
            </a:extLst>
          </p:cNvPr>
          <p:cNvSpPr>
            <a:spLocks noGrp="1"/>
          </p:cNvSpPr>
          <p:nvPr>
            <p:ph type="body" sz="quarter" idx="16"/>
          </p:nvPr>
        </p:nvSpPr>
        <p:spPr>
          <a:xfrm>
            <a:off x="2119369" y="1187763"/>
            <a:ext cx="5280025" cy="4489468"/>
          </a:xfrm>
        </p:spPr>
        <p:txBody>
          <a:bodyPr/>
          <a:lstStyle/>
          <a:p>
            <a:r>
              <a:rPr lang="en-GB" dirty="0">
                <a:latin typeface="Avenir Next LT Pro" panose="020B0504020202020204" pitchFamily="34" charset="0"/>
              </a:rPr>
              <a:t>Executive summary</a:t>
            </a:r>
          </a:p>
          <a:p>
            <a:r>
              <a:rPr lang="en-GB" dirty="0">
                <a:latin typeface="Avenir Next LT Pro" panose="020B0504020202020204" pitchFamily="34" charset="0"/>
              </a:rPr>
              <a:t>Business value</a:t>
            </a:r>
          </a:p>
          <a:p>
            <a:r>
              <a:rPr lang="en-GB" dirty="0">
                <a:latin typeface="Avenir Next LT Pro" panose="020B0504020202020204" pitchFamily="34" charset="0"/>
              </a:rPr>
              <a:t>Financial summary</a:t>
            </a:r>
          </a:p>
          <a:p>
            <a:r>
              <a:rPr lang="en-GB" dirty="0">
                <a:latin typeface="Avenir Next LT Pro" panose="020B0504020202020204" pitchFamily="34" charset="0"/>
              </a:rPr>
              <a:t>Licensing considerations</a:t>
            </a:r>
          </a:p>
          <a:p>
            <a:r>
              <a:rPr lang="en-GB" dirty="0">
                <a:latin typeface="Avenir Next LT Pro" panose="020B0504020202020204" pitchFamily="34" charset="0"/>
              </a:rPr>
              <a:t>Support considerations</a:t>
            </a:r>
          </a:p>
          <a:p>
            <a:r>
              <a:rPr lang="en-GB" dirty="0">
                <a:latin typeface="Avenir Next LT Pro" panose="020B0504020202020204" pitchFamily="34" charset="0"/>
              </a:rPr>
              <a:t>Business Value</a:t>
            </a:r>
          </a:p>
          <a:p>
            <a:r>
              <a:rPr lang="en-GB" dirty="0">
                <a:latin typeface="Avenir Next LT Pro" panose="020B0504020202020204" pitchFamily="34" charset="0"/>
              </a:rPr>
              <a:t>Next steps</a:t>
            </a:r>
          </a:p>
          <a:p>
            <a:r>
              <a:rPr lang="en-GB" dirty="0">
                <a:latin typeface="Avenir Next LT Pro" panose="020B0504020202020204" pitchFamily="34" charset="0"/>
              </a:rPr>
              <a:t>About Softcat</a:t>
            </a:r>
          </a:p>
          <a:p>
            <a:r>
              <a:rPr lang="en-GB" dirty="0">
                <a:latin typeface="Avenir Next LT Pro" panose="020B0504020202020204" pitchFamily="34" charset="0"/>
              </a:rPr>
              <a:t>Questions/AOB</a:t>
            </a:r>
          </a:p>
        </p:txBody>
      </p:sp>
      <p:sp>
        <p:nvSpPr>
          <p:cNvPr id="5" name="Text Placeholder 4">
            <a:extLst>
              <a:ext uri="{FF2B5EF4-FFF2-40B4-BE49-F238E27FC236}">
                <a16:creationId xmlns:a16="http://schemas.microsoft.com/office/drawing/2014/main" id="{527ED4B8-391B-CD42-42CD-177F4B75A840}"/>
              </a:ext>
            </a:extLst>
          </p:cNvPr>
          <p:cNvSpPr>
            <a:spLocks noGrp="1"/>
          </p:cNvSpPr>
          <p:nvPr>
            <p:ph type="body" sz="quarter" idx="12"/>
          </p:nvPr>
        </p:nvSpPr>
        <p:spPr/>
        <p:txBody>
          <a:bodyPr/>
          <a:lstStyle/>
          <a:p>
            <a:r>
              <a:rPr lang="en-GB" dirty="0"/>
              <a:t>Softcat OLA</a:t>
            </a:r>
          </a:p>
          <a:p>
            <a:endParaRPr lang="en-GB" dirty="0"/>
          </a:p>
        </p:txBody>
      </p:sp>
    </p:spTree>
    <p:custDataLst>
      <p:custData r:id="rId1"/>
      <p:custData r:id="rId2"/>
    </p:custDataLst>
    <p:extLst>
      <p:ext uri="{BB962C8B-B14F-4D97-AF65-F5344CB8AC3E}">
        <p14:creationId xmlns:p14="http://schemas.microsoft.com/office/powerpoint/2010/main" val="3642781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BFE21E-BAAE-803A-73A4-0B2B33F45C01}"/>
              </a:ext>
            </a:extLst>
          </p:cNvPr>
          <p:cNvSpPr>
            <a:spLocks noGrp="1"/>
          </p:cNvSpPr>
          <p:nvPr>
            <p:ph type="body" sz="quarter" idx="10"/>
          </p:nvPr>
        </p:nvSpPr>
        <p:spPr/>
        <p:txBody>
          <a:bodyPr/>
          <a:lstStyle/>
          <a:p>
            <a:r>
              <a:rPr lang="en-GB" dirty="0"/>
              <a:t>Executive Summary</a:t>
            </a:r>
          </a:p>
        </p:txBody>
      </p:sp>
    </p:spTree>
    <p:custDataLst>
      <p:custData r:id="rId1"/>
      <p:custData r:id="rId2"/>
    </p:custDataLst>
    <p:extLst>
      <p:ext uri="{BB962C8B-B14F-4D97-AF65-F5344CB8AC3E}">
        <p14:creationId xmlns:p14="http://schemas.microsoft.com/office/powerpoint/2010/main" val="1673179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Single Corner of Rectangle 7">
            <a:extLst>
              <a:ext uri="{FF2B5EF4-FFF2-40B4-BE49-F238E27FC236}">
                <a16:creationId xmlns:a16="http://schemas.microsoft.com/office/drawing/2014/main" id="{FCF2D4BC-2CDD-127E-C719-2E36CC861E37}"/>
              </a:ext>
            </a:extLst>
          </p:cNvPr>
          <p:cNvSpPr/>
          <p:nvPr/>
        </p:nvSpPr>
        <p:spPr>
          <a:xfrm rot="5400000" flipH="1">
            <a:off x="-802285" y="2007138"/>
            <a:ext cx="5122314" cy="3517751"/>
          </a:xfrm>
          <a:prstGeom prst="round1Rect">
            <a:avLst>
              <a:gd name="adj" fmla="val 10046"/>
            </a:avLst>
          </a:prstGeom>
          <a:gradFill flip="none" rotWithShape="1">
            <a:gsLst>
              <a:gs pos="41000">
                <a:srgbClr val="3B1A3D"/>
              </a:gs>
              <a:gs pos="59000">
                <a:srgbClr val="462148"/>
              </a:gs>
              <a:gs pos="95000">
                <a:srgbClr val="653466"/>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6" name="Group 15">
            <a:extLst>
              <a:ext uri="{FF2B5EF4-FFF2-40B4-BE49-F238E27FC236}">
                <a16:creationId xmlns:a16="http://schemas.microsoft.com/office/drawing/2014/main" id="{9703A3EC-E5F8-AD3C-267E-CDCA5A1F513A}"/>
              </a:ext>
            </a:extLst>
          </p:cNvPr>
          <p:cNvGrpSpPr/>
          <p:nvPr/>
        </p:nvGrpSpPr>
        <p:grpSpPr>
          <a:xfrm>
            <a:off x="3960034" y="1532296"/>
            <a:ext cx="7585290" cy="4010870"/>
            <a:chOff x="789517" y="1476925"/>
            <a:chExt cx="3547313" cy="4010870"/>
          </a:xfrm>
        </p:grpSpPr>
        <p:sp>
          <p:nvSpPr>
            <p:cNvPr id="18" name="TextBox 17">
              <a:extLst>
                <a:ext uri="{FF2B5EF4-FFF2-40B4-BE49-F238E27FC236}">
                  <a16:creationId xmlns:a16="http://schemas.microsoft.com/office/drawing/2014/main" id="{89D0B878-C4B2-1385-21F2-15FDFBEF05DF}"/>
                </a:ext>
              </a:extLst>
            </p:cNvPr>
            <p:cNvSpPr txBox="1"/>
            <p:nvPr/>
          </p:nvSpPr>
          <p:spPr>
            <a:xfrm>
              <a:off x="885103" y="1552746"/>
              <a:ext cx="3451727" cy="2800767"/>
            </a:xfrm>
            <a:prstGeom prst="rect">
              <a:avLst/>
            </a:prstGeom>
            <a:noFill/>
          </p:spPr>
          <p:txBody>
            <a:bodyPr wrap="square" rtlCol="0">
              <a:spAutoFit/>
            </a:bodyPr>
            <a:lstStyle/>
            <a:p>
              <a:r>
                <a:rPr lang="en-US" sz="1600" dirty="0">
                  <a:latin typeface="Avenir Next LT Pro" panose="020B0504020202020204" pitchFamily="34" charset="0"/>
                </a:rPr>
                <a:t>&lt;CUSTOMER&gt;’s current estate consists of &lt;SRV&gt; servers of various types</a:t>
              </a:r>
              <a:br>
                <a:rPr lang="en-US" sz="1600" dirty="0">
                  <a:latin typeface="Avenir Next LT Pro" panose="020B0504020202020204" pitchFamily="34" charset="0"/>
                </a:rPr>
              </a:br>
              <a:endParaRPr lang="en-US" sz="800" dirty="0">
                <a:latin typeface="Avenir Next LT Pro" panose="020B0504020202020204" pitchFamily="34" charset="0"/>
              </a:endParaRPr>
            </a:p>
            <a:p>
              <a:endParaRPr lang="en-US" sz="800" dirty="0">
                <a:latin typeface="Avenir Next LT Pro" panose="020B0504020202020204" pitchFamily="34" charset="0"/>
              </a:endParaRPr>
            </a:p>
            <a:p>
              <a:r>
                <a:rPr lang="en-US" sz="1600" dirty="0">
                  <a:latin typeface="Avenir Next LT Pro" panose="020B0504020202020204" pitchFamily="34" charset="0"/>
                </a:rPr>
                <a:t>&lt;CUSTOMER&gt; seeks to exit its current RackSpace Data Centre, while taking the opportunity to </a:t>
              </a:r>
              <a:r>
                <a:rPr lang="en-US" sz="1600" dirty="0" err="1">
                  <a:latin typeface="Avenir Next LT Pro" panose="020B0504020202020204" pitchFamily="34" charset="0"/>
                </a:rPr>
                <a:t>modernise</a:t>
              </a:r>
              <a:r>
                <a:rPr lang="en-US" sz="1600" dirty="0">
                  <a:latin typeface="Avenir Next LT Pro" panose="020B0504020202020204" pitchFamily="34" charset="0"/>
                </a:rPr>
                <a:t> into the Cloud</a:t>
              </a:r>
            </a:p>
            <a:p>
              <a:endParaRPr lang="en-US" sz="800" dirty="0">
                <a:latin typeface="Avenir Next LT Pro" panose="020B0504020202020204" pitchFamily="34" charset="0"/>
              </a:endParaRPr>
            </a:p>
            <a:p>
              <a:endParaRPr lang="en-US" sz="800" dirty="0">
                <a:latin typeface="Avenir Next LT Pro" panose="020B0504020202020204" pitchFamily="34" charset="0"/>
              </a:endParaRPr>
            </a:p>
            <a:p>
              <a:r>
                <a:rPr lang="en-US" sz="1600" dirty="0">
                  <a:latin typeface="Avenir Next LT Pro" panose="020B0504020202020204" pitchFamily="34" charset="0"/>
                </a:rPr>
                <a:t>Softcat performed an </a:t>
              </a:r>
              <a:r>
                <a:rPr lang="en-US" sz="1600" dirty="0" err="1">
                  <a:latin typeface="Avenir Next LT Pro" panose="020B0504020202020204" pitchFamily="34" charset="0"/>
                </a:rPr>
                <a:t>Optimisation</a:t>
              </a:r>
              <a:r>
                <a:rPr lang="en-US" sz="1600" dirty="0">
                  <a:latin typeface="Avenir Next LT Pro" panose="020B0504020202020204" pitchFamily="34" charset="0"/>
                </a:rPr>
                <a:t> and Licensing Assessment to provide &lt;CUSTOMER&gt; a High-Level overview of how that migration journey might look.</a:t>
              </a:r>
            </a:p>
            <a:p>
              <a:endParaRPr lang="en-US" sz="800" dirty="0">
                <a:latin typeface="Avenir Next LT Pro" panose="020B0504020202020204" pitchFamily="34" charset="0"/>
              </a:endParaRPr>
            </a:p>
            <a:p>
              <a:endParaRPr lang="en-US" sz="800" dirty="0">
                <a:latin typeface="Avenir Next LT Pro" panose="020B0504020202020204" pitchFamily="34" charset="0"/>
              </a:endParaRPr>
            </a:p>
            <a:p>
              <a:r>
                <a:rPr lang="en-US" sz="1600" b="1" dirty="0" err="1">
                  <a:latin typeface="Avenir Next LT Pro" panose="020B0504020202020204" pitchFamily="34" charset="0"/>
                </a:rPr>
                <a:t>Optimisation</a:t>
              </a:r>
              <a:r>
                <a:rPr lang="en-US" sz="1600" b="1" dirty="0">
                  <a:latin typeface="Avenir Next LT Pro" panose="020B0504020202020204" pitchFamily="34" charset="0"/>
                </a:rPr>
                <a:t> could save up to &lt;b3at%&gt; compared to on-demand License Included</a:t>
              </a:r>
            </a:p>
          </p:txBody>
        </p:sp>
        <p:cxnSp>
          <p:nvCxnSpPr>
            <p:cNvPr id="20" name="Straight Connector 19">
              <a:extLst>
                <a:ext uri="{FF2B5EF4-FFF2-40B4-BE49-F238E27FC236}">
                  <a16:creationId xmlns:a16="http://schemas.microsoft.com/office/drawing/2014/main" id="{A83C353F-84A6-3DC6-B115-2501A078854B}"/>
                </a:ext>
              </a:extLst>
            </p:cNvPr>
            <p:cNvCxnSpPr/>
            <p:nvPr/>
          </p:nvCxnSpPr>
          <p:spPr>
            <a:xfrm>
              <a:off x="789517" y="1476925"/>
              <a:ext cx="0" cy="4010870"/>
            </a:xfrm>
            <a:prstGeom prst="line">
              <a:avLst/>
            </a:prstGeom>
            <a:ln w="28575">
              <a:solidFill>
                <a:srgbClr val="3B1A3D"/>
              </a:solidFill>
            </a:ln>
          </p:spPr>
          <p:style>
            <a:lnRef idx="1">
              <a:schemeClr val="accent1"/>
            </a:lnRef>
            <a:fillRef idx="0">
              <a:schemeClr val="accent1"/>
            </a:fillRef>
            <a:effectRef idx="0">
              <a:schemeClr val="accent1"/>
            </a:effectRef>
            <a:fontRef idx="minor">
              <a:schemeClr val="tx1"/>
            </a:fontRef>
          </p:style>
        </p:cxnSp>
      </p:grpSp>
      <p:sp>
        <p:nvSpPr>
          <p:cNvPr id="7" name="Slide Number Placeholder 3">
            <a:extLst>
              <a:ext uri="{FF2B5EF4-FFF2-40B4-BE49-F238E27FC236}">
                <a16:creationId xmlns:a16="http://schemas.microsoft.com/office/drawing/2014/main" id="{32C4C56F-786E-EF85-AB1E-8929BB4008C0}"/>
              </a:ext>
            </a:extLst>
          </p:cNvPr>
          <p:cNvSpPr txBox="1">
            <a:spLocks/>
          </p:cNvSpPr>
          <p:nvPr/>
        </p:nvSpPr>
        <p:spPr>
          <a:xfrm>
            <a:off x="9071988" y="6456052"/>
            <a:ext cx="2743200" cy="365125"/>
          </a:xfrm>
          <a:prstGeom prst="rect">
            <a:avLst/>
          </a:prstGeom>
        </p:spPr>
        <p:txBody>
          <a:bodyPr/>
          <a:lstStyle>
            <a:defPPr>
              <a:defRPr lang="en-US"/>
            </a:defPPr>
            <a:lvl1pPr marL="0" algn="l" defTabSz="914400" rtl="0" eaLnBrk="1" latinLnBrk="0" hangingPunct="1">
              <a:defRPr sz="900" b="0" i="0" kern="1200">
                <a:solidFill>
                  <a:srgbClr val="915DA3"/>
                </a:solidFill>
                <a:latin typeface="Avenir Next LT Pro Light" panose="020B0304020202020204"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411FF9-8BD6-D64A-9453-5D405FE4344C}" type="slidenum">
              <a:rPr lang="en-US" sz="700">
                <a:solidFill>
                  <a:srgbClr val="190052"/>
                </a:solidFill>
              </a:rPr>
              <a:pPr algn="r"/>
              <a:t>4</a:t>
            </a:fld>
            <a:endParaRPr lang="en-US" sz="700" dirty="0">
              <a:solidFill>
                <a:srgbClr val="190052"/>
              </a:solidFill>
            </a:endParaRPr>
          </a:p>
        </p:txBody>
      </p:sp>
      <p:pic>
        <p:nvPicPr>
          <p:cNvPr id="11" name="Picture 10">
            <a:extLst>
              <a:ext uri="{FF2B5EF4-FFF2-40B4-BE49-F238E27FC236}">
                <a16:creationId xmlns:a16="http://schemas.microsoft.com/office/drawing/2014/main" id="{991889C9-7EAB-6C28-F149-54C004543435}"/>
              </a:ext>
            </a:extLst>
          </p:cNvPr>
          <p:cNvPicPr>
            <a:picLocks noChangeAspect="1"/>
          </p:cNvPicPr>
          <p:nvPr/>
        </p:nvPicPr>
        <p:blipFill>
          <a:blip r:embed="rId6">
            <a:biLevel thresh="25000"/>
          </a:blip>
          <a:stretch>
            <a:fillRect/>
          </a:stretch>
        </p:blipFill>
        <p:spPr>
          <a:xfrm>
            <a:off x="646676" y="2871497"/>
            <a:ext cx="1959416" cy="1789032"/>
          </a:xfrm>
          <a:prstGeom prst="rect">
            <a:avLst/>
          </a:prstGeom>
        </p:spPr>
      </p:pic>
      <p:cxnSp>
        <p:nvCxnSpPr>
          <p:cNvPr id="9" name="Straight Connector 8">
            <a:extLst>
              <a:ext uri="{FF2B5EF4-FFF2-40B4-BE49-F238E27FC236}">
                <a16:creationId xmlns:a16="http://schemas.microsoft.com/office/drawing/2014/main" id="{5677D6CC-C073-3C54-F458-6F145E277977}"/>
              </a:ext>
            </a:extLst>
          </p:cNvPr>
          <p:cNvCxnSpPr/>
          <p:nvPr/>
        </p:nvCxnSpPr>
        <p:spPr>
          <a:xfrm>
            <a:off x="472611" y="6314469"/>
            <a:ext cx="11253225" cy="0"/>
          </a:xfrm>
          <a:prstGeom prst="line">
            <a:avLst/>
          </a:prstGeom>
          <a:ln w="12700">
            <a:solidFill>
              <a:srgbClr val="3B1A3D"/>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9515BE1-D4E7-B6ED-F7FF-452B67F8954D}"/>
              </a:ext>
            </a:extLst>
          </p:cNvPr>
          <p:cNvSpPr txBox="1"/>
          <p:nvPr/>
        </p:nvSpPr>
        <p:spPr>
          <a:xfrm>
            <a:off x="392758" y="320084"/>
            <a:ext cx="5855642" cy="480131"/>
          </a:xfrm>
          <a:prstGeom prst="rect">
            <a:avLst/>
          </a:prstGeom>
          <a:noFill/>
        </p:spPr>
        <p:txBody>
          <a:bodyPr wrap="square" rtlCol="0">
            <a:spAutoFit/>
          </a:bodyPr>
          <a:lstStyle/>
          <a:p>
            <a:pPr>
              <a:lnSpc>
                <a:spcPct val="90000"/>
              </a:lnSpc>
              <a:spcBef>
                <a:spcPts val="1000"/>
              </a:spcBef>
            </a:pPr>
            <a:r>
              <a:rPr lang="en-GB" sz="2800" dirty="0">
                <a:solidFill>
                  <a:srgbClr val="472566"/>
                </a:solidFill>
                <a:latin typeface="Avenir Next LT Pro Demi" panose="020B0704020202020204" pitchFamily="34" charset="0"/>
              </a:rPr>
              <a:t>Executive Summary</a:t>
            </a:r>
          </a:p>
        </p:txBody>
      </p:sp>
      <p:sp>
        <p:nvSpPr>
          <p:cNvPr id="3" name="TextBox 2">
            <a:extLst>
              <a:ext uri="{FF2B5EF4-FFF2-40B4-BE49-F238E27FC236}">
                <a16:creationId xmlns:a16="http://schemas.microsoft.com/office/drawing/2014/main" id="{5EB62BFF-1A74-D017-CF1C-4158700EFE13}"/>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EXECUTIVE SUMMARY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6" name="Picture 4">
            <a:extLst>
              <a:ext uri="{FF2B5EF4-FFF2-40B4-BE49-F238E27FC236}">
                <a16:creationId xmlns:a16="http://schemas.microsoft.com/office/drawing/2014/main" id="{225E0A33-BE23-C10E-C329-2527C00BBE59}"/>
              </a:ext>
            </a:extLst>
          </p:cNvPr>
          <p:cNvPicPr>
            <a:picLocks noChangeAspect="1"/>
          </p:cNvPicPr>
          <p:nvPr>
            <p:custDataLst>
              <p:tags r:id="rId3"/>
            </p:custDataLst>
          </p:nvPr>
        </p:nvPicPr>
        <p:blipFill rotWithShape="1">
          <a:blip r:embed="rId7">
            <a:extLst>
              <a:ext uri="{28A0092B-C50C-407E-A947-70E740481C1C}">
                <a14:useLocalDpi xmlns:a14="http://schemas.microsoft.com/office/drawing/2010/main" val="0"/>
              </a:ext>
            </a:extLst>
          </a:blip>
          <a:srcRect l="-2496" t="-4622" r="-7667" b="-12332"/>
          <a:stretch>
            <a:fillRect/>
          </a:stretch>
        </p:blipFill>
        <p:spPr>
          <a:xfrm>
            <a:off x="9545951" y="5594469"/>
            <a:ext cx="2179885" cy="720000"/>
          </a:xfrm>
          <a:prstGeom prst="rect">
            <a:avLst/>
          </a:prstGeom>
        </p:spPr>
      </p:pic>
    </p:spTree>
    <p:custDataLst>
      <p:custData r:id="rId1"/>
      <p:custData r:id="rId2"/>
    </p:custDataLst>
    <p:extLst>
      <p:ext uri="{BB962C8B-B14F-4D97-AF65-F5344CB8AC3E}">
        <p14:creationId xmlns:p14="http://schemas.microsoft.com/office/powerpoint/2010/main" val="1216786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06BCB0E9-0F81-E489-B493-7949C8F19373}"/>
              </a:ext>
            </a:extLst>
          </p:cNvPr>
          <p:cNvSpPr txBox="1">
            <a:spLocks/>
          </p:cNvSpPr>
          <p:nvPr/>
        </p:nvSpPr>
        <p:spPr>
          <a:xfrm>
            <a:off x="392758" y="1204613"/>
            <a:ext cx="3124992" cy="80143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sz="2800" dirty="0">
                <a:solidFill>
                  <a:srgbClr val="472566"/>
                </a:solidFill>
                <a:latin typeface="Avenir Next LT Pro Demi" panose="020B0704020202020204" pitchFamily="34" charset="0"/>
                <a:ea typeface="+mn-ea"/>
                <a:cs typeface="+mn-cs"/>
              </a:rPr>
              <a:t>Overview</a:t>
            </a:r>
          </a:p>
        </p:txBody>
      </p:sp>
      <p:sp>
        <p:nvSpPr>
          <p:cNvPr id="5" name="TextBox 4">
            <a:extLst>
              <a:ext uri="{FF2B5EF4-FFF2-40B4-BE49-F238E27FC236}">
                <a16:creationId xmlns:a16="http://schemas.microsoft.com/office/drawing/2014/main" id="{9CF3DCEB-B3A0-58B0-25F8-BCC9233F7B27}"/>
              </a:ext>
            </a:extLst>
          </p:cNvPr>
          <p:cNvSpPr txBox="1"/>
          <p:nvPr/>
        </p:nvSpPr>
        <p:spPr>
          <a:xfrm>
            <a:off x="392758" y="1997529"/>
            <a:ext cx="5125915" cy="3005438"/>
          </a:xfrm>
          <a:prstGeom prst="rect">
            <a:avLst/>
          </a:prstGeom>
          <a:noFill/>
        </p:spPr>
        <p:txBody>
          <a:bodyPr wrap="square" rtlCol="0">
            <a:spAutoFit/>
          </a:bodyPr>
          <a:lstStyle/>
          <a:p>
            <a:pPr lvl="0">
              <a:lnSpc>
                <a:spcPct val="150000"/>
              </a:lnSpc>
              <a:defRPr/>
            </a:pPr>
            <a:r>
              <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rPr>
              <a:t>Approx. </a:t>
            </a:r>
            <a:r>
              <a:rPr lang="en-US" sz="1600" dirty="0">
                <a:latin typeface="Avenir Next LT Pro" panose="020B0504020202020204" pitchFamily="34" charset="0"/>
              </a:rPr>
              <a:t>&lt;SRV&gt;</a:t>
            </a:r>
            <a:r>
              <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rPr>
              <a:t> VMs and &lt;STO&gt; TB utilised storage</a:t>
            </a:r>
          </a:p>
          <a:p>
            <a:pPr lvl="0">
              <a:lnSpc>
                <a:spcPct val="150000"/>
              </a:lnSpc>
              <a:defRPr/>
            </a:pPr>
            <a:endPar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endParaRPr>
          </a:p>
          <a:p>
            <a:pPr lvl="0">
              <a:lnSpc>
                <a:spcPct val="150000"/>
              </a:lnSpc>
              <a:defRPr/>
            </a:pPr>
            <a:r>
              <a:rPr lang="en-US" sz="1600" dirty="0">
                <a:latin typeface="Avenir Next LT Pro" panose="020B0504020202020204" pitchFamily="34" charset="0"/>
              </a:rPr>
              <a:t>&lt;SRV&gt;</a:t>
            </a:r>
            <a:r>
              <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rPr>
              <a:t> VMs in scope for migration (&lt;WIN&gt; Windows, &lt;LIN&gt; Linux)</a:t>
            </a:r>
          </a:p>
          <a:p>
            <a:pPr lvl="0">
              <a:lnSpc>
                <a:spcPct val="150000"/>
              </a:lnSpc>
              <a:defRPr/>
            </a:pPr>
            <a:endPar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endParaRPr>
          </a:p>
          <a:p>
            <a:pPr marR="0" lvl="0" algn="l" defTabSz="914400" rtl="0" eaLnBrk="1" fontAlgn="auto" latinLnBrk="0" hangingPunct="1">
              <a:lnSpc>
                <a:spcPct val="150000"/>
              </a:lnSpc>
              <a:spcBef>
                <a:spcPts val="0"/>
              </a:spcBef>
              <a:spcAft>
                <a:spcPts val="0"/>
              </a:spcAft>
              <a:buClrTx/>
              <a:buSzTx/>
              <a:tabLst/>
              <a:defRPr/>
            </a:pPr>
            <a:r>
              <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rPr>
              <a:t>Including &lt;SQL&gt; SQL Server instances</a:t>
            </a:r>
          </a:p>
          <a:p>
            <a:pPr marR="0" lvl="0" algn="l" defTabSz="914400" rtl="0" eaLnBrk="1" fontAlgn="auto" latinLnBrk="0" hangingPunct="1">
              <a:lnSpc>
                <a:spcPct val="150000"/>
              </a:lnSpc>
              <a:spcBef>
                <a:spcPts val="0"/>
              </a:spcBef>
              <a:spcAft>
                <a:spcPts val="0"/>
              </a:spcAft>
              <a:buClrTx/>
              <a:buSzTx/>
              <a:tabLst/>
              <a:defRPr/>
            </a:pPr>
            <a:endPar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endParaRPr>
          </a:p>
          <a:p>
            <a:pPr marR="0" lvl="0" algn="l" defTabSz="914400" rtl="0" eaLnBrk="1" fontAlgn="auto" latinLnBrk="0" hangingPunct="1">
              <a:lnSpc>
                <a:spcPct val="150000"/>
              </a:lnSpc>
              <a:spcBef>
                <a:spcPts val="0"/>
              </a:spcBef>
              <a:spcAft>
                <a:spcPts val="0"/>
              </a:spcAft>
              <a:buClrTx/>
              <a:buSzTx/>
              <a:tabLst/>
              <a:defRPr/>
            </a:pPr>
            <a:r>
              <a:rPr kumimoji="0" lang="en-GB" sz="1600" b="0" i="0" u="none" strike="noStrike" kern="1200" cap="none" spc="0" normalizeH="0" baseline="0" noProof="0" dirty="0">
                <a:ln>
                  <a:noFill/>
                </a:ln>
                <a:effectLst/>
                <a:uLnTx/>
                <a:uFillTx/>
                <a:latin typeface="Avenir Next LT Pro" panose="020B0504020202020204" pitchFamily="34" charset="77"/>
                <a:ea typeface="+mn-ea"/>
                <a:cs typeface="+mn-cs"/>
              </a:rPr>
              <a:t>All workloads currently hosted in Rackspace</a:t>
            </a:r>
          </a:p>
        </p:txBody>
      </p:sp>
      <p:sp>
        <p:nvSpPr>
          <p:cNvPr id="2" name="object 9">
            <a:extLst>
              <a:ext uri="{FF2B5EF4-FFF2-40B4-BE49-F238E27FC236}">
                <a16:creationId xmlns:a16="http://schemas.microsoft.com/office/drawing/2014/main" id="{0059E183-0717-2778-07F8-CFB587A4E1E5}"/>
              </a:ext>
            </a:extLst>
          </p:cNvPr>
          <p:cNvSpPr/>
          <p:nvPr/>
        </p:nvSpPr>
        <p:spPr>
          <a:xfrm>
            <a:off x="5912523" y="1741153"/>
            <a:ext cx="0" cy="4397052"/>
          </a:xfrm>
          <a:custGeom>
            <a:avLst/>
            <a:gdLst/>
            <a:ahLst/>
            <a:cxnLst/>
            <a:rect l="l" t="t" r="r" b="b"/>
            <a:pathLst>
              <a:path h="7251065">
                <a:moveTo>
                  <a:pt x="0" y="7250468"/>
                </a:moveTo>
                <a:lnTo>
                  <a:pt x="0" y="0"/>
                </a:lnTo>
              </a:path>
            </a:pathLst>
          </a:custGeom>
          <a:ln w="10315">
            <a:solidFill>
              <a:srgbClr val="905D9F"/>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1092" b="0" i="0" u="none" strike="noStrike" kern="1200" cap="none" spc="0" normalizeH="0" baseline="0" noProof="0" dirty="0">
              <a:ln>
                <a:noFill/>
              </a:ln>
              <a:solidFill>
                <a:prstClr val="black"/>
              </a:solidFill>
              <a:effectLst/>
              <a:uLnTx/>
              <a:uFillTx/>
              <a:latin typeface="Avenir Next LT Pro" panose="020B0504020202020204" pitchFamily="34" charset="77"/>
              <a:ea typeface="+mn-ea"/>
              <a:cs typeface="+mn-cs"/>
            </a:endParaRPr>
          </a:p>
        </p:txBody>
      </p:sp>
      <p:sp>
        <p:nvSpPr>
          <p:cNvPr id="3" name="TextBox 2">
            <a:extLst>
              <a:ext uri="{FF2B5EF4-FFF2-40B4-BE49-F238E27FC236}">
                <a16:creationId xmlns:a16="http://schemas.microsoft.com/office/drawing/2014/main" id="{CB5F62E4-2FA3-DC8A-212F-0A8B169B2AD9}"/>
              </a:ext>
            </a:extLst>
          </p:cNvPr>
          <p:cNvSpPr txBox="1"/>
          <p:nvPr/>
        </p:nvSpPr>
        <p:spPr>
          <a:xfrm>
            <a:off x="6368188" y="1997529"/>
            <a:ext cx="5125915" cy="2775760"/>
          </a:xfrm>
          <a:prstGeom prst="rect">
            <a:avLst/>
          </a:prstGeom>
          <a:noFill/>
        </p:spPr>
        <p:txBody>
          <a:bodyPr wrap="square" rtlCol="0">
            <a:spAutoFit/>
          </a:bodyPr>
          <a:lstStyle/>
          <a:p>
            <a:pPr>
              <a:lnSpc>
                <a:spcPct val="150000"/>
              </a:lnSpc>
              <a:defRPr/>
            </a:pPr>
            <a:r>
              <a:rPr lang="en-US" dirty="0">
                <a:latin typeface="Avenir Next LT Pro" panose="020B0504020202020204" pitchFamily="34" charset="77"/>
              </a:rPr>
              <a:t>Focused on migrating to AWS</a:t>
            </a:r>
          </a:p>
          <a:p>
            <a:pPr>
              <a:lnSpc>
                <a:spcPct val="150000"/>
              </a:lnSpc>
              <a:defRPr/>
            </a:pPr>
            <a:endParaRPr lang="en-US" dirty="0">
              <a:latin typeface="Avenir Next LT Pro" panose="020B0504020202020204" pitchFamily="34" charset="77"/>
            </a:endParaRPr>
          </a:p>
          <a:p>
            <a:pPr>
              <a:lnSpc>
                <a:spcPct val="150000"/>
              </a:lnSpc>
              <a:defRPr/>
            </a:pPr>
            <a:r>
              <a:rPr lang="en-US" dirty="0">
                <a:latin typeface="Avenir Next LT Pro" panose="020B0504020202020204" pitchFamily="34" charset="77"/>
              </a:rPr>
              <a:t>Seeking cost comparisons</a:t>
            </a:r>
          </a:p>
          <a:p>
            <a:pPr>
              <a:lnSpc>
                <a:spcPct val="150000"/>
              </a:lnSpc>
              <a:defRPr/>
            </a:pPr>
            <a:endParaRPr lang="en-US" dirty="0">
              <a:latin typeface="Avenir Next LT Pro" panose="020B0504020202020204" pitchFamily="34" charset="77"/>
            </a:endParaRPr>
          </a:p>
          <a:p>
            <a:pPr>
              <a:lnSpc>
                <a:spcPct val="150000"/>
              </a:lnSpc>
              <a:defRPr/>
            </a:pPr>
            <a:r>
              <a:rPr lang="en-US" dirty="0">
                <a:latin typeface="Avenir Next LT Pro" panose="020B0504020202020204" pitchFamily="34" charset="77"/>
              </a:rPr>
              <a:t>Committed to MAP funded migration with Softcat’s assistance</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sp>
        <p:nvSpPr>
          <p:cNvPr id="10" name="Title 5">
            <a:extLst>
              <a:ext uri="{FF2B5EF4-FFF2-40B4-BE49-F238E27FC236}">
                <a16:creationId xmlns:a16="http://schemas.microsoft.com/office/drawing/2014/main" id="{D3806D14-655D-DEE2-212C-C2EA342039D8}"/>
              </a:ext>
            </a:extLst>
          </p:cNvPr>
          <p:cNvSpPr txBox="1">
            <a:spLocks/>
          </p:cNvSpPr>
          <p:nvPr/>
        </p:nvSpPr>
        <p:spPr>
          <a:xfrm>
            <a:off x="6368189" y="1204612"/>
            <a:ext cx="5125914" cy="80143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R="0" lvl="0" fontAlgn="auto">
              <a:spcBef>
                <a:spcPts val="1000"/>
              </a:spcBef>
              <a:spcAft>
                <a:spcPts val="0"/>
              </a:spcAft>
              <a:buClrTx/>
              <a:buSzTx/>
              <a:tabLst/>
              <a:defRPr/>
            </a:pPr>
            <a:r>
              <a:rPr lang="en-US" sz="2800" dirty="0">
                <a:solidFill>
                  <a:srgbClr val="472566"/>
                </a:solidFill>
                <a:latin typeface="Avenir Next LT Pro Demi" panose="020B0704020202020204" pitchFamily="34" charset="0"/>
                <a:ea typeface="+mn-ea"/>
                <a:cs typeface="+mn-cs"/>
              </a:rPr>
              <a:t>Current issues</a:t>
            </a:r>
          </a:p>
        </p:txBody>
      </p:sp>
      <p:cxnSp>
        <p:nvCxnSpPr>
          <p:cNvPr id="6" name="Straight Connector 5">
            <a:extLst>
              <a:ext uri="{FF2B5EF4-FFF2-40B4-BE49-F238E27FC236}">
                <a16:creationId xmlns:a16="http://schemas.microsoft.com/office/drawing/2014/main" id="{32427677-976C-0686-D7F1-342A080B38AF}"/>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AF63A5-6D6D-FCF8-08AC-1384FD4A693B}"/>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HIGH-LEVEL OVERVIEW</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9" name="Picture 4">
            <a:extLst>
              <a:ext uri="{FF2B5EF4-FFF2-40B4-BE49-F238E27FC236}">
                <a16:creationId xmlns:a16="http://schemas.microsoft.com/office/drawing/2014/main" id="{ECCC0444-6C68-B7FA-B18A-7E9ABDC44BDE}"/>
              </a:ext>
            </a:extLst>
          </p:cNvPr>
          <p:cNvPicPr>
            <a:picLocks noChangeAspect="1"/>
          </p:cNvPicPr>
          <p:nvPr>
            <p:custDataLst>
              <p:tags r:id="rId3"/>
            </p:custDataLst>
          </p:nvPr>
        </p:nvPicPr>
        <p:blipFill rotWithShape="1">
          <a:blip r:embed="rId6">
            <a:extLst>
              <a:ext uri="{28A0092B-C50C-407E-A947-70E740481C1C}">
                <a14:useLocalDpi xmlns:a14="http://schemas.microsoft.com/office/drawing/2010/main" val="0"/>
              </a:ext>
            </a:extLst>
          </a:blip>
          <a:srcRect l="-2496" t="-4622" r="-7667" b="-12332"/>
          <a:stretch>
            <a:fillRect/>
          </a:stretch>
        </p:blipFill>
        <p:spPr>
          <a:xfrm>
            <a:off x="9545951" y="5594469"/>
            <a:ext cx="2179885" cy="720000"/>
          </a:xfrm>
          <a:prstGeom prst="rect">
            <a:avLst/>
          </a:prstGeom>
        </p:spPr>
      </p:pic>
    </p:spTree>
    <p:custDataLst>
      <p:custData r:id="rId1"/>
      <p:custData r:id="rId2"/>
    </p:custDataLst>
    <p:extLst>
      <p:ext uri="{BB962C8B-B14F-4D97-AF65-F5344CB8AC3E}">
        <p14:creationId xmlns:p14="http://schemas.microsoft.com/office/powerpoint/2010/main" val="571183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021F9-C5BE-49FE-819A-8A84304713A3}"/>
              </a:ext>
            </a:extLst>
          </p:cNvPr>
          <p:cNvSpPr>
            <a:spLocks noGrp="1"/>
          </p:cNvSpPr>
          <p:nvPr>
            <p:ph type="title"/>
          </p:nvPr>
        </p:nvSpPr>
        <p:spPr>
          <a:xfrm>
            <a:off x="547180" y="655520"/>
            <a:ext cx="11086452" cy="535531"/>
          </a:xfrm>
        </p:spPr>
        <p:txBody>
          <a:bodyPr>
            <a:normAutofit/>
          </a:bodyPr>
          <a:lstStyle/>
          <a:p>
            <a:pPr>
              <a:spcBef>
                <a:spcPts val="1000"/>
              </a:spcBef>
            </a:pPr>
            <a:r>
              <a:rPr lang="en-US" sz="2800" dirty="0">
                <a:solidFill>
                  <a:srgbClr val="472566"/>
                </a:solidFill>
                <a:latin typeface="Avenir Next LT Pro Demi" panose="020B0704020202020204" pitchFamily="34" charset="0"/>
                <a:ea typeface="+mn-ea"/>
                <a:cs typeface="+mn-cs"/>
              </a:rPr>
              <a:t>High-Level Analysis Summary</a:t>
            </a:r>
          </a:p>
        </p:txBody>
      </p:sp>
      <p:sp>
        <p:nvSpPr>
          <p:cNvPr id="3" name="Text Placeholder 2">
            <a:extLst>
              <a:ext uri="{FF2B5EF4-FFF2-40B4-BE49-F238E27FC236}">
                <a16:creationId xmlns:a16="http://schemas.microsoft.com/office/drawing/2014/main" id="{AD30CF69-0EB6-45AD-9A77-52286CEE43BC}"/>
              </a:ext>
            </a:extLst>
          </p:cNvPr>
          <p:cNvSpPr>
            <a:spLocks noGrp="1"/>
          </p:cNvSpPr>
          <p:nvPr>
            <p:ph type="body" idx="1"/>
          </p:nvPr>
        </p:nvSpPr>
        <p:spPr>
          <a:xfrm>
            <a:off x="672579" y="1730251"/>
            <a:ext cx="2252042" cy="369332"/>
          </a:xfrm>
        </p:spPr>
        <p:txBody>
          <a:bodyPr/>
          <a:lstStyle/>
          <a:p>
            <a:r>
              <a:rPr lang="en-US" dirty="0">
                <a:solidFill>
                  <a:schemeClr val="tx1"/>
                </a:solidFill>
                <a:latin typeface="Avenir Next LT Pro" panose="020B0504020202020204" pitchFamily="34" charset="0"/>
              </a:rPr>
              <a:t>Scoping</a:t>
            </a:r>
          </a:p>
        </p:txBody>
      </p:sp>
      <p:sp>
        <p:nvSpPr>
          <p:cNvPr id="7" name="Content Placeholder 6">
            <a:extLst>
              <a:ext uri="{FF2B5EF4-FFF2-40B4-BE49-F238E27FC236}">
                <a16:creationId xmlns:a16="http://schemas.microsoft.com/office/drawing/2014/main" id="{046E6C27-C938-440F-B1FA-ED133810C92A}"/>
              </a:ext>
            </a:extLst>
          </p:cNvPr>
          <p:cNvSpPr>
            <a:spLocks noGrp="1"/>
          </p:cNvSpPr>
          <p:nvPr>
            <p:ph sz="half" idx="2"/>
          </p:nvPr>
        </p:nvSpPr>
        <p:spPr>
          <a:xfrm>
            <a:off x="547179" y="2128158"/>
            <a:ext cx="2632937" cy="3107004"/>
          </a:xfrm>
        </p:spPr>
        <p:txBody>
          <a:bodyPr>
            <a:normAutofit fontScale="85000" lnSpcReduction="10000"/>
          </a:bodyPr>
          <a:lstStyle/>
          <a:p>
            <a:pPr indent="-313200"/>
            <a:endParaRPr lang="en-US" b="1" dirty="0"/>
          </a:p>
          <a:p>
            <a:pPr marL="144000">
              <a:spcAft>
                <a:spcPts val="2880"/>
              </a:spcAft>
            </a:pPr>
            <a:r>
              <a:rPr lang="en-US" dirty="0">
                <a:latin typeface="Avenir Next LT Pro" panose="020B0504020202020204" pitchFamily="34" charset="0"/>
              </a:rPr>
              <a:t>Collected Data </a:t>
            </a:r>
            <a:br>
              <a:rPr lang="en-US" dirty="0">
                <a:latin typeface="Avenir Next LT Pro" panose="020B0504020202020204" pitchFamily="34" charset="0"/>
              </a:rPr>
            </a:br>
            <a:endParaRPr lang="en-US" dirty="0">
              <a:latin typeface="Avenir Next LT Pro" panose="020B0504020202020204" pitchFamily="34" charset="0"/>
            </a:endParaRPr>
          </a:p>
          <a:p>
            <a:pPr marL="144000">
              <a:spcAft>
                <a:spcPts val="2880"/>
              </a:spcAft>
            </a:pPr>
            <a:r>
              <a:rPr lang="en-US" dirty="0">
                <a:latin typeface="Avenir Next LT Pro" panose="020B0504020202020204" pitchFamily="34" charset="77"/>
              </a:rPr>
              <a:t>14</a:t>
            </a:r>
            <a:r>
              <a:rPr lang="en-US" dirty="0">
                <a:latin typeface="Avenir Next LT Pro" panose="020B0504020202020204" pitchFamily="34" charset="0"/>
              </a:rPr>
              <a:t> Days Data Collection</a:t>
            </a:r>
            <a:br>
              <a:rPr lang="en-US" dirty="0">
                <a:latin typeface="Avenir Next LT Pro" panose="020B0504020202020204" pitchFamily="34" charset="0"/>
              </a:rPr>
            </a:br>
            <a:endParaRPr lang="en-US" dirty="0">
              <a:latin typeface="Avenir Next LT Pro" panose="020B0504020202020204" pitchFamily="34" charset="0"/>
            </a:endParaRPr>
          </a:p>
          <a:p>
            <a:pPr marL="144000">
              <a:spcAft>
                <a:spcPts val="2880"/>
              </a:spcAft>
            </a:pPr>
            <a:r>
              <a:rPr lang="en-US" dirty="0">
                <a:latin typeface="Avenir Next LT Pro" panose="020B0504020202020204" pitchFamily="34" charset="0"/>
              </a:rPr>
              <a:t>Results based on scope of </a:t>
            </a:r>
            <a:r>
              <a:rPr lang="en-US" dirty="0">
                <a:latin typeface="Avenir Next LT Pro" panose="020B0504020202020204" pitchFamily="34" charset="77"/>
              </a:rPr>
              <a:t>&lt;SRV&gt;</a:t>
            </a:r>
            <a:r>
              <a:rPr lang="en-US" dirty="0">
                <a:latin typeface="Avenir Next LT Pro" panose="020B0504020202020204" pitchFamily="34" charset="0"/>
              </a:rPr>
              <a:t> servers</a:t>
            </a:r>
          </a:p>
          <a:p>
            <a:endParaRPr lang="en-US" dirty="0"/>
          </a:p>
        </p:txBody>
      </p:sp>
      <p:sp>
        <p:nvSpPr>
          <p:cNvPr id="8" name="Text Placeholder 7">
            <a:extLst>
              <a:ext uri="{FF2B5EF4-FFF2-40B4-BE49-F238E27FC236}">
                <a16:creationId xmlns:a16="http://schemas.microsoft.com/office/drawing/2014/main" id="{C7E45593-58F8-4740-B9B8-2647BE439F00}"/>
              </a:ext>
            </a:extLst>
          </p:cNvPr>
          <p:cNvSpPr>
            <a:spLocks noGrp="1"/>
          </p:cNvSpPr>
          <p:nvPr>
            <p:ph type="body" sz="quarter" idx="3"/>
          </p:nvPr>
        </p:nvSpPr>
        <p:spPr>
          <a:xfrm>
            <a:off x="3448657" y="1730251"/>
            <a:ext cx="2341084" cy="369332"/>
          </a:xfrm>
        </p:spPr>
        <p:txBody>
          <a:bodyPr>
            <a:normAutofit/>
          </a:bodyPr>
          <a:lstStyle/>
          <a:p>
            <a:r>
              <a:rPr lang="en-US" dirty="0">
                <a:solidFill>
                  <a:schemeClr val="tx1"/>
                </a:solidFill>
                <a:latin typeface="Avenir Next LT Pro" panose="020B0504020202020204" pitchFamily="34" charset="0"/>
              </a:rPr>
              <a:t>Insights</a:t>
            </a:r>
          </a:p>
        </p:txBody>
      </p:sp>
      <p:sp>
        <p:nvSpPr>
          <p:cNvPr id="9" name="Content Placeholder 8">
            <a:extLst>
              <a:ext uri="{FF2B5EF4-FFF2-40B4-BE49-F238E27FC236}">
                <a16:creationId xmlns:a16="http://schemas.microsoft.com/office/drawing/2014/main" id="{285BD583-4729-461D-9959-C86B3B4D46BC}"/>
              </a:ext>
            </a:extLst>
          </p:cNvPr>
          <p:cNvSpPr>
            <a:spLocks noGrp="1"/>
          </p:cNvSpPr>
          <p:nvPr>
            <p:ph sz="quarter" idx="4"/>
          </p:nvPr>
        </p:nvSpPr>
        <p:spPr>
          <a:xfrm>
            <a:off x="3412301" y="2128158"/>
            <a:ext cx="2377440" cy="3356303"/>
          </a:xfrm>
          <a:ln>
            <a:noFill/>
          </a:ln>
        </p:spPr>
        <p:txBody>
          <a:bodyPr>
            <a:normAutofit fontScale="85000" lnSpcReduction="10000"/>
          </a:bodyPr>
          <a:lstStyle/>
          <a:p>
            <a:pPr indent="-313200"/>
            <a:endParaRPr lang="en-US" b="1" dirty="0">
              <a:solidFill>
                <a:srgbClr val="002060"/>
              </a:solidFill>
            </a:endParaRPr>
          </a:p>
          <a:p>
            <a:pPr marL="144000">
              <a:spcAft>
                <a:spcPts val="2880"/>
              </a:spcAft>
            </a:pPr>
            <a:r>
              <a:rPr lang="en-US" dirty="0">
                <a:latin typeface="Avenir Next LT Pro" panose="020B0504020202020204" pitchFamily="34" charset="77"/>
              </a:rPr>
              <a:t>1 zombie</a:t>
            </a:r>
            <a:br>
              <a:rPr lang="en-US" dirty="0">
                <a:latin typeface="Avenir Next LT Pro" panose="020B0504020202020204" pitchFamily="34" charset="77"/>
              </a:rPr>
            </a:br>
            <a:endParaRPr lang="en-US" dirty="0">
              <a:latin typeface="Avenir Next LT Pro" panose="020B0504020202020204" pitchFamily="34" charset="77"/>
            </a:endParaRPr>
          </a:p>
          <a:p>
            <a:pPr marL="144000">
              <a:spcAft>
                <a:spcPts val="2880"/>
              </a:spcAft>
            </a:pPr>
            <a:r>
              <a:rPr lang="en-US" dirty="0">
                <a:latin typeface="Avenir Next LT Pro" panose="020B0504020202020204" pitchFamily="34" charset="77"/>
              </a:rPr>
              <a:t>0 removed from scope</a:t>
            </a:r>
            <a:br>
              <a:rPr lang="en-US" dirty="0">
                <a:latin typeface="Avenir Next LT Pro" panose="020B0504020202020204" pitchFamily="34" charset="77"/>
              </a:rPr>
            </a:br>
            <a:endParaRPr lang="en-US" dirty="0">
              <a:latin typeface="Avenir Next LT Pro" panose="020B0504020202020204" pitchFamily="34" charset="77"/>
            </a:endParaRPr>
          </a:p>
          <a:p>
            <a:pPr marL="144000">
              <a:spcAft>
                <a:spcPts val="2880"/>
              </a:spcAft>
            </a:pPr>
            <a:r>
              <a:rPr lang="en-US" dirty="0">
                <a:latin typeface="Avenir Next LT Pro" panose="020B0504020202020204" pitchFamily="34" charset="77"/>
              </a:rPr>
              <a:t>90% of servers right-sized</a:t>
            </a:r>
          </a:p>
        </p:txBody>
      </p:sp>
      <p:sp>
        <p:nvSpPr>
          <p:cNvPr id="10" name="Text Placeholder 9">
            <a:extLst>
              <a:ext uri="{FF2B5EF4-FFF2-40B4-BE49-F238E27FC236}">
                <a16:creationId xmlns:a16="http://schemas.microsoft.com/office/drawing/2014/main" id="{97E7585C-2995-4C72-97FA-DE56D61962AE}"/>
              </a:ext>
            </a:extLst>
          </p:cNvPr>
          <p:cNvSpPr>
            <a:spLocks noGrp="1"/>
          </p:cNvSpPr>
          <p:nvPr>
            <p:ph type="body" sz="quarter" idx="10"/>
          </p:nvPr>
        </p:nvSpPr>
        <p:spPr>
          <a:xfrm>
            <a:off x="6381715" y="1730251"/>
            <a:ext cx="2273146" cy="369332"/>
          </a:xfrm>
        </p:spPr>
        <p:txBody>
          <a:bodyPr>
            <a:normAutofit/>
          </a:bodyPr>
          <a:lstStyle/>
          <a:p>
            <a:r>
              <a:rPr lang="en-US" dirty="0">
                <a:solidFill>
                  <a:schemeClr val="tx1"/>
                </a:solidFill>
                <a:latin typeface="Avenir Next LT Pro" panose="020B0504020202020204" pitchFamily="34" charset="0"/>
              </a:rPr>
              <a:t>Results</a:t>
            </a:r>
          </a:p>
        </p:txBody>
      </p:sp>
      <p:sp>
        <p:nvSpPr>
          <p:cNvPr id="11" name="Content Placeholder 10">
            <a:extLst>
              <a:ext uri="{FF2B5EF4-FFF2-40B4-BE49-F238E27FC236}">
                <a16:creationId xmlns:a16="http://schemas.microsoft.com/office/drawing/2014/main" id="{D39079AB-8B88-4A84-9DF2-914F09F0A5C2}"/>
              </a:ext>
            </a:extLst>
          </p:cNvPr>
          <p:cNvSpPr>
            <a:spLocks noGrp="1"/>
          </p:cNvSpPr>
          <p:nvPr>
            <p:ph sz="quarter" idx="11"/>
          </p:nvPr>
        </p:nvSpPr>
        <p:spPr>
          <a:xfrm>
            <a:off x="6277422" y="2128159"/>
            <a:ext cx="2485646" cy="3549075"/>
          </a:xfrm>
        </p:spPr>
        <p:txBody>
          <a:bodyPr>
            <a:normAutofit/>
          </a:bodyPr>
          <a:lstStyle/>
          <a:p>
            <a:pPr indent="-313200"/>
            <a:endParaRPr lang="en-US" b="1" dirty="0"/>
          </a:p>
          <a:p>
            <a:pPr marL="144000">
              <a:spcAft>
                <a:spcPts val="2880"/>
              </a:spcAft>
            </a:pPr>
            <a:r>
              <a:rPr lang="en-US" sz="1700" dirty="0">
                <a:latin typeface="Avenir Next LT Pro" panose="020B0504020202020204" pitchFamily="34" charset="0"/>
              </a:rPr>
              <a:t>Right-Sized &amp; Optimized models</a:t>
            </a:r>
            <a:br>
              <a:rPr lang="en-US" sz="1700" dirty="0">
                <a:latin typeface="Avenir Next LT Pro" panose="020B0504020202020204" pitchFamily="34" charset="0"/>
              </a:rPr>
            </a:br>
            <a:endParaRPr lang="en-US" sz="1700" dirty="0">
              <a:latin typeface="Avenir Next LT Pro" panose="020B0504020202020204" pitchFamily="34" charset="0"/>
            </a:endParaRPr>
          </a:p>
          <a:p>
            <a:pPr marL="144000">
              <a:spcAft>
                <a:spcPts val="2880"/>
              </a:spcAft>
            </a:pPr>
            <a:r>
              <a:rPr lang="en-US" sz="1600" dirty="0">
                <a:latin typeface="Avenir Next LT Pro" panose="020B0504020202020204" pitchFamily="34" charset="77"/>
              </a:rPr>
              <a:t>Up to &lt;b3at%&gt; </a:t>
            </a:r>
            <a:r>
              <a:rPr lang="en-US" sz="1700" dirty="0">
                <a:latin typeface="Avenir Next LT Pro" panose="020B0504020202020204" pitchFamily="34" charset="0"/>
              </a:rPr>
              <a:t>Savings</a:t>
            </a:r>
            <a:br>
              <a:rPr lang="en-US" sz="1700" dirty="0">
                <a:latin typeface="Avenir Next LT Pro" panose="020B0504020202020204" pitchFamily="34" charset="0"/>
              </a:rPr>
            </a:br>
            <a:endParaRPr lang="en-US" sz="1700" dirty="0">
              <a:latin typeface="Avenir Next LT Pro" panose="020B0504020202020204" pitchFamily="34" charset="0"/>
            </a:endParaRPr>
          </a:p>
          <a:p>
            <a:pPr marL="144000">
              <a:spcAft>
                <a:spcPts val="2880"/>
              </a:spcAft>
            </a:pPr>
            <a:r>
              <a:rPr lang="en-US" sz="1700" dirty="0">
                <a:latin typeface="Avenir Next LT Pro" panose="020B0504020202020204" pitchFamily="34" charset="0"/>
              </a:rPr>
              <a:t>From $</a:t>
            </a:r>
            <a:r>
              <a:rPr lang="en-US" sz="1600" dirty="0">
                <a:latin typeface="Avenir Next LT Pro" panose="020B0504020202020204" pitchFamily="34" charset="77"/>
              </a:rPr>
              <a:t>&lt;b3at&gt;</a:t>
            </a:r>
            <a:r>
              <a:rPr lang="en-US" sz="1700" dirty="0">
                <a:latin typeface="Avenir Next LT Pro" panose="020B0504020202020204" pitchFamily="34" charset="0"/>
              </a:rPr>
              <a:t> </a:t>
            </a:r>
            <a:r>
              <a:rPr lang="en-US" sz="1700" dirty="0" err="1">
                <a:latin typeface="Avenir Next LT Pro" panose="020B0504020202020204" pitchFamily="34" charset="0"/>
              </a:rPr>
              <a:t>annualised</a:t>
            </a:r>
            <a:r>
              <a:rPr lang="en-US" sz="1700" dirty="0">
                <a:latin typeface="Avenir Next LT Pro" panose="020B0504020202020204" pitchFamily="34" charset="0"/>
              </a:rPr>
              <a:t> spend on AWS</a:t>
            </a:r>
          </a:p>
        </p:txBody>
      </p:sp>
      <p:sp>
        <p:nvSpPr>
          <p:cNvPr id="12" name="Text Placeholder 11">
            <a:extLst>
              <a:ext uri="{FF2B5EF4-FFF2-40B4-BE49-F238E27FC236}">
                <a16:creationId xmlns:a16="http://schemas.microsoft.com/office/drawing/2014/main" id="{96617B9A-E385-4786-A4DD-D90CC85AB590}"/>
              </a:ext>
            </a:extLst>
          </p:cNvPr>
          <p:cNvSpPr>
            <a:spLocks noGrp="1"/>
          </p:cNvSpPr>
          <p:nvPr>
            <p:ph type="body" sz="quarter" idx="12"/>
          </p:nvPr>
        </p:nvSpPr>
        <p:spPr>
          <a:xfrm>
            <a:off x="9206898" y="1730251"/>
            <a:ext cx="2313084" cy="369332"/>
          </a:xfrm>
        </p:spPr>
        <p:txBody>
          <a:bodyPr/>
          <a:lstStyle/>
          <a:p>
            <a:r>
              <a:rPr lang="en-US" dirty="0">
                <a:solidFill>
                  <a:schemeClr val="tx1"/>
                </a:solidFill>
                <a:latin typeface="Avenir Next LT Pro" panose="020B0504020202020204" pitchFamily="34" charset="0"/>
              </a:rPr>
              <a:t>Next</a:t>
            </a:r>
            <a:r>
              <a:rPr lang="en-US" dirty="0">
                <a:solidFill>
                  <a:schemeClr val="tx1"/>
                </a:solidFill>
              </a:rPr>
              <a:t> Steps</a:t>
            </a:r>
          </a:p>
        </p:txBody>
      </p:sp>
      <p:sp>
        <p:nvSpPr>
          <p:cNvPr id="13" name="Content Placeholder 12">
            <a:extLst>
              <a:ext uri="{FF2B5EF4-FFF2-40B4-BE49-F238E27FC236}">
                <a16:creationId xmlns:a16="http://schemas.microsoft.com/office/drawing/2014/main" id="{CB7D6C45-EB0E-41FD-9E1B-0C098186DC84}"/>
              </a:ext>
            </a:extLst>
          </p:cNvPr>
          <p:cNvSpPr>
            <a:spLocks noGrp="1"/>
          </p:cNvSpPr>
          <p:nvPr>
            <p:ph sz="quarter" idx="13"/>
          </p:nvPr>
        </p:nvSpPr>
        <p:spPr>
          <a:xfrm>
            <a:off x="9142542" y="2128159"/>
            <a:ext cx="2632936" cy="2895534"/>
          </a:xfrm>
        </p:spPr>
        <p:txBody>
          <a:bodyPr>
            <a:normAutofit fontScale="92500" lnSpcReduction="20000"/>
          </a:bodyPr>
          <a:lstStyle/>
          <a:p>
            <a:pPr indent="-313200"/>
            <a:endParaRPr lang="en-US" b="1" dirty="0">
              <a:latin typeface="Amazon Ember Regular" charset="0"/>
              <a:cs typeface="Amazon Ember Regular" charset="0"/>
            </a:endParaRPr>
          </a:p>
          <a:p>
            <a:pPr marL="144000">
              <a:lnSpc>
                <a:spcPct val="100000"/>
              </a:lnSpc>
              <a:spcAft>
                <a:spcPts val="2880"/>
              </a:spcAft>
            </a:pPr>
            <a:r>
              <a:rPr lang="en-US" sz="1700" dirty="0">
                <a:latin typeface="Avenir Next LT Pro" panose="020B0504020202020204" pitchFamily="34" charset="0"/>
              </a:rPr>
              <a:t>Migration Planning</a:t>
            </a:r>
            <a:br>
              <a:rPr lang="en-US" sz="1700" dirty="0">
                <a:latin typeface="Avenir Next LT Pro" panose="020B0504020202020204" pitchFamily="34" charset="0"/>
              </a:rPr>
            </a:br>
            <a:endParaRPr lang="en-US" sz="1700" dirty="0">
              <a:latin typeface="Avenir Next LT Pro" panose="020B0504020202020204" pitchFamily="34" charset="0"/>
            </a:endParaRPr>
          </a:p>
          <a:p>
            <a:pPr marL="144000">
              <a:lnSpc>
                <a:spcPct val="100000"/>
              </a:lnSpc>
              <a:spcAft>
                <a:spcPts val="2880"/>
              </a:spcAft>
            </a:pPr>
            <a:r>
              <a:rPr lang="en-US" sz="1700" dirty="0">
                <a:latin typeface="Avenir Next LT Pro" panose="020B0504020202020204" pitchFamily="34" charset="0"/>
              </a:rPr>
              <a:t>Landing Zone deployment</a:t>
            </a:r>
            <a:br>
              <a:rPr lang="en-US" sz="1700" dirty="0">
                <a:latin typeface="Avenir Next LT Pro" panose="020B0504020202020204" pitchFamily="34" charset="0"/>
              </a:rPr>
            </a:br>
            <a:endParaRPr lang="en-US" sz="1700" dirty="0">
              <a:latin typeface="Avenir Next LT Pro" panose="020B0504020202020204" pitchFamily="34" charset="0"/>
            </a:endParaRPr>
          </a:p>
          <a:p>
            <a:pPr marL="144000">
              <a:lnSpc>
                <a:spcPct val="100000"/>
              </a:lnSpc>
              <a:spcAft>
                <a:spcPts val="2880"/>
              </a:spcAft>
            </a:pPr>
            <a:r>
              <a:rPr lang="en-US" sz="1700" dirty="0">
                <a:latin typeface="Avenir Next LT Pro" panose="020B0504020202020204" pitchFamily="34" charset="0"/>
              </a:rPr>
              <a:t>Server replication and pilot migration</a:t>
            </a:r>
          </a:p>
        </p:txBody>
      </p:sp>
      <p:sp>
        <p:nvSpPr>
          <p:cNvPr id="65" name="Freeform: Shape 52">
            <a:extLst>
              <a:ext uri="{FF2B5EF4-FFF2-40B4-BE49-F238E27FC236}">
                <a16:creationId xmlns:a16="http://schemas.microsoft.com/office/drawing/2014/main" id="{DF7C974E-0E7F-DE4C-96B5-381F4E331E56}"/>
              </a:ext>
            </a:extLst>
          </p:cNvPr>
          <p:cNvSpPr/>
          <p:nvPr/>
        </p:nvSpPr>
        <p:spPr>
          <a:xfrm flipV="1">
            <a:off x="672579" y="2082439"/>
            <a:ext cx="2184104" cy="45719"/>
          </a:xfrm>
          <a:custGeom>
            <a:avLst/>
            <a:gdLst>
              <a:gd name="connsiteX0" fmla="*/ 0 w 1119352"/>
              <a:gd name="connsiteY0" fmla="*/ 0 h 0"/>
              <a:gd name="connsiteX1" fmla="*/ 1119352 w 1119352"/>
              <a:gd name="connsiteY1" fmla="*/ 0 h 0"/>
            </a:gdLst>
            <a:ahLst/>
            <a:cxnLst>
              <a:cxn ang="0">
                <a:pos x="connsiteX0" y="connsiteY0"/>
              </a:cxn>
              <a:cxn ang="0">
                <a:pos x="connsiteX1" y="connsiteY1"/>
              </a:cxn>
            </a:cxnLst>
            <a:rect l="l" t="t" r="r" b="b"/>
            <a:pathLst>
              <a:path w="1119352">
                <a:moveTo>
                  <a:pt x="0" y="0"/>
                </a:moveTo>
                <a:lnTo>
                  <a:pt x="1119352" y="0"/>
                </a:lnTo>
              </a:path>
            </a:pathLst>
          </a:custGeom>
          <a:noFill/>
          <a:ln w="15875">
            <a:solidFill>
              <a:srgbClr val="905D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840" dirty="0"/>
          </a:p>
        </p:txBody>
      </p:sp>
      <p:sp>
        <p:nvSpPr>
          <p:cNvPr id="66" name="Freeform: Shape 53">
            <a:extLst>
              <a:ext uri="{FF2B5EF4-FFF2-40B4-BE49-F238E27FC236}">
                <a16:creationId xmlns:a16="http://schemas.microsoft.com/office/drawing/2014/main" id="{91FBEB4C-C696-A942-8168-D9AD136152C9}"/>
              </a:ext>
            </a:extLst>
          </p:cNvPr>
          <p:cNvSpPr/>
          <p:nvPr/>
        </p:nvSpPr>
        <p:spPr>
          <a:xfrm flipV="1">
            <a:off x="3448657" y="2105298"/>
            <a:ext cx="2184104" cy="45719"/>
          </a:xfrm>
          <a:custGeom>
            <a:avLst/>
            <a:gdLst>
              <a:gd name="connsiteX0" fmla="*/ 0 w 1119352"/>
              <a:gd name="connsiteY0" fmla="*/ 0 h 0"/>
              <a:gd name="connsiteX1" fmla="*/ 1119352 w 1119352"/>
              <a:gd name="connsiteY1" fmla="*/ 0 h 0"/>
            </a:gdLst>
            <a:ahLst/>
            <a:cxnLst>
              <a:cxn ang="0">
                <a:pos x="connsiteX0" y="connsiteY0"/>
              </a:cxn>
              <a:cxn ang="0">
                <a:pos x="connsiteX1" y="connsiteY1"/>
              </a:cxn>
            </a:cxnLst>
            <a:rect l="l" t="t" r="r" b="b"/>
            <a:pathLst>
              <a:path w="1119352">
                <a:moveTo>
                  <a:pt x="0" y="0"/>
                </a:moveTo>
                <a:lnTo>
                  <a:pt x="1119352" y="0"/>
                </a:lnTo>
              </a:path>
            </a:pathLst>
          </a:custGeom>
          <a:noFill/>
          <a:ln w="15875">
            <a:solidFill>
              <a:srgbClr val="905D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840"/>
          </a:p>
        </p:txBody>
      </p:sp>
      <p:sp>
        <p:nvSpPr>
          <p:cNvPr id="67" name="Freeform: Shape 54">
            <a:extLst>
              <a:ext uri="{FF2B5EF4-FFF2-40B4-BE49-F238E27FC236}">
                <a16:creationId xmlns:a16="http://schemas.microsoft.com/office/drawing/2014/main" id="{01FBA17A-8D5F-AA46-9D9D-399631A1BF22}"/>
              </a:ext>
            </a:extLst>
          </p:cNvPr>
          <p:cNvSpPr/>
          <p:nvPr/>
        </p:nvSpPr>
        <p:spPr>
          <a:xfrm flipV="1">
            <a:off x="6348703" y="2082439"/>
            <a:ext cx="2184104" cy="45719"/>
          </a:xfrm>
          <a:custGeom>
            <a:avLst/>
            <a:gdLst>
              <a:gd name="connsiteX0" fmla="*/ 0 w 1119352"/>
              <a:gd name="connsiteY0" fmla="*/ 0 h 0"/>
              <a:gd name="connsiteX1" fmla="*/ 1119352 w 1119352"/>
              <a:gd name="connsiteY1" fmla="*/ 0 h 0"/>
            </a:gdLst>
            <a:ahLst/>
            <a:cxnLst>
              <a:cxn ang="0">
                <a:pos x="connsiteX0" y="connsiteY0"/>
              </a:cxn>
              <a:cxn ang="0">
                <a:pos x="connsiteX1" y="connsiteY1"/>
              </a:cxn>
            </a:cxnLst>
            <a:rect l="l" t="t" r="r" b="b"/>
            <a:pathLst>
              <a:path w="1119352">
                <a:moveTo>
                  <a:pt x="0" y="0"/>
                </a:moveTo>
                <a:lnTo>
                  <a:pt x="1119352" y="0"/>
                </a:lnTo>
              </a:path>
            </a:pathLst>
          </a:custGeom>
          <a:noFill/>
          <a:ln w="15875">
            <a:solidFill>
              <a:srgbClr val="905D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840"/>
          </a:p>
        </p:txBody>
      </p:sp>
      <p:sp>
        <p:nvSpPr>
          <p:cNvPr id="68" name="Freeform: Shape 55">
            <a:extLst>
              <a:ext uri="{FF2B5EF4-FFF2-40B4-BE49-F238E27FC236}">
                <a16:creationId xmlns:a16="http://schemas.microsoft.com/office/drawing/2014/main" id="{93151687-E0DA-E64B-9F24-274878B06DCF}"/>
              </a:ext>
            </a:extLst>
          </p:cNvPr>
          <p:cNvSpPr/>
          <p:nvPr/>
        </p:nvSpPr>
        <p:spPr>
          <a:xfrm>
            <a:off x="9211900" y="2109249"/>
            <a:ext cx="2184104" cy="45719"/>
          </a:xfrm>
          <a:custGeom>
            <a:avLst/>
            <a:gdLst>
              <a:gd name="connsiteX0" fmla="*/ 0 w 1119352"/>
              <a:gd name="connsiteY0" fmla="*/ 0 h 0"/>
              <a:gd name="connsiteX1" fmla="*/ 1119352 w 1119352"/>
              <a:gd name="connsiteY1" fmla="*/ 0 h 0"/>
            </a:gdLst>
            <a:ahLst/>
            <a:cxnLst>
              <a:cxn ang="0">
                <a:pos x="connsiteX0" y="connsiteY0"/>
              </a:cxn>
              <a:cxn ang="0">
                <a:pos x="connsiteX1" y="connsiteY1"/>
              </a:cxn>
            </a:cxnLst>
            <a:rect l="l" t="t" r="r" b="b"/>
            <a:pathLst>
              <a:path w="1119352">
                <a:moveTo>
                  <a:pt x="0" y="0"/>
                </a:moveTo>
                <a:lnTo>
                  <a:pt x="1119352" y="0"/>
                </a:lnTo>
              </a:path>
            </a:pathLst>
          </a:custGeom>
          <a:noFill/>
          <a:ln w="15875">
            <a:solidFill>
              <a:srgbClr val="905D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840"/>
          </a:p>
        </p:txBody>
      </p:sp>
      <p:cxnSp>
        <p:nvCxnSpPr>
          <p:cNvPr id="15" name="Straight Connector 14">
            <a:extLst>
              <a:ext uri="{FF2B5EF4-FFF2-40B4-BE49-F238E27FC236}">
                <a16:creationId xmlns:a16="http://schemas.microsoft.com/office/drawing/2014/main" id="{C3EFF8D8-A8B7-A0EE-9F3F-77826748B72D}"/>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79D6EDC-E2F5-49CC-071E-15906C569438}"/>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ANALYSIS SUMMARY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4" name="Picture 4">
            <a:extLst>
              <a:ext uri="{FF2B5EF4-FFF2-40B4-BE49-F238E27FC236}">
                <a16:creationId xmlns:a16="http://schemas.microsoft.com/office/drawing/2014/main" id="{2A6AFFA8-8EDA-3D75-5DF0-7734EA7043AE}"/>
              </a:ext>
            </a:extLst>
          </p:cNvPr>
          <p:cNvPicPr>
            <a:picLocks noChangeAspect="1"/>
          </p:cNvPicPr>
          <p:nvPr>
            <p:custDataLst>
              <p:tags r:id="rId1"/>
            </p:custDataLst>
          </p:nvPr>
        </p:nvPicPr>
        <p:blipFill rotWithShape="1">
          <a:blip r:embed="rId4">
            <a:extLst>
              <a:ext uri="{28A0092B-C50C-407E-A947-70E740481C1C}">
                <a14:useLocalDpi xmlns:a14="http://schemas.microsoft.com/office/drawing/2010/main" val="0"/>
              </a:ext>
            </a:extLst>
          </a:blip>
          <a:srcRect l="-2496" t="-4622" r="-7667" b="-12332"/>
          <a:stretch>
            <a:fillRect/>
          </a:stretch>
        </p:blipFill>
        <p:spPr>
          <a:xfrm>
            <a:off x="9545951" y="5594469"/>
            <a:ext cx="2179885" cy="720000"/>
          </a:xfrm>
          <a:prstGeom prst="rect">
            <a:avLst/>
          </a:prstGeom>
        </p:spPr>
      </p:pic>
    </p:spTree>
    <p:extLst>
      <p:ext uri="{BB962C8B-B14F-4D97-AF65-F5344CB8AC3E}">
        <p14:creationId xmlns:p14="http://schemas.microsoft.com/office/powerpoint/2010/main" val="2230962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4FA14-45B5-EB0D-CB6F-F5AB775610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9301B-CDA5-EEE7-125F-506922796DE7}"/>
              </a:ext>
            </a:extLst>
          </p:cNvPr>
          <p:cNvSpPr>
            <a:spLocks noGrp="1"/>
          </p:cNvSpPr>
          <p:nvPr>
            <p:ph type="body" sz="quarter" idx="10"/>
          </p:nvPr>
        </p:nvSpPr>
        <p:spPr/>
        <p:txBody>
          <a:bodyPr/>
          <a:lstStyle/>
          <a:p>
            <a:r>
              <a:rPr lang="en-GB" dirty="0"/>
              <a:t>Financial Summary</a:t>
            </a:r>
          </a:p>
        </p:txBody>
      </p:sp>
    </p:spTree>
    <p:custDataLst>
      <p:custData r:id="rId1"/>
      <p:custData r:id="rId2"/>
    </p:custDataLst>
    <p:extLst>
      <p:ext uri="{BB962C8B-B14F-4D97-AF65-F5344CB8AC3E}">
        <p14:creationId xmlns:p14="http://schemas.microsoft.com/office/powerpoint/2010/main" val="1868997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658C11-BEB8-4E2B-D470-D5BAD131C2DE}"/>
              </a:ext>
            </a:extLst>
          </p:cNvPr>
          <p:cNvSpPr/>
          <p:nvPr/>
        </p:nvSpPr>
        <p:spPr>
          <a:xfrm>
            <a:off x="5080091" y="0"/>
            <a:ext cx="7111909" cy="6265626"/>
          </a:xfrm>
          <a:prstGeom prst="rect">
            <a:avLst/>
          </a:prstGeom>
          <a:noFill/>
          <a:ln>
            <a:solidFill>
              <a:srgbClr val="3B1A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3C3B5F7-FE6B-6AF0-7B45-BEEA13EF25B7}"/>
              </a:ext>
            </a:extLst>
          </p:cNvPr>
          <p:cNvGrpSpPr/>
          <p:nvPr/>
        </p:nvGrpSpPr>
        <p:grpSpPr>
          <a:xfrm>
            <a:off x="783487" y="1423565"/>
            <a:ext cx="3589958" cy="4010870"/>
            <a:chOff x="999067" y="1476925"/>
            <a:chExt cx="3589958" cy="4010870"/>
          </a:xfrm>
        </p:grpSpPr>
        <p:sp>
          <p:nvSpPr>
            <p:cNvPr id="4" name="TextBox 3">
              <a:extLst>
                <a:ext uri="{FF2B5EF4-FFF2-40B4-BE49-F238E27FC236}">
                  <a16:creationId xmlns:a16="http://schemas.microsoft.com/office/drawing/2014/main" id="{E5DB04B1-7779-D098-EDED-77E11491C1A2}"/>
                </a:ext>
              </a:extLst>
            </p:cNvPr>
            <p:cNvSpPr txBox="1"/>
            <p:nvPr/>
          </p:nvSpPr>
          <p:spPr>
            <a:xfrm>
              <a:off x="1150569" y="1749884"/>
              <a:ext cx="2201949" cy="2000548"/>
            </a:xfrm>
            <a:prstGeom prst="rect">
              <a:avLst/>
            </a:prstGeom>
            <a:noFill/>
          </p:spPr>
          <p:txBody>
            <a:bodyPr wrap="none" rtlCol="0">
              <a:spAutoFit/>
            </a:bodyPr>
            <a:lstStyle/>
            <a:p>
              <a:r>
                <a:rPr lang="en-US" sz="2800" dirty="0" err="1">
                  <a:solidFill>
                    <a:srgbClr val="472566"/>
                  </a:solidFill>
                  <a:latin typeface="Avenir Next LT Pro Demi" panose="020B0704020202020204" pitchFamily="34" charset="0"/>
                </a:rPr>
                <a:t>Annualised</a:t>
              </a:r>
              <a:r>
                <a:rPr lang="en-US" sz="2800" dirty="0">
                  <a:solidFill>
                    <a:srgbClr val="472566"/>
                  </a:solidFill>
                  <a:latin typeface="Avenir Next LT Pro Demi" panose="020B0704020202020204" pitchFamily="34" charset="0"/>
                </a:rPr>
                <a:t> </a:t>
              </a:r>
            </a:p>
            <a:p>
              <a:r>
                <a:rPr lang="en-US" sz="2800" dirty="0">
                  <a:solidFill>
                    <a:srgbClr val="472566"/>
                  </a:solidFill>
                  <a:latin typeface="Avenir Next LT Pro Demi" panose="020B0704020202020204" pitchFamily="34" charset="0"/>
                </a:rPr>
                <a:t>Pricing</a:t>
              </a:r>
            </a:p>
            <a:p>
              <a:r>
                <a:rPr lang="en-US" sz="2800" dirty="0">
                  <a:solidFill>
                    <a:srgbClr val="472566"/>
                  </a:solidFill>
                  <a:latin typeface="Avenir Next LT Pro Demi" panose="020B0704020202020204" pitchFamily="34" charset="0"/>
                </a:rPr>
                <a:t>Comparison</a:t>
              </a:r>
            </a:p>
            <a:p>
              <a:endParaRPr lang="en-US" sz="4000" b="1" dirty="0">
                <a:solidFill>
                  <a:srgbClr val="1B0056"/>
                </a:solidFill>
                <a:latin typeface="Avenir Next LT Pro" panose="020B0504020202020204" pitchFamily="34" charset="77"/>
              </a:endParaRPr>
            </a:p>
          </p:txBody>
        </p:sp>
        <p:sp>
          <p:nvSpPr>
            <p:cNvPr id="5" name="TextBox 4">
              <a:extLst>
                <a:ext uri="{FF2B5EF4-FFF2-40B4-BE49-F238E27FC236}">
                  <a16:creationId xmlns:a16="http://schemas.microsoft.com/office/drawing/2014/main" id="{3B257F05-E455-A54C-EAF2-92EFED1895BC}"/>
                </a:ext>
              </a:extLst>
            </p:cNvPr>
            <p:cNvSpPr txBox="1"/>
            <p:nvPr/>
          </p:nvSpPr>
          <p:spPr>
            <a:xfrm>
              <a:off x="1154559" y="4015846"/>
              <a:ext cx="3434466" cy="954107"/>
            </a:xfrm>
            <a:prstGeom prst="rect">
              <a:avLst/>
            </a:prstGeom>
            <a:noFill/>
          </p:spPr>
          <p:txBody>
            <a:bodyPr wrap="square" rtlCol="0">
              <a:spAutoFit/>
            </a:bodyPr>
            <a:lstStyle/>
            <a:p>
              <a:r>
                <a:rPr lang="en-US" sz="1400" dirty="0">
                  <a:latin typeface="Avenir Next LT Pro" panose="020B0504020202020204" pitchFamily="34" charset="77"/>
                </a:rPr>
                <a:t>This chart aims to demonstrate cost comparisons between AWS options and on-premise, when viewed as an annual cost.</a:t>
              </a:r>
            </a:p>
          </p:txBody>
        </p:sp>
        <p:cxnSp>
          <p:nvCxnSpPr>
            <p:cNvPr id="10" name="Straight Connector 9">
              <a:extLst>
                <a:ext uri="{FF2B5EF4-FFF2-40B4-BE49-F238E27FC236}">
                  <a16:creationId xmlns:a16="http://schemas.microsoft.com/office/drawing/2014/main" id="{9112E953-A59C-9784-5411-23AF4C370423}"/>
                </a:ext>
              </a:extLst>
            </p:cNvPr>
            <p:cNvCxnSpPr/>
            <p:nvPr/>
          </p:nvCxnSpPr>
          <p:spPr>
            <a:xfrm>
              <a:off x="999067" y="1476925"/>
              <a:ext cx="0" cy="4010870"/>
            </a:xfrm>
            <a:prstGeom prst="line">
              <a:avLst/>
            </a:prstGeom>
            <a:ln w="28575">
              <a:solidFill>
                <a:srgbClr val="3B1A3D"/>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C7136B89-7F0C-CC4A-D259-67E75F5828FB}"/>
              </a:ext>
            </a:extLst>
          </p:cNvPr>
          <p:cNvCxnSpPr/>
          <p:nvPr/>
        </p:nvCxnSpPr>
        <p:spPr>
          <a:xfrm>
            <a:off x="472611" y="6327169"/>
            <a:ext cx="11253225" cy="0"/>
          </a:xfrm>
          <a:prstGeom prst="line">
            <a:avLst/>
          </a:prstGeom>
          <a:ln w="12700">
            <a:solidFill>
              <a:srgbClr val="AAAAB4"/>
            </a:solidFill>
          </a:ln>
        </p:spPr>
        <p:style>
          <a:lnRef idx="1">
            <a:schemeClr val="accent1"/>
          </a:lnRef>
          <a:fillRef idx="0">
            <a:schemeClr val="accent1"/>
          </a:fillRef>
          <a:effectRef idx="0">
            <a:schemeClr val="accent1"/>
          </a:effectRef>
          <a:fontRef idx="minor">
            <a:schemeClr val="tx1"/>
          </a:fontRef>
        </p:style>
      </p:cxnSp>
      <p:sp>
        <p:nvSpPr>
          <p:cNvPr id="14" name="Slide Number Placeholder 3">
            <a:extLst>
              <a:ext uri="{FF2B5EF4-FFF2-40B4-BE49-F238E27FC236}">
                <a16:creationId xmlns:a16="http://schemas.microsoft.com/office/drawing/2014/main" id="{1D7379DC-1786-2071-0FC1-20D150AE08CB}"/>
              </a:ext>
            </a:extLst>
          </p:cNvPr>
          <p:cNvSpPr txBox="1">
            <a:spLocks/>
          </p:cNvSpPr>
          <p:nvPr/>
        </p:nvSpPr>
        <p:spPr>
          <a:xfrm>
            <a:off x="9071988" y="6456052"/>
            <a:ext cx="2743200" cy="365125"/>
          </a:xfrm>
          <a:prstGeom prst="rect">
            <a:avLst/>
          </a:prstGeom>
        </p:spPr>
        <p:txBody>
          <a:bodyPr/>
          <a:lstStyle>
            <a:defPPr>
              <a:defRPr lang="en-US"/>
            </a:defPPr>
            <a:lvl1pPr marL="0" algn="l" defTabSz="914400" rtl="0" eaLnBrk="1" latinLnBrk="0" hangingPunct="1">
              <a:defRPr sz="900" b="0" i="0" kern="1200">
                <a:solidFill>
                  <a:srgbClr val="915DA3"/>
                </a:solidFill>
                <a:latin typeface="Avenir Next LT Pro Light" panose="020B0304020202020204"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F411FF9-8BD6-D64A-9453-5D405FE4344C}" type="slidenum">
              <a:rPr lang="en-US">
                <a:solidFill>
                  <a:srgbClr val="190052"/>
                </a:solidFill>
              </a:rPr>
              <a:pPr algn="r"/>
              <a:t>8</a:t>
            </a:fld>
            <a:endParaRPr lang="en-US" dirty="0">
              <a:solidFill>
                <a:srgbClr val="190052"/>
              </a:solidFill>
            </a:endParaRPr>
          </a:p>
        </p:txBody>
      </p:sp>
      <p:sp>
        <p:nvSpPr>
          <p:cNvPr id="3" name="TextBox 2">
            <a:extLst>
              <a:ext uri="{FF2B5EF4-FFF2-40B4-BE49-F238E27FC236}">
                <a16:creationId xmlns:a16="http://schemas.microsoft.com/office/drawing/2014/main" id="{12D142F1-792B-BD57-6D60-ADCBC740862E}"/>
              </a:ext>
            </a:extLst>
          </p:cNvPr>
          <p:cNvSpPr txBox="1"/>
          <p:nvPr/>
        </p:nvSpPr>
        <p:spPr>
          <a:xfrm>
            <a:off x="392758" y="6457441"/>
            <a:ext cx="4210064" cy="400559"/>
          </a:xfrm>
          <a:prstGeom prst="rect">
            <a:avLst/>
          </a:prstGeom>
          <a:noFill/>
        </p:spPr>
        <p:txBody>
          <a:bodyPr wrap="square" rtlCol="0">
            <a:spAutoFit/>
          </a:bodyPr>
          <a:lstStyle/>
          <a:p>
            <a:pPr>
              <a:lnSpc>
                <a:spcPct val="110000"/>
              </a:lnSpc>
            </a:pPr>
            <a:r>
              <a:rPr lang="en-US" sz="700" spc="600" dirty="0">
                <a:latin typeface="Avenir Next LT Pro" panose="020B0504020202020204" pitchFamily="34" charset="0"/>
              </a:rPr>
              <a:t>Financial summary</a:t>
            </a:r>
          </a:p>
          <a:p>
            <a:pPr>
              <a:lnSpc>
                <a:spcPct val="110000"/>
              </a:lnSpc>
            </a:pPr>
            <a:endParaRPr lang="en-US" sz="1200" dirty="0">
              <a:solidFill>
                <a:schemeClr val="bg1"/>
              </a:solidFill>
              <a:latin typeface="Avenir Next LT Pro" panose="020B0504020202020204" pitchFamily="34" charset="0"/>
            </a:endParaRPr>
          </a:p>
        </p:txBody>
      </p:sp>
      <p:graphicFrame>
        <p:nvGraphicFramePr>
          <p:cNvPr id="6" name="Chart 5">
            <a:extLst>
              <a:ext uri="{FF2B5EF4-FFF2-40B4-BE49-F238E27FC236}">
                <a16:creationId xmlns:a16="http://schemas.microsoft.com/office/drawing/2014/main" id="{25D0A7D5-66EB-D7B8-A019-B5573D5E3611}"/>
              </a:ext>
            </a:extLst>
          </p:cNvPr>
          <p:cNvGraphicFramePr>
            <a:graphicFrameLocks noGrp="1"/>
          </p:cNvGraphicFramePr>
          <p:nvPr>
            <p:extLst>
              <p:ext uri="{D42A27DB-BD31-4B8C-83A1-F6EECF244321}">
                <p14:modId xmlns:p14="http://schemas.microsoft.com/office/powerpoint/2010/main" val="1999488424"/>
              </p:ext>
            </p:extLst>
          </p:nvPr>
        </p:nvGraphicFramePr>
        <p:xfrm>
          <a:off x="5564486" y="592374"/>
          <a:ext cx="6143118" cy="4548657"/>
        </p:xfrm>
        <a:graphic>
          <a:graphicData uri="http://schemas.openxmlformats.org/drawingml/2006/chart">
            <c:chart xmlns:c="http://schemas.openxmlformats.org/drawingml/2006/chart" xmlns:r="http://schemas.openxmlformats.org/officeDocument/2006/relationships" r:id="rId5"/>
          </a:graphicData>
        </a:graphic>
      </p:graphicFrame>
      <p:pic>
        <p:nvPicPr>
          <p:cNvPr id="22" name="Picture 21">
            <a:extLst>
              <a:ext uri="{FF2B5EF4-FFF2-40B4-BE49-F238E27FC236}">
                <a16:creationId xmlns:a16="http://schemas.microsoft.com/office/drawing/2014/main" id="{94974607-2036-FCFE-AFAE-86F3360685AD}"/>
              </a:ext>
            </a:extLst>
          </p:cNvPr>
          <p:cNvPicPr>
            <a:picLocks noChangeAspect="1"/>
          </p:cNvPicPr>
          <p:nvPr/>
        </p:nvPicPr>
        <p:blipFill>
          <a:blip r:embed="rId6"/>
          <a:stretch>
            <a:fillRect/>
          </a:stretch>
        </p:blipFill>
        <p:spPr>
          <a:xfrm>
            <a:off x="5165639" y="5930082"/>
            <a:ext cx="3292561" cy="307686"/>
          </a:xfrm>
          <a:prstGeom prst="rect">
            <a:avLst/>
          </a:prstGeom>
        </p:spPr>
      </p:pic>
    </p:spTree>
    <p:custDataLst>
      <p:custData r:id="rId1"/>
      <p:custData r:id="rId2"/>
    </p:custDataLst>
    <p:extLst>
      <p:ext uri="{BB962C8B-B14F-4D97-AF65-F5344CB8AC3E}">
        <p14:creationId xmlns:p14="http://schemas.microsoft.com/office/powerpoint/2010/main" val="550025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01FAF8-7543-5B0F-AC5A-1EC0754C744A}"/>
              </a:ext>
            </a:extLst>
          </p:cNvPr>
          <p:cNvSpPr>
            <a:spLocks noGrp="1"/>
          </p:cNvSpPr>
          <p:nvPr>
            <p:ph type="title"/>
          </p:nvPr>
        </p:nvSpPr>
        <p:spPr>
          <a:xfrm>
            <a:off x="566745" y="368016"/>
            <a:ext cx="11058510" cy="553934"/>
          </a:xfrm>
        </p:spPr>
        <p:txBody>
          <a:bodyPr/>
          <a:lstStyle/>
          <a:p>
            <a:pPr>
              <a:spcBef>
                <a:spcPts val="1000"/>
              </a:spcBef>
            </a:pPr>
            <a:r>
              <a:rPr lang="en-US" sz="2800" dirty="0">
                <a:solidFill>
                  <a:srgbClr val="472566"/>
                </a:solidFill>
                <a:latin typeface="Avenir Next LT Pro Demi" panose="020B0704020202020204" pitchFamily="34" charset="0"/>
                <a:ea typeface="+mn-ea"/>
                <a:cs typeface="+mn-cs"/>
              </a:rPr>
              <a:t>EC2 Instances: Shared Tenancy and Dedicated Hosts </a:t>
            </a:r>
          </a:p>
        </p:txBody>
      </p:sp>
      <p:grpSp>
        <p:nvGrpSpPr>
          <p:cNvPr id="5" name="Group 4">
            <a:extLst>
              <a:ext uri="{FF2B5EF4-FFF2-40B4-BE49-F238E27FC236}">
                <a16:creationId xmlns:a16="http://schemas.microsoft.com/office/drawing/2014/main" id="{AB032752-2461-A0DE-0477-C19F1465777C}"/>
              </a:ext>
            </a:extLst>
          </p:cNvPr>
          <p:cNvGrpSpPr/>
          <p:nvPr/>
        </p:nvGrpSpPr>
        <p:grpSpPr>
          <a:xfrm>
            <a:off x="1318550" y="1419772"/>
            <a:ext cx="3694176" cy="2523501"/>
            <a:chOff x="623743" y="2157502"/>
            <a:chExt cx="4433011" cy="3028201"/>
          </a:xfrm>
        </p:grpSpPr>
        <p:pic>
          <p:nvPicPr>
            <p:cNvPr id="6" name="Picture 5">
              <a:extLst>
                <a:ext uri="{FF2B5EF4-FFF2-40B4-BE49-F238E27FC236}">
                  <a16:creationId xmlns:a16="http://schemas.microsoft.com/office/drawing/2014/main" id="{1CF11E6D-96C7-E954-34B9-2EB4640A8E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43200" y="2818271"/>
              <a:ext cx="2386190" cy="2367432"/>
            </a:xfrm>
            <a:prstGeom prst="rect">
              <a:avLst/>
            </a:prstGeom>
          </p:spPr>
        </p:pic>
        <p:sp>
          <p:nvSpPr>
            <p:cNvPr id="7" name="Rectangle 6">
              <a:extLst>
                <a:ext uri="{FF2B5EF4-FFF2-40B4-BE49-F238E27FC236}">
                  <a16:creationId xmlns:a16="http://schemas.microsoft.com/office/drawing/2014/main" id="{C50C3ABF-E6A6-629F-D576-64E1A144BF5F}"/>
                </a:ext>
              </a:extLst>
            </p:cNvPr>
            <p:cNvSpPr/>
            <p:nvPr/>
          </p:nvSpPr>
          <p:spPr>
            <a:xfrm>
              <a:off x="2223607" y="4418199"/>
              <a:ext cx="1126974" cy="222481"/>
            </a:xfrm>
            <a:prstGeom prst="rect">
              <a:avLst/>
            </a:prstGeom>
            <a:solidFill>
              <a:schemeClr val="accent2">
                <a:lumMod val="60000"/>
                <a:lumOff val="40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8" name="Rectangle 7">
              <a:extLst>
                <a:ext uri="{FF2B5EF4-FFF2-40B4-BE49-F238E27FC236}">
                  <a16:creationId xmlns:a16="http://schemas.microsoft.com/office/drawing/2014/main" id="{E0AFD8E2-7DBA-F07B-90E2-0A36F3D8EC6E}"/>
                </a:ext>
              </a:extLst>
            </p:cNvPr>
            <p:cNvSpPr/>
            <p:nvPr/>
          </p:nvSpPr>
          <p:spPr>
            <a:xfrm>
              <a:off x="2223607" y="4204035"/>
              <a:ext cx="1126974" cy="222481"/>
            </a:xfrm>
            <a:prstGeom prst="rect">
              <a:avLst/>
            </a:prstGeom>
            <a:solidFill>
              <a:schemeClr val="accent6">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9" name="Rectangle 8">
              <a:extLst>
                <a:ext uri="{FF2B5EF4-FFF2-40B4-BE49-F238E27FC236}">
                  <a16:creationId xmlns:a16="http://schemas.microsoft.com/office/drawing/2014/main" id="{B934574E-E34C-704A-26A4-0B4A8293F86F}"/>
                </a:ext>
              </a:extLst>
            </p:cNvPr>
            <p:cNvSpPr/>
            <p:nvPr/>
          </p:nvSpPr>
          <p:spPr>
            <a:xfrm>
              <a:off x="2223603" y="3779514"/>
              <a:ext cx="1126974" cy="222481"/>
            </a:xfrm>
            <a:prstGeom prst="rect">
              <a:avLst/>
            </a:prstGeom>
            <a:solidFill>
              <a:schemeClr val="accent4">
                <a:lumMod val="60000"/>
                <a:lumOff val="40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10" name="Rectangle 9">
              <a:extLst>
                <a:ext uri="{FF2B5EF4-FFF2-40B4-BE49-F238E27FC236}">
                  <a16:creationId xmlns:a16="http://schemas.microsoft.com/office/drawing/2014/main" id="{DF87BBB4-6099-75EC-F098-3FCA00600866}"/>
                </a:ext>
              </a:extLst>
            </p:cNvPr>
            <p:cNvSpPr/>
            <p:nvPr/>
          </p:nvSpPr>
          <p:spPr>
            <a:xfrm>
              <a:off x="2223603" y="3343585"/>
              <a:ext cx="1126974" cy="222481"/>
            </a:xfrm>
            <a:prstGeom prst="rect">
              <a:avLst/>
            </a:prstGeom>
            <a:solidFill>
              <a:schemeClr val="accent3">
                <a:lumMod val="60000"/>
                <a:lumOff val="40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11" name="Rectangle 10">
              <a:extLst>
                <a:ext uri="{FF2B5EF4-FFF2-40B4-BE49-F238E27FC236}">
                  <a16:creationId xmlns:a16="http://schemas.microsoft.com/office/drawing/2014/main" id="{78639554-BD96-E8EA-4104-2273E3D7D47F}"/>
                </a:ext>
              </a:extLst>
            </p:cNvPr>
            <p:cNvSpPr/>
            <p:nvPr/>
          </p:nvSpPr>
          <p:spPr>
            <a:xfrm>
              <a:off x="2223602" y="4867677"/>
              <a:ext cx="1126974" cy="222481"/>
            </a:xfrm>
            <a:prstGeom prst="rect">
              <a:avLst/>
            </a:prstGeom>
            <a:solidFill>
              <a:schemeClr val="accent5">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12" name="Rectangle 11">
              <a:extLst>
                <a:ext uri="{FF2B5EF4-FFF2-40B4-BE49-F238E27FC236}">
                  <a16:creationId xmlns:a16="http://schemas.microsoft.com/office/drawing/2014/main" id="{52FE8813-A822-81F2-3B31-FCEE13923EF7}"/>
                </a:ext>
              </a:extLst>
            </p:cNvPr>
            <p:cNvSpPr/>
            <p:nvPr/>
          </p:nvSpPr>
          <p:spPr>
            <a:xfrm>
              <a:off x="2201934" y="3121468"/>
              <a:ext cx="1151630" cy="229151"/>
            </a:xfrm>
            <a:prstGeom prst="rect">
              <a:avLst/>
            </a:prstGeom>
            <a:solidFill>
              <a:schemeClr val="accent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13" name="Content Placeholder 4">
              <a:extLst>
                <a:ext uri="{FF2B5EF4-FFF2-40B4-BE49-F238E27FC236}">
                  <a16:creationId xmlns:a16="http://schemas.microsoft.com/office/drawing/2014/main" id="{6ACCEE51-C7CD-7FAC-0C0A-7E618ABCB7B8}"/>
                </a:ext>
              </a:extLst>
            </p:cNvPr>
            <p:cNvSpPr txBox="1">
              <a:spLocks/>
            </p:cNvSpPr>
            <p:nvPr/>
          </p:nvSpPr>
          <p:spPr>
            <a:xfrm>
              <a:off x="623743" y="2157502"/>
              <a:ext cx="4433011" cy="394060"/>
            </a:xfrm>
            <a:prstGeom prst="rect">
              <a:avLst/>
            </a:prstGeom>
          </p:spPr>
          <p:txBody>
            <a:bodyPr lIns="0" tIns="0" rIns="0" bIns="0"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ctr" defTabSz="609536" rtl="0" eaLnBrk="1" fontAlgn="auto" latinLnBrk="0" hangingPunct="1">
                <a:lnSpc>
                  <a:spcPct val="110000"/>
                </a:lnSpc>
                <a:spcBef>
                  <a:spcPts val="601"/>
                </a:spcBef>
                <a:spcAft>
                  <a:spcPts val="0"/>
                </a:spcAft>
                <a:buClr>
                  <a:srgbClr val="FCB64C"/>
                </a:buClr>
                <a:buSzTx/>
                <a:buFont typeface="Wingdings" panose="05000000000000000000" pitchFamily="2" charset="2"/>
                <a:buNone/>
                <a:tabLst/>
                <a:defRPr/>
              </a:pPr>
              <a:r>
                <a:rPr kumimoji="0" lang="en-US" sz="2133" b="0" i="0" u="none" strike="noStrike" kern="1200" cap="none" spc="0" normalizeH="0" baseline="0" noProof="0" dirty="0">
                  <a:ln>
                    <a:noFill/>
                  </a:ln>
                  <a:effectLst/>
                  <a:uLnTx/>
                  <a:uFillTx/>
                  <a:latin typeface="Avenir Next LT Pro" panose="020B0504020202020204" pitchFamily="34" charset="0"/>
                </a:rPr>
                <a:t>Shared Tenancy</a:t>
              </a:r>
            </a:p>
          </p:txBody>
        </p:sp>
        <p:sp>
          <p:nvSpPr>
            <p:cNvPr id="14" name="Content Placeholder 4">
              <a:extLst>
                <a:ext uri="{FF2B5EF4-FFF2-40B4-BE49-F238E27FC236}">
                  <a16:creationId xmlns:a16="http://schemas.microsoft.com/office/drawing/2014/main" id="{05D7D8EB-0CA2-099D-698A-A2D22EAE99E5}"/>
                </a:ext>
              </a:extLst>
            </p:cNvPr>
            <p:cNvSpPr txBox="1">
              <a:spLocks/>
            </p:cNvSpPr>
            <p:nvPr/>
          </p:nvSpPr>
          <p:spPr>
            <a:xfrm>
              <a:off x="749125" y="3044149"/>
              <a:ext cx="1430180" cy="383774"/>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A</a:t>
              </a:r>
            </a:p>
          </p:txBody>
        </p:sp>
        <p:sp>
          <p:nvSpPr>
            <p:cNvPr id="15" name="Content Placeholder 4">
              <a:extLst>
                <a:ext uri="{FF2B5EF4-FFF2-40B4-BE49-F238E27FC236}">
                  <a16:creationId xmlns:a16="http://schemas.microsoft.com/office/drawing/2014/main" id="{13EEA8D6-E2A4-FB24-6B17-4D33E38A3FE6}"/>
                </a:ext>
              </a:extLst>
            </p:cNvPr>
            <p:cNvSpPr txBox="1">
              <a:spLocks/>
            </p:cNvSpPr>
            <p:nvPr/>
          </p:nvSpPr>
          <p:spPr>
            <a:xfrm>
              <a:off x="3370719" y="3262937"/>
              <a:ext cx="1430180" cy="383774"/>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B</a:t>
              </a:r>
            </a:p>
          </p:txBody>
        </p:sp>
        <p:sp>
          <p:nvSpPr>
            <p:cNvPr id="16" name="Content Placeholder 4">
              <a:extLst>
                <a:ext uri="{FF2B5EF4-FFF2-40B4-BE49-F238E27FC236}">
                  <a16:creationId xmlns:a16="http://schemas.microsoft.com/office/drawing/2014/main" id="{F0B42ED6-20C3-E404-A18B-22C02544E076}"/>
                </a:ext>
              </a:extLst>
            </p:cNvPr>
            <p:cNvSpPr txBox="1">
              <a:spLocks/>
            </p:cNvSpPr>
            <p:nvPr/>
          </p:nvSpPr>
          <p:spPr>
            <a:xfrm>
              <a:off x="734473" y="3668533"/>
              <a:ext cx="1444830" cy="383774"/>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C</a:t>
              </a:r>
            </a:p>
          </p:txBody>
        </p:sp>
        <p:sp>
          <p:nvSpPr>
            <p:cNvPr id="17" name="Content Placeholder 4">
              <a:extLst>
                <a:ext uri="{FF2B5EF4-FFF2-40B4-BE49-F238E27FC236}">
                  <a16:creationId xmlns:a16="http://schemas.microsoft.com/office/drawing/2014/main" id="{805FD2BF-D13F-6CA2-093D-F15E4ED54E0E}"/>
                </a:ext>
              </a:extLst>
            </p:cNvPr>
            <p:cNvSpPr txBox="1">
              <a:spLocks/>
            </p:cNvSpPr>
            <p:nvPr/>
          </p:nvSpPr>
          <p:spPr>
            <a:xfrm>
              <a:off x="3350575" y="4091369"/>
              <a:ext cx="1444830" cy="383774"/>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D</a:t>
              </a:r>
            </a:p>
          </p:txBody>
        </p:sp>
        <p:sp>
          <p:nvSpPr>
            <p:cNvPr id="18" name="Content Placeholder 4">
              <a:extLst>
                <a:ext uri="{FF2B5EF4-FFF2-40B4-BE49-F238E27FC236}">
                  <a16:creationId xmlns:a16="http://schemas.microsoft.com/office/drawing/2014/main" id="{5B24EBBD-80DD-6AE6-3055-F67CCEEE3139}"/>
                </a:ext>
              </a:extLst>
            </p:cNvPr>
            <p:cNvSpPr txBox="1">
              <a:spLocks/>
            </p:cNvSpPr>
            <p:nvPr/>
          </p:nvSpPr>
          <p:spPr>
            <a:xfrm>
              <a:off x="720125" y="4342665"/>
              <a:ext cx="1444830" cy="383774"/>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E</a:t>
              </a:r>
            </a:p>
          </p:txBody>
        </p:sp>
        <p:sp>
          <p:nvSpPr>
            <p:cNvPr id="19" name="Content Placeholder 4">
              <a:extLst>
                <a:ext uri="{FF2B5EF4-FFF2-40B4-BE49-F238E27FC236}">
                  <a16:creationId xmlns:a16="http://schemas.microsoft.com/office/drawing/2014/main" id="{CD7032C4-7480-D4FA-8FF8-A781E62851C3}"/>
                </a:ext>
              </a:extLst>
            </p:cNvPr>
            <p:cNvSpPr txBox="1">
              <a:spLocks/>
            </p:cNvSpPr>
            <p:nvPr/>
          </p:nvSpPr>
          <p:spPr>
            <a:xfrm>
              <a:off x="3348740" y="4800045"/>
              <a:ext cx="1444830" cy="383774"/>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E</a:t>
              </a:r>
            </a:p>
          </p:txBody>
        </p:sp>
      </p:grpSp>
      <p:sp>
        <p:nvSpPr>
          <p:cNvPr id="20" name="Content Placeholder 4">
            <a:extLst>
              <a:ext uri="{FF2B5EF4-FFF2-40B4-BE49-F238E27FC236}">
                <a16:creationId xmlns:a16="http://schemas.microsoft.com/office/drawing/2014/main" id="{89587F6A-79EC-FFB8-296D-4B2C18DCD3E0}"/>
              </a:ext>
            </a:extLst>
          </p:cNvPr>
          <p:cNvSpPr txBox="1">
            <a:spLocks/>
          </p:cNvSpPr>
          <p:nvPr/>
        </p:nvSpPr>
        <p:spPr>
          <a:xfrm>
            <a:off x="910125" y="4346311"/>
            <a:ext cx="4599003" cy="1585012"/>
          </a:xfrm>
          <a:prstGeom prst="rect">
            <a:avLst/>
          </a:prstGeom>
        </p:spPr>
        <p:txBody>
          <a:bodyPr anchor="t"/>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r>
              <a:rPr kumimoji="0" lang="en-US" sz="1600" b="1" i="1" u="none" strike="noStrike" kern="1200" cap="none" spc="0" normalizeH="0" baseline="0" noProof="0" dirty="0">
                <a:ln>
                  <a:noFill/>
                </a:ln>
                <a:effectLst/>
                <a:uLnTx/>
                <a:uFillTx/>
                <a:latin typeface="Avenir Next LT Pro" panose="020B0504020202020204" pitchFamily="34" charset="0"/>
              </a:rPr>
              <a:t>Multi-tenant </a:t>
            </a:r>
            <a:r>
              <a:rPr kumimoji="0" lang="en-US" sz="1600" b="0" i="0" u="none" strike="noStrike" kern="1200" cap="none" spc="0" normalizeH="0" baseline="0" noProof="0" dirty="0">
                <a:ln>
                  <a:noFill/>
                </a:ln>
                <a:effectLst/>
                <a:uLnTx/>
                <a:uFillTx/>
                <a:latin typeface="Avenir Next LT Pro" panose="020B0504020202020204" pitchFamily="34" charset="0"/>
              </a:rPr>
              <a:t>servers host instances for multiple customers</a:t>
            </a: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endParaRPr kumimoji="0" lang="en-US" sz="600" b="0" i="0" u="none" strike="noStrike" kern="1200" cap="none" spc="0" normalizeH="0" baseline="0" noProof="0" dirty="0">
              <a:ln>
                <a:noFill/>
              </a:ln>
              <a:effectLst/>
              <a:uLnTx/>
              <a:uFillTx/>
              <a:latin typeface="Avenir Next LT Pro" panose="020B0504020202020204" pitchFamily="34" charset="0"/>
            </a:endParaRP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r>
              <a:rPr kumimoji="0" lang="en-US" sz="1600" b="1" i="1" u="none" strike="noStrike" kern="1200" cap="none" spc="0" normalizeH="0" baseline="0" noProof="0" dirty="0">
                <a:ln>
                  <a:noFill/>
                </a:ln>
                <a:effectLst/>
                <a:uLnTx/>
                <a:uFillTx/>
                <a:latin typeface="Avenir Next LT Pro" panose="020B0504020202020204" pitchFamily="34" charset="0"/>
              </a:rPr>
              <a:t>AWS determines which host </a:t>
            </a:r>
            <a:r>
              <a:rPr kumimoji="0" lang="en-US" sz="1600" b="0" i="0" u="none" strike="noStrike" kern="1200" cap="none" spc="0" normalizeH="0" baseline="0" noProof="0" dirty="0">
                <a:ln>
                  <a:noFill/>
                </a:ln>
                <a:effectLst/>
                <a:uLnTx/>
                <a:uFillTx/>
                <a:latin typeface="Avenir Next LT Pro" panose="020B0504020202020204" pitchFamily="34" charset="0"/>
              </a:rPr>
              <a:t>instances run on</a:t>
            </a: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endParaRPr kumimoji="0" lang="en-US" sz="600" b="0" i="0" u="none" strike="noStrike" kern="1200" cap="none" spc="0" normalizeH="0" baseline="0" noProof="0" dirty="0">
              <a:ln>
                <a:noFill/>
              </a:ln>
              <a:effectLst/>
              <a:uLnTx/>
              <a:uFillTx/>
              <a:latin typeface="Avenir Next LT Pro" panose="020B0504020202020204" pitchFamily="34" charset="0"/>
            </a:endParaRP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r>
              <a:rPr kumimoji="0" lang="en-US" sz="1600" b="0" i="0" u="none" strike="noStrike" kern="1200" cap="none" spc="0" normalizeH="0" baseline="0" noProof="0" dirty="0">
                <a:ln>
                  <a:noFill/>
                </a:ln>
                <a:effectLst/>
                <a:uLnTx/>
                <a:uFillTx/>
                <a:latin typeface="Avenir Next LT Pro" panose="020B0504020202020204" pitchFamily="34" charset="0"/>
              </a:rPr>
              <a:t>You </a:t>
            </a:r>
            <a:r>
              <a:rPr kumimoji="0" lang="en-US" sz="1600" b="1" i="1" u="none" strike="noStrike" kern="1200" cap="none" spc="0" normalizeH="0" baseline="0" noProof="0" dirty="0">
                <a:ln>
                  <a:noFill/>
                </a:ln>
                <a:effectLst/>
                <a:uLnTx/>
                <a:uFillTx/>
                <a:latin typeface="Avenir Next LT Pro" panose="020B0504020202020204" pitchFamily="34" charset="0"/>
              </a:rPr>
              <a:t>pay per-instance</a:t>
            </a:r>
          </a:p>
        </p:txBody>
      </p:sp>
      <p:sp>
        <p:nvSpPr>
          <p:cNvPr id="21" name="Content Placeholder 4">
            <a:extLst>
              <a:ext uri="{FF2B5EF4-FFF2-40B4-BE49-F238E27FC236}">
                <a16:creationId xmlns:a16="http://schemas.microsoft.com/office/drawing/2014/main" id="{1AD3D8AA-A2FC-CDB4-B21E-406B94904877}"/>
              </a:ext>
            </a:extLst>
          </p:cNvPr>
          <p:cNvSpPr txBox="1">
            <a:spLocks/>
          </p:cNvSpPr>
          <p:nvPr/>
        </p:nvSpPr>
        <p:spPr>
          <a:xfrm>
            <a:off x="7029429" y="1351447"/>
            <a:ext cx="3694176" cy="328383"/>
          </a:xfrm>
          <a:prstGeom prst="rect">
            <a:avLst/>
          </a:prstGeom>
        </p:spPr>
        <p:txBody>
          <a:bodyPr lIns="0" tIns="0" rIns="0" bIns="0"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ctr" defTabSz="609536" rtl="0" eaLnBrk="1" fontAlgn="auto" latinLnBrk="0" hangingPunct="1">
              <a:lnSpc>
                <a:spcPct val="110000"/>
              </a:lnSpc>
              <a:spcBef>
                <a:spcPts val="601"/>
              </a:spcBef>
              <a:spcAft>
                <a:spcPts val="0"/>
              </a:spcAft>
              <a:buClr>
                <a:srgbClr val="FCB64C"/>
              </a:buClr>
              <a:buSzTx/>
              <a:buFont typeface="Wingdings" panose="05000000000000000000" pitchFamily="2" charset="2"/>
              <a:buNone/>
              <a:tabLst/>
              <a:defRPr/>
            </a:pPr>
            <a:r>
              <a:rPr kumimoji="0" lang="en-US" sz="2133" b="0" i="0" u="none" strike="noStrike" kern="1200" cap="none" spc="0" normalizeH="0" baseline="0" noProof="0" dirty="0">
                <a:ln>
                  <a:noFill/>
                </a:ln>
                <a:effectLst/>
                <a:uLnTx/>
                <a:uFillTx/>
                <a:latin typeface="Avenir Next LT Pro" panose="020B0504020202020204" pitchFamily="34" charset="0"/>
              </a:rPr>
              <a:t>Dedicated Hosts</a:t>
            </a:r>
          </a:p>
        </p:txBody>
      </p:sp>
      <p:grpSp>
        <p:nvGrpSpPr>
          <p:cNvPr id="22" name="Group 21">
            <a:extLst>
              <a:ext uri="{FF2B5EF4-FFF2-40B4-BE49-F238E27FC236}">
                <a16:creationId xmlns:a16="http://schemas.microsoft.com/office/drawing/2014/main" id="{C609B069-7CF5-43C4-4A74-2591A8D56A7C}"/>
              </a:ext>
            </a:extLst>
          </p:cNvPr>
          <p:cNvGrpSpPr/>
          <p:nvPr/>
        </p:nvGrpSpPr>
        <p:grpSpPr>
          <a:xfrm>
            <a:off x="7817127" y="1909703"/>
            <a:ext cx="2032000" cy="2032000"/>
            <a:chOff x="5844939" y="1939003"/>
            <a:chExt cx="1524000" cy="1524000"/>
          </a:xfrm>
        </p:grpSpPr>
        <p:pic>
          <p:nvPicPr>
            <p:cNvPr id="23" name="Picture 22">
              <a:extLst>
                <a:ext uri="{FF2B5EF4-FFF2-40B4-BE49-F238E27FC236}">
                  <a16:creationId xmlns:a16="http://schemas.microsoft.com/office/drawing/2014/main" id="{4CEA85BC-685E-6124-86EB-36AFB77B757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44939" y="1939003"/>
              <a:ext cx="1524000" cy="1524000"/>
            </a:xfrm>
            <a:prstGeom prst="rect">
              <a:avLst/>
            </a:prstGeom>
          </p:spPr>
        </p:pic>
        <p:sp>
          <p:nvSpPr>
            <p:cNvPr id="24" name="Rectangle 23">
              <a:extLst>
                <a:ext uri="{FF2B5EF4-FFF2-40B4-BE49-F238E27FC236}">
                  <a16:creationId xmlns:a16="http://schemas.microsoft.com/office/drawing/2014/main" id="{8FD02BF5-6BEE-FC84-9C93-9E877EB54D53}"/>
                </a:ext>
              </a:extLst>
            </p:cNvPr>
            <p:cNvSpPr/>
            <p:nvPr/>
          </p:nvSpPr>
          <p:spPr>
            <a:xfrm>
              <a:off x="6200283" y="1943148"/>
              <a:ext cx="798393" cy="1454319"/>
            </a:xfrm>
            <a:prstGeom prst="rect">
              <a:avLst/>
            </a:prstGeom>
            <a:solidFill>
              <a:schemeClr val="accent1">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25" name="Rectangle 24">
              <a:extLst>
                <a:ext uri="{FF2B5EF4-FFF2-40B4-BE49-F238E27FC236}">
                  <a16:creationId xmlns:a16="http://schemas.microsoft.com/office/drawing/2014/main" id="{ED4E991E-FD06-5287-14DB-658070154BEE}"/>
                </a:ext>
              </a:extLst>
            </p:cNvPr>
            <p:cNvSpPr/>
            <p:nvPr/>
          </p:nvSpPr>
          <p:spPr>
            <a:xfrm>
              <a:off x="6239597" y="2840334"/>
              <a:ext cx="719769" cy="143219"/>
            </a:xfrm>
            <a:prstGeom prst="rect">
              <a:avLst/>
            </a:prstGeom>
            <a:solidFill>
              <a:schemeClr val="accent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26" name="Rectangle 25">
              <a:extLst>
                <a:ext uri="{FF2B5EF4-FFF2-40B4-BE49-F238E27FC236}">
                  <a16:creationId xmlns:a16="http://schemas.microsoft.com/office/drawing/2014/main" id="{3C4C5681-234A-1375-77C8-21F892EB2BDA}"/>
                </a:ext>
              </a:extLst>
            </p:cNvPr>
            <p:cNvSpPr/>
            <p:nvPr/>
          </p:nvSpPr>
          <p:spPr>
            <a:xfrm>
              <a:off x="6239596" y="2567055"/>
              <a:ext cx="719769" cy="143219"/>
            </a:xfrm>
            <a:prstGeom prst="rect">
              <a:avLst/>
            </a:prstGeom>
            <a:solidFill>
              <a:schemeClr val="accent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27" name="Rectangle 26">
              <a:extLst>
                <a:ext uri="{FF2B5EF4-FFF2-40B4-BE49-F238E27FC236}">
                  <a16:creationId xmlns:a16="http://schemas.microsoft.com/office/drawing/2014/main" id="{B4F1988F-B9C6-7EB8-3E5E-6D49F46B4D25}"/>
                </a:ext>
              </a:extLst>
            </p:cNvPr>
            <p:cNvSpPr/>
            <p:nvPr/>
          </p:nvSpPr>
          <p:spPr>
            <a:xfrm>
              <a:off x="6239596" y="2286432"/>
              <a:ext cx="719769" cy="143219"/>
            </a:xfrm>
            <a:prstGeom prst="rect">
              <a:avLst/>
            </a:prstGeom>
            <a:solidFill>
              <a:schemeClr val="accent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sp>
          <p:nvSpPr>
            <p:cNvPr id="28" name="Rectangle 27">
              <a:extLst>
                <a:ext uri="{FF2B5EF4-FFF2-40B4-BE49-F238E27FC236}">
                  <a16:creationId xmlns:a16="http://schemas.microsoft.com/office/drawing/2014/main" id="{49DE8F81-30E7-06EF-6BC6-349CDC81BC9E}"/>
                </a:ext>
              </a:extLst>
            </p:cNvPr>
            <p:cNvSpPr/>
            <p:nvPr/>
          </p:nvSpPr>
          <p:spPr>
            <a:xfrm>
              <a:off x="6239595" y="2141072"/>
              <a:ext cx="719769" cy="143219"/>
            </a:xfrm>
            <a:prstGeom prst="rect">
              <a:avLst/>
            </a:prstGeom>
            <a:solidFill>
              <a:schemeClr val="accent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06"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chemeClr val="tx1"/>
                </a:solidFill>
                <a:effectLst/>
                <a:uLnTx/>
                <a:uFillTx/>
                <a:latin typeface="Avenir Next LT Pro" panose="020B0504020202020204" pitchFamily="34" charset="0"/>
              </a:endParaRPr>
            </a:p>
          </p:txBody>
        </p:sp>
      </p:grpSp>
      <p:sp>
        <p:nvSpPr>
          <p:cNvPr id="29" name="Content Placeholder 4">
            <a:extLst>
              <a:ext uri="{FF2B5EF4-FFF2-40B4-BE49-F238E27FC236}">
                <a16:creationId xmlns:a16="http://schemas.microsoft.com/office/drawing/2014/main" id="{3E036368-7975-CC73-5D88-F2C67D3CBE8D}"/>
              </a:ext>
            </a:extLst>
          </p:cNvPr>
          <p:cNvSpPr txBox="1">
            <a:spLocks/>
          </p:cNvSpPr>
          <p:nvPr/>
        </p:nvSpPr>
        <p:spPr>
          <a:xfrm>
            <a:off x="6533626" y="4346312"/>
            <a:ext cx="4599003" cy="2106204"/>
          </a:xfrm>
          <a:prstGeom prst="rect">
            <a:avLst/>
          </a:prstGeom>
        </p:spPr>
        <p:txBody>
          <a:bodyPr anchor="t"/>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0"/>
              </a:spcBef>
              <a:spcAft>
                <a:spcPts val="0"/>
              </a:spcAft>
              <a:buClr>
                <a:srgbClr val="474746"/>
              </a:buClr>
              <a:buSzTx/>
              <a:buFont typeface="Wingdings" panose="05000000000000000000" pitchFamily="2" charset="2"/>
              <a:buNone/>
              <a:tabLst/>
              <a:defRPr/>
            </a:pPr>
            <a:r>
              <a:rPr kumimoji="0" lang="en-US" sz="1600" b="1" i="1" u="none" strike="noStrike" kern="1200" cap="none" spc="0" normalizeH="0" baseline="0" noProof="0" dirty="0">
                <a:ln>
                  <a:noFill/>
                </a:ln>
                <a:effectLst/>
                <a:uLnTx/>
                <a:uFillTx/>
                <a:latin typeface="Avenir Next LT Pro" panose="020B0504020202020204" pitchFamily="34" charset="0"/>
              </a:rPr>
              <a:t>Single-tenant </a:t>
            </a:r>
            <a:r>
              <a:rPr kumimoji="0" lang="en-US" sz="1600" b="0" i="0" u="none" strike="noStrike" kern="1200" cap="none" spc="0" normalizeH="0" baseline="0" noProof="0" dirty="0">
                <a:ln>
                  <a:noFill/>
                </a:ln>
                <a:effectLst/>
                <a:uLnTx/>
                <a:uFillTx/>
                <a:latin typeface="Avenir Next LT Pro" panose="020B0504020202020204" pitchFamily="34" charset="0"/>
              </a:rPr>
              <a:t>servers host instances dedicated to </a:t>
            </a:r>
            <a:r>
              <a:rPr kumimoji="0" lang="en-US" sz="1600" b="1" i="1" u="none" strike="noStrike" kern="1200" cap="none" spc="0" normalizeH="0" baseline="0" noProof="0" dirty="0">
                <a:ln>
                  <a:noFill/>
                </a:ln>
                <a:effectLst/>
                <a:uLnTx/>
                <a:uFillTx/>
                <a:latin typeface="Avenir Next LT Pro" panose="020B0504020202020204" pitchFamily="34" charset="0"/>
              </a:rPr>
              <a:t>one AWS customer</a:t>
            </a:r>
          </a:p>
          <a:p>
            <a:pPr marL="0" marR="0" lvl="0" indent="0" algn="l" defTabSz="812654" rtl="0" eaLnBrk="1" fontAlgn="auto" latinLnBrk="0" hangingPunct="1">
              <a:lnSpc>
                <a:spcPct val="100000"/>
              </a:lnSpc>
              <a:spcBef>
                <a:spcPts val="0"/>
              </a:spcBef>
              <a:spcAft>
                <a:spcPts val="0"/>
              </a:spcAft>
              <a:buClr>
                <a:srgbClr val="474746"/>
              </a:buClr>
              <a:buSzTx/>
              <a:buFont typeface="Wingdings" panose="05000000000000000000" pitchFamily="2" charset="2"/>
              <a:buNone/>
              <a:tabLst/>
              <a:defRPr/>
            </a:pPr>
            <a:endParaRPr kumimoji="0" lang="en-US" sz="600" b="1" i="1" u="none" strike="noStrike" kern="1200" cap="none" spc="0" normalizeH="0" baseline="0" noProof="0" dirty="0">
              <a:ln>
                <a:noFill/>
              </a:ln>
              <a:effectLst/>
              <a:uLnTx/>
              <a:uFillTx/>
              <a:latin typeface="Avenir Next LT Pro" panose="020B0504020202020204" pitchFamily="34" charset="0"/>
            </a:endParaRP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r>
              <a:rPr kumimoji="0" lang="en-US" sz="1600" b="0" i="0" u="none" strike="noStrike" kern="1200" cap="none" spc="0" normalizeH="0" baseline="0" noProof="0" dirty="0">
                <a:ln>
                  <a:noFill/>
                </a:ln>
                <a:effectLst/>
                <a:uLnTx/>
                <a:uFillTx/>
                <a:latin typeface="Avenir Next LT Pro" panose="020B0504020202020204" pitchFamily="34" charset="0"/>
              </a:rPr>
              <a:t>Launch instances to same physical server through targeted </a:t>
            </a:r>
            <a:r>
              <a:rPr kumimoji="0" lang="en-US" sz="1600" b="1" i="1" u="none" strike="noStrike" kern="1200" cap="none" spc="0" normalizeH="0" baseline="0" noProof="0" dirty="0">
                <a:ln>
                  <a:noFill/>
                </a:ln>
                <a:effectLst/>
                <a:uLnTx/>
                <a:uFillTx/>
                <a:latin typeface="Avenir Next LT Pro" panose="020B0504020202020204" pitchFamily="34" charset="0"/>
              </a:rPr>
              <a:t>placement</a:t>
            </a: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endParaRPr kumimoji="0" lang="en-US" sz="600" b="1" i="1" u="none" strike="noStrike" kern="1200" cap="none" spc="0" normalizeH="0" baseline="0" noProof="0" dirty="0">
              <a:ln>
                <a:noFill/>
              </a:ln>
              <a:effectLst/>
              <a:uLnTx/>
              <a:uFillTx/>
              <a:latin typeface="Avenir Next LT Pro" panose="020B0504020202020204" pitchFamily="34" charset="0"/>
            </a:endParaRPr>
          </a:p>
          <a:p>
            <a:pPr marL="0" marR="0" lvl="0" indent="0" algn="l" defTabSz="812654" rtl="0" eaLnBrk="1" fontAlgn="auto" latinLnBrk="0" hangingPunct="1">
              <a:lnSpc>
                <a:spcPct val="100000"/>
              </a:lnSpc>
              <a:spcBef>
                <a:spcPts val="601"/>
              </a:spcBef>
              <a:spcAft>
                <a:spcPts val="0"/>
              </a:spcAft>
              <a:buClr>
                <a:srgbClr val="474746"/>
              </a:buClr>
              <a:buSzTx/>
              <a:buFont typeface="Wingdings" panose="05000000000000000000" pitchFamily="2" charset="2"/>
              <a:buNone/>
              <a:tabLst/>
              <a:defRPr/>
            </a:pPr>
            <a:r>
              <a:rPr kumimoji="0" lang="en-US" sz="1600" b="0" i="0" u="none" strike="noStrike" kern="1200" cap="none" spc="0" normalizeH="0" baseline="0" noProof="0" dirty="0">
                <a:ln>
                  <a:noFill/>
                </a:ln>
                <a:effectLst/>
                <a:uLnTx/>
                <a:uFillTx/>
                <a:latin typeface="Avenir Next LT Pro" panose="020B0504020202020204" pitchFamily="34" charset="0"/>
              </a:rPr>
              <a:t>You </a:t>
            </a:r>
            <a:r>
              <a:rPr kumimoji="0" lang="en-US" sz="1600" b="1" i="1" u="none" strike="noStrike" kern="1200" cap="none" spc="0" normalizeH="0" baseline="0" noProof="0" dirty="0">
                <a:ln>
                  <a:noFill/>
                </a:ln>
                <a:effectLst/>
                <a:uLnTx/>
                <a:uFillTx/>
                <a:latin typeface="Avenir Next LT Pro" panose="020B0504020202020204" pitchFamily="34" charset="0"/>
              </a:rPr>
              <a:t>pay per-host, per-hour</a:t>
            </a:r>
            <a:endParaRPr kumimoji="0" lang="en-US" sz="1600" b="0" i="0" u="none" strike="noStrike" kern="1200" cap="none" spc="0" normalizeH="0" baseline="0" noProof="0" dirty="0">
              <a:ln>
                <a:noFill/>
              </a:ln>
              <a:effectLst/>
              <a:uLnTx/>
              <a:uFillTx/>
              <a:latin typeface="Avenir Next LT Pro" panose="020B0504020202020204" pitchFamily="34" charset="0"/>
            </a:endParaRPr>
          </a:p>
        </p:txBody>
      </p:sp>
      <p:sp>
        <p:nvSpPr>
          <p:cNvPr id="30" name="Content Placeholder 4">
            <a:extLst>
              <a:ext uri="{FF2B5EF4-FFF2-40B4-BE49-F238E27FC236}">
                <a16:creationId xmlns:a16="http://schemas.microsoft.com/office/drawing/2014/main" id="{6F376E53-54D2-33A0-0E25-64FA16D72386}"/>
              </a:ext>
            </a:extLst>
          </p:cNvPr>
          <p:cNvSpPr txBox="1">
            <a:spLocks/>
          </p:cNvSpPr>
          <p:nvPr/>
        </p:nvSpPr>
        <p:spPr>
          <a:xfrm>
            <a:off x="8280609" y="3946837"/>
            <a:ext cx="1191817" cy="319812"/>
          </a:xfrm>
          <a:prstGeom prst="rect">
            <a:avLst/>
          </a:prstGeom>
        </p:spPr>
        <p:txBody>
          <a:bodyPr anchor="ctr"/>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marR="0" lvl="0" indent="0" algn="l" defTabSz="812654" rtl="0" eaLnBrk="1" fontAlgn="auto" latinLnBrk="0" hangingPunct="1">
              <a:lnSpc>
                <a:spcPct val="100000"/>
              </a:lnSpc>
              <a:spcBef>
                <a:spcPts val="601"/>
              </a:spcBef>
              <a:spcAft>
                <a:spcPts val="0"/>
              </a:spcAft>
              <a:buClr>
                <a:srgbClr val="FCB64C"/>
              </a:buClr>
              <a:buSzTx/>
              <a:buFont typeface="Wingdings" panose="05000000000000000000" pitchFamily="2" charset="2"/>
              <a:buNone/>
              <a:tabLst/>
              <a:defRPr/>
            </a:pPr>
            <a:r>
              <a:rPr kumimoji="0" lang="en-US" sz="1401" b="0" i="0" u="none" strike="noStrike" kern="1200" cap="none" spc="0" normalizeH="0" baseline="0" noProof="0" dirty="0">
                <a:ln>
                  <a:noFill/>
                </a:ln>
                <a:effectLst/>
                <a:uLnTx/>
                <a:uFillTx/>
                <a:latin typeface="Avenir Next LT Pro" panose="020B0504020202020204" pitchFamily="34" charset="0"/>
              </a:rPr>
              <a:t>Customer A</a:t>
            </a:r>
          </a:p>
        </p:txBody>
      </p:sp>
      <p:cxnSp>
        <p:nvCxnSpPr>
          <p:cNvPr id="31" name="Straight Connector 30">
            <a:extLst>
              <a:ext uri="{FF2B5EF4-FFF2-40B4-BE49-F238E27FC236}">
                <a16:creationId xmlns:a16="http://schemas.microsoft.com/office/drawing/2014/main" id="{CEF9CF66-CEEB-BB68-D317-B6B98C12213E}"/>
              </a:ext>
            </a:extLst>
          </p:cNvPr>
          <p:cNvCxnSpPr>
            <a:cxnSpLocks/>
          </p:cNvCxnSpPr>
          <p:nvPr/>
        </p:nvCxnSpPr>
        <p:spPr>
          <a:xfrm>
            <a:off x="6023569" y="1220213"/>
            <a:ext cx="13361" cy="4575333"/>
          </a:xfrm>
          <a:prstGeom prst="line">
            <a:avLst/>
          </a:prstGeom>
          <a:ln w="63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1586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FAAD2-97B2-9288-CF35-C3CCC98DB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B4994-2F8E-71F5-0E8C-1A1AE927FCC4}"/>
              </a:ext>
            </a:extLst>
          </p:cNvPr>
          <p:cNvSpPr>
            <a:spLocks noGrp="1"/>
          </p:cNvSpPr>
          <p:nvPr>
            <p:ph type="title"/>
          </p:nvPr>
        </p:nvSpPr>
        <p:spPr>
          <a:xfrm>
            <a:off x="612648" y="320040"/>
            <a:ext cx="11155680" cy="539496"/>
          </a:xfrm>
        </p:spPr>
        <p:txBody>
          <a:bodyPr>
            <a:noAutofit/>
          </a:bodyPr>
          <a:lstStyle/>
          <a:p>
            <a:pPr>
              <a:spcBef>
                <a:spcPts val="1000"/>
              </a:spcBef>
            </a:pPr>
            <a:r>
              <a:rPr lang="en-US" sz="2800" dirty="0">
                <a:solidFill>
                  <a:srgbClr val="472566"/>
                </a:solidFill>
                <a:latin typeface="Avenir Next LT Pro Demi" panose="020B0704020202020204" pitchFamily="34" charset="0"/>
              </a:rPr>
              <a:t>Financial Summary - 3 YR NUSP - BYOL</a:t>
            </a:r>
            <a:endParaRPr lang="en-US" sz="2800" dirty="0">
              <a:solidFill>
                <a:srgbClr val="472566"/>
              </a:solidFill>
              <a:latin typeface="Avenir Next LT Pro Demi" panose="020B0704020202020204" pitchFamily="34" charset="0"/>
              <a:ea typeface="+mn-ea"/>
              <a:cs typeface="+mn-cs"/>
            </a:endParaRPr>
          </a:p>
        </p:txBody>
      </p:sp>
      <p:graphicFrame>
        <p:nvGraphicFramePr>
          <p:cNvPr id="3" name="Table 2">
            <a:extLst>
              <a:ext uri="{FF2B5EF4-FFF2-40B4-BE49-F238E27FC236}">
                <a16:creationId xmlns:a16="http://schemas.microsoft.com/office/drawing/2014/main" id="{B8B65CDF-B4B5-FB03-2D7B-4A30A6FF382E}"/>
              </a:ext>
            </a:extLst>
          </p:cNvPr>
          <p:cNvGraphicFramePr>
            <a:graphicFrameLocks noGrp="1"/>
          </p:cNvGraphicFramePr>
          <p:nvPr>
            <p:extLst>
              <p:ext uri="{D42A27DB-BD31-4B8C-83A1-F6EECF244321}">
                <p14:modId xmlns:p14="http://schemas.microsoft.com/office/powerpoint/2010/main" val="4041708843"/>
              </p:ext>
            </p:extLst>
          </p:nvPr>
        </p:nvGraphicFramePr>
        <p:xfrm>
          <a:off x="612647" y="996696"/>
          <a:ext cx="10312445" cy="1833489"/>
        </p:xfrm>
        <a:graphic>
          <a:graphicData uri="http://schemas.openxmlformats.org/drawingml/2006/table">
            <a:tbl>
              <a:tblPr/>
              <a:tblGrid>
                <a:gridCol w="1618394">
                  <a:extLst>
                    <a:ext uri="{9D8B030D-6E8A-4147-A177-3AD203B41FA5}">
                      <a16:colId xmlns:a16="http://schemas.microsoft.com/office/drawing/2014/main" val="3643780525"/>
                    </a:ext>
                  </a:extLst>
                </a:gridCol>
                <a:gridCol w="1625342">
                  <a:extLst>
                    <a:ext uri="{9D8B030D-6E8A-4147-A177-3AD203B41FA5}">
                      <a16:colId xmlns:a16="http://schemas.microsoft.com/office/drawing/2014/main" val="2255889184"/>
                    </a:ext>
                  </a:extLst>
                </a:gridCol>
                <a:gridCol w="1574358">
                  <a:extLst>
                    <a:ext uri="{9D8B030D-6E8A-4147-A177-3AD203B41FA5}">
                      <a16:colId xmlns:a16="http://schemas.microsoft.com/office/drawing/2014/main" val="488625177"/>
                    </a:ext>
                  </a:extLst>
                </a:gridCol>
                <a:gridCol w="2560320">
                  <a:extLst>
                    <a:ext uri="{9D8B030D-6E8A-4147-A177-3AD203B41FA5}">
                      <a16:colId xmlns:a16="http://schemas.microsoft.com/office/drawing/2014/main" val="201139303"/>
                    </a:ext>
                  </a:extLst>
                </a:gridCol>
                <a:gridCol w="2934031">
                  <a:extLst>
                    <a:ext uri="{9D8B030D-6E8A-4147-A177-3AD203B41FA5}">
                      <a16:colId xmlns:a16="http://schemas.microsoft.com/office/drawing/2014/main" val="3293449727"/>
                    </a:ext>
                  </a:extLst>
                </a:gridCol>
              </a:tblGrid>
              <a:tr h="493200">
                <a:tc rowSpan="2">
                  <a:txBody>
                    <a:bodyPr/>
                    <a:lstStyle/>
                    <a:p>
                      <a:pPr algn="ctr" rtl="0" fontAlgn="ctr"/>
                      <a:r>
                        <a:rPr lang="en-US" sz="1400" b="1" i="0" u="none" strike="noStrike" dirty="0">
                          <a:solidFill>
                            <a:schemeClr val="bg1"/>
                          </a:solidFill>
                          <a:effectLst/>
                          <a:latin typeface="Avenir Next LT Pro" panose="020B0504020202020204" pitchFamily="34" charset="0"/>
                        </a:rPr>
                        <a:t>Option</a:t>
                      </a:r>
                    </a:p>
                  </a:txBody>
                  <a:tcPr marL="0" marR="0" marT="0" marB="0" anchor="ctr">
                    <a:lnL>
                      <a:noFill/>
                    </a:lnL>
                    <a:lnR>
                      <a:noFill/>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400" b="1" i="0" u="none" strike="noStrike" dirty="0">
                          <a:solidFill>
                            <a:schemeClr val="bg1"/>
                          </a:solidFill>
                          <a:effectLst/>
                          <a:latin typeface="Avenir Next LT Pro" panose="020B0504020202020204" pitchFamily="34" charset="0"/>
                        </a:rPr>
                        <a:t>Compute</a:t>
                      </a:r>
                    </a:p>
                  </a:txBody>
                  <a:tcPr marL="0" marR="0" marT="0" marB="0" anchor="ctr">
                    <a:lnL>
                      <a:noFill/>
                    </a:lnL>
                    <a:lnR>
                      <a:noFill/>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400" b="1" i="0" u="none" strike="noStrike" dirty="0">
                          <a:solidFill>
                            <a:schemeClr val="bg1"/>
                          </a:solidFill>
                          <a:effectLst/>
                          <a:latin typeface="Avenir Next LT Pro" panose="020B0504020202020204" pitchFamily="34" charset="0"/>
                        </a:rPr>
                        <a:t>Storage</a:t>
                      </a:r>
                    </a:p>
                  </a:txBody>
                  <a:tcPr marL="0" marR="0" marT="0" marB="0" anchor="ctr">
                    <a:lnL>
                      <a:noFill/>
                    </a:lnL>
                    <a:lnR>
                      <a:noFill/>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400" b="1" i="0" u="none" strike="noStrike" dirty="0">
                          <a:solidFill>
                            <a:schemeClr val="bg1"/>
                          </a:solidFill>
                          <a:effectLst/>
                          <a:latin typeface="Avenir Next LT Pro" panose="020B0504020202020204" pitchFamily="34" charset="0"/>
                        </a:rPr>
                        <a:t>Network</a:t>
                      </a:r>
                    </a:p>
                  </a:txBody>
                  <a:tcPr marL="0" marR="0" marT="0" marB="0" anchor="ctr">
                    <a:lnL>
                      <a:noFill/>
                    </a:lnL>
                    <a:lnR>
                      <a:noFill/>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400" b="1" i="0" u="none" strike="noStrike" dirty="0">
                          <a:solidFill>
                            <a:schemeClr val="bg1"/>
                          </a:solidFill>
                          <a:effectLst/>
                          <a:latin typeface="Avenir Next LT Pro" panose="020B0504020202020204" pitchFamily="34" charset="0"/>
                        </a:rPr>
                        <a:t>Total</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602576742"/>
                  </a:ext>
                </a:extLst>
              </a:tr>
              <a:tr h="235927">
                <a:tc vMerge="1">
                  <a:txBody>
                    <a:bodyPr/>
                    <a:lstStyle/>
                    <a:p>
                      <a:endParaRPr lang="en-US"/>
                    </a:p>
                  </a:txBody>
                  <a:tcPr/>
                </a:tc>
                <a:tc>
                  <a:txBody>
                    <a:bodyPr/>
                    <a:lstStyle/>
                    <a:p>
                      <a:pPr algn="ctr" rtl="0" fontAlgn="ctr"/>
                      <a:r>
                        <a:rPr lang="en-US" sz="1100" b="0" i="1" u="none" strike="noStrike" dirty="0">
                          <a:solidFill>
                            <a:schemeClr val="bg1"/>
                          </a:solidFill>
                          <a:effectLst/>
                          <a:latin typeface="Avenir Next LT Pro" panose="020B0504020202020204" pitchFamily="34" charset="0"/>
                        </a:rPr>
                        <a:t>(annual)</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0" i="1" u="none" strike="noStrike">
                          <a:solidFill>
                            <a:schemeClr val="bg1"/>
                          </a:solidFill>
                          <a:effectLst/>
                          <a:latin typeface="Avenir Next LT Pro" panose="020B0504020202020204" pitchFamily="34" charset="0"/>
                        </a:rPr>
                        <a:t>(annual)</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0" i="1" u="none" strike="noStrike">
                          <a:solidFill>
                            <a:schemeClr val="bg1"/>
                          </a:solidFill>
                          <a:effectLst/>
                          <a:latin typeface="Avenir Next LT Pro" panose="020B0504020202020204" pitchFamily="34" charset="0"/>
                        </a:rPr>
                        <a:t>(annual)</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0" i="1" u="none" strike="noStrike">
                          <a:solidFill>
                            <a:schemeClr val="bg1"/>
                          </a:solidFill>
                          <a:effectLst/>
                          <a:latin typeface="Avenir Next LT Pro" panose="020B0504020202020204" pitchFamily="34" charset="0"/>
                        </a:rPr>
                        <a:t>(annual)</a:t>
                      </a: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211968401"/>
                  </a:ext>
                </a:extLst>
              </a:tr>
              <a:tr h="552181">
                <a:tc>
                  <a:txBody>
                    <a:bodyPr/>
                    <a:lstStyle/>
                    <a:p>
                      <a:pPr algn="ctr" rtl="0" fontAlgn="ctr"/>
                      <a:r>
                        <a:rPr lang="en-US" sz="1400" b="0" i="0" u="none" strike="noStrike" dirty="0">
                          <a:solidFill>
                            <a:schemeClr val="tx1"/>
                          </a:solidFill>
                          <a:effectLst/>
                          <a:latin typeface="Avenir Next LT Pro" panose="020B0504020202020204" pitchFamily="34" charset="0"/>
                        </a:rPr>
                        <a:t>Shared Tenancy</a:t>
                      </a: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0" i="0" u="none" strike="noStrike" dirty="0">
                          <a:solidFill>
                            <a:schemeClr val="tx1"/>
                          </a:solidFill>
                          <a:effectLst/>
                          <a:latin typeface="Avenir Next LT Pro" panose="020B0504020202020204" pitchFamily="34" charset="0"/>
                        </a:rPr>
                        <a:t>$</a:t>
                      </a:r>
                      <a:r>
                        <a:rPr lang="en-US" sz="1400" b="0" i="0" u="none" strike="noStrike" dirty="0">
                          <a:solidFill>
                            <a:schemeClr val="tx1"/>
                          </a:solidFill>
                          <a:effectLst/>
                          <a:latin typeface="Avenir Next LT Pro" panose="020B0504020202020204" pitchFamily="34" charset="77"/>
                        </a:rPr>
                        <a:t>&lt;</a:t>
                      </a:r>
                      <a:r>
                        <a:rPr lang="en-US" sz="1400" b="0" i="0" u="none" strike="noStrike" dirty="0" err="1">
                          <a:solidFill>
                            <a:schemeClr val="tx1"/>
                          </a:solidFill>
                          <a:effectLst/>
                          <a:latin typeface="Avenir Next LT Pro" panose="020B0504020202020204" pitchFamily="34" charset="77"/>
                        </a:rPr>
                        <a:t>stc</a:t>
                      </a:r>
                      <a:r>
                        <a:rPr lang="en-US" sz="1400" b="0" i="0" u="none" strike="noStrike" dirty="0">
                          <a:solidFill>
                            <a:schemeClr val="tx1"/>
                          </a:solidFill>
                          <a:effectLst/>
                          <a:latin typeface="Avenir Next LT Pro" panose="020B0504020202020204" pitchFamily="34" charset="77"/>
                        </a:rPr>
                        <a:t>&gt;</a:t>
                      </a:r>
                      <a:endParaRPr lang="en-US" sz="14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0" i="0" u="none" strike="noStrike" dirty="0">
                          <a:solidFill>
                            <a:schemeClr val="tx1"/>
                          </a:solidFill>
                          <a:effectLst/>
                          <a:latin typeface="Avenir Next LT Pro" panose="020B0504020202020204" pitchFamily="34" charset="0"/>
                        </a:rPr>
                        <a:t>$</a:t>
                      </a:r>
                      <a:r>
                        <a:rPr lang="en-US" sz="1400" dirty="0">
                          <a:solidFill>
                            <a:schemeClr val="tx1"/>
                          </a:solidFill>
                          <a:latin typeface="Avenir Next LT Pro" panose="020B0504020202020204" pitchFamily="34" charset="77"/>
                        </a:rPr>
                        <a:t>&lt;</a:t>
                      </a:r>
                      <a:r>
                        <a:rPr lang="en-US" sz="1400" dirty="0" err="1">
                          <a:solidFill>
                            <a:schemeClr val="tx1"/>
                          </a:solidFill>
                          <a:latin typeface="Avenir Next LT Pro" panose="020B0504020202020204" pitchFamily="34" charset="77"/>
                        </a:rPr>
                        <a:t>sto</a:t>
                      </a:r>
                      <a:r>
                        <a:rPr lang="en-US" sz="1400" dirty="0">
                          <a:solidFill>
                            <a:schemeClr val="tx1"/>
                          </a:solidFill>
                          <a:latin typeface="Avenir Next LT Pro" panose="020B0504020202020204" pitchFamily="34" charset="77"/>
                        </a:rPr>
                        <a:t>&gt;</a:t>
                      </a:r>
                      <a:r>
                        <a:rPr lang="en-US" sz="14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0" i="0" u="none" strike="noStrike" dirty="0">
                          <a:solidFill>
                            <a:schemeClr val="tx1"/>
                          </a:solidFill>
                          <a:effectLst/>
                          <a:latin typeface="Avenir Next LT Pro" panose="020B0504020202020204" pitchFamily="34" charset="0"/>
                        </a:rPr>
                        <a:t>$</a:t>
                      </a:r>
                      <a:r>
                        <a:rPr lang="en-US" sz="1400" dirty="0">
                          <a:solidFill>
                            <a:schemeClr val="tx1"/>
                          </a:solidFill>
                          <a:latin typeface="Avenir Next LT Pro" panose="020B0504020202020204" pitchFamily="34" charset="77"/>
                        </a:rPr>
                        <a:t>&lt;net&gt;</a:t>
                      </a:r>
                      <a:endParaRPr lang="en-US" sz="1400" b="0" i="0" u="none" strike="noStrike" dirty="0">
                        <a:solidFill>
                          <a:schemeClr val="tx1"/>
                        </a:solidFill>
                        <a:effectLst/>
                        <a:latin typeface="Avenir Next LT Pro" panose="020B0504020202020204" pitchFamily="34" charset="0"/>
                      </a:endParaRP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1" i="0" u="none" strike="noStrike" dirty="0">
                          <a:solidFill>
                            <a:schemeClr val="tx1"/>
                          </a:solidFill>
                          <a:effectLst/>
                          <a:latin typeface="Avenir Next LT Pro" panose="020B0504020202020204" pitchFamily="34" charset="0"/>
                        </a:rPr>
                        <a:t>$91,000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755734"/>
                  </a:ext>
                </a:extLst>
              </a:tr>
              <a:tr h="552181">
                <a:tc>
                  <a:txBody>
                    <a:bodyPr/>
                    <a:lstStyle/>
                    <a:p>
                      <a:pPr algn="ctr" rtl="0" fontAlgn="ctr"/>
                      <a:r>
                        <a:rPr lang="en-US" sz="1400" b="0" i="0" u="none" strike="noStrike" dirty="0">
                          <a:solidFill>
                            <a:schemeClr val="tx1"/>
                          </a:solidFill>
                          <a:effectLst/>
                          <a:latin typeface="Avenir Next LT Pro" panose="020B0504020202020204" pitchFamily="34" charset="0"/>
                        </a:rPr>
                        <a:t>Mixed Tenancy</a:t>
                      </a: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0" i="0" u="none" strike="noStrike" dirty="0">
                          <a:solidFill>
                            <a:schemeClr val="tx1"/>
                          </a:solidFill>
                          <a:effectLst/>
                          <a:latin typeface="Avenir Next LT Pro" panose="020B0504020202020204" pitchFamily="34" charset="0"/>
                        </a:rPr>
                        <a:t>$</a:t>
                      </a:r>
                      <a:r>
                        <a:rPr lang="en-US" sz="1400" dirty="0">
                          <a:solidFill>
                            <a:schemeClr val="tx1"/>
                          </a:solidFill>
                          <a:latin typeface="Avenir Next LT Pro" panose="020B0504020202020204" pitchFamily="34" charset="77"/>
                        </a:rPr>
                        <a:t>&lt;</a:t>
                      </a:r>
                      <a:r>
                        <a:rPr lang="en-US" sz="1400" dirty="0" err="1">
                          <a:solidFill>
                            <a:schemeClr val="tx1"/>
                          </a:solidFill>
                          <a:latin typeface="Avenir Next LT Pro" panose="020B0504020202020204" pitchFamily="34" charset="77"/>
                        </a:rPr>
                        <a:t>mtc</a:t>
                      </a:r>
                      <a:r>
                        <a:rPr lang="en-US" sz="1400" dirty="0">
                          <a:solidFill>
                            <a:schemeClr val="tx1"/>
                          </a:solidFill>
                          <a:latin typeface="Avenir Next LT Pro" panose="020B0504020202020204" pitchFamily="34" charset="77"/>
                        </a:rPr>
                        <a:t>&gt;</a:t>
                      </a:r>
                      <a:endParaRPr lang="en-US" sz="14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0" i="0" u="none" strike="noStrike" dirty="0">
                          <a:solidFill>
                            <a:schemeClr val="tx1"/>
                          </a:solidFill>
                          <a:effectLst/>
                          <a:latin typeface="Avenir Next LT Pro" panose="020B0504020202020204" pitchFamily="34" charset="0"/>
                        </a:rPr>
                        <a:t>$</a:t>
                      </a:r>
                      <a:r>
                        <a:rPr lang="en-US" sz="1400" dirty="0">
                          <a:solidFill>
                            <a:schemeClr val="tx1"/>
                          </a:solidFill>
                          <a:latin typeface="Avenir Next LT Pro" panose="020B0504020202020204" pitchFamily="34" charset="77"/>
                        </a:rPr>
                        <a:t>&lt;</a:t>
                      </a:r>
                      <a:r>
                        <a:rPr lang="en-US" sz="1400" dirty="0" err="1">
                          <a:solidFill>
                            <a:schemeClr val="tx1"/>
                          </a:solidFill>
                          <a:latin typeface="Avenir Next LT Pro" panose="020B0504020202020204" pitchFamily="34" charset="77"/>
                        </a:rPr>
                        <a:t>sto</a:t>
                      </a:r>
                      <a:r>
                        <a:rPr lang="en-US" sz="1400" dirty="0">
                          <a:solidFill>
                            <a:schemeClr val="tx1"/>
                          </a:solidFill>
                          <a:latin typeface="Avenir Next LT Pro" panose="020B0504020202020204" pitchFamily="34" charset="77"/>
                        </a:rPr>
                        <a:t>&gt;</a:t>
                      </a:r>
                      <a:endParaRPr lang="en-US" sz="14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0" i="0" u="none" strike="noStrike" dirty="0">
                          <a:solidFill>
                            <a:schemeClr val="tx1"/>
                          </a:solidFill>
                          <a:effectLst/>
                          <a:latin typeface="Avenir Next LT Pro" panose="020B0504020202020204" pitchFamily="34" charset="0"/>
                        </a:rPr>
                        <a:t>$</a:t>
                      </a:r>
                      <a:r>
                        <a:rPr lang="en-US" sz="1400" dirty="0">
                          <a:solidFill>
                            <a:schemeClr val="tx1"/>
                          </a:solidFill>
                          <a:latin typeface="Avenir Next LT Pro" panose="020B0504020202020204" pitchFamily="34" charset="77"/>
                        </a:rPr>
                        <a:t>&lt;net&gt;</a:t>
                      </a:r>
                      <a:endParaRPr lang="en-US" sz="1400" b="0" i="0" u="none" strike="noStrike" dirty="0">
                        <a:solidFill>
                          <a:schemeClr val="tx1"/>
                        </a:solidFill>
                        <a:effectLst/>
                        <a:latin typeface="Avenir Next LT Pro" panose="020B0504020202020204" pitchFamily="34" charset="0"/>
                      </a:endParaRP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400" b="1" i="0" u="none" strike="noStrike" dirty="0">
                          <a:solidFill>
                            <a:schemeClr val="tx1"/>
                          </a:solidFill>
                          <a:effectLst/>
                          <a:latin typeface="Avenir Next LT Pro" panose="020B0504020202020204" pitchFamily="34" charset="0"/>
                        </a:rPr>
                        <a:t>$95,000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1523555825"/>
                  </a:ext>
                </a:extLst>
              </a:tr>
            </a:tbl>
          </a:graphicData>
        </a:graphic>
      </p:graphicFrame>
      <p:graphicFrame>
        <p:nvGraphicFramePr>
          <p:cNvPr id="7" name="Table 6">
            <a:extLst>
              <a:ext uri="{FF2B5EF4-FFF2-40B4-BE49-F238E27FC236}">
                <a16:creationId xmlns:a16="http://schemas.microsoft.com/office/drawing/2014/main" id="{E39AA541-634C-B153-0188-89F7C0F847F6}"/>
              </a:ext>
            </a:extLst>
          </p:cNvPr>
          <p:cNvGraphicFramePr>
            <a:graphicFrameLocks noGrp="1"/>
          </p:cNvGraphicFramePr>
          <p:nvPr>
            <p:extLst>
              <p:ext uri="{D42A27DB-BD31-4B8C-83A1-F6EECF244321}">
                <p14:modId xmlns:p14="http://schemas.microsoft.com/office/powerpoint/2010/main" val="1477603568"/>
              </p:ext>
            </p:extLst>
          </p:nvPr>
        </p:nvGraphicFramePr>
        <p:xfrm>
          <a:off x="612648" y="3236976"/>
          <a:ext cx="5632704" cy="2512695"/>
        </p:xfrm>
        <a:graphic>
          <a:graphicData uri="http://schemas.openxmlformats.org/drawingml/2006/table">
            <a:tbl>
              <a:tblPr/>
              <a:tblGrid>
                <a:gridCol w="2493628">
                  <a:extLst>
                    <a:ext uri="{9D8B030D-6E8A-4147-A177-3AD203B41FA5}">
                      <a16:colId xmlns:a16="http://schemas.microsoft.com/office/drawing/2014/main" val="1090200678"/>
                    </a:ext>
                  </a:extLst>
                </a:gridCol>
                <a:gridCol w="1901707">
                  <a:extLst>
                    <a:ext uri="{9D8B030D-6E8A-4147-A177-3AD203B41FA5}">
                      <a16:colId xmlns:a16="http://schemas.microsoft.com/office/drawing/2014/main" val="3757333865"/>
                    </a:ext>
                  </a:extLst>
                </a:gridCol>
                <a:gridCol w="1237369">
                  <a:extLst>
                    <a:ext uri="{9D8B030D-6E8A-4147-A177-3AD203B41FA5}">
                      <a16:colId xmlns:a16="http://schemas.microsoft.com/office/drawing/2014/main" val="4198816301"/>
                    </a:ext>
                  </a:extLst>
                </a:gridCol>
              </a:tblGrid>
              <a:tr h="412115">
                <a:tc gridSpan="3">
                  <a:txBody>
                    <a:bodyPr/>
                    <a:lstStyle/>
                    <a:p>
                      <a:pPr algn="l" fontAlgn="ctr"/>
                      <a:r>
                        <a:rPr lang="en-US" sz="2000" b="1" i="0" u="none" strike="noStrike" dirty="0">
                          <a:solidFill>
                            <a:schemeClr val="tx1"/>
                          </a:solidFill>
                          <a:effectLst/>
                          <a:latin typeface="Avenir Next LT Pro" panose="020B0504020202020204" pitchFamily="34" charset="0"/>
                        </a:rPr>
                        <a:t>BYOL Quantities</a:t>
                      </a:r>
                    </a:p>
                  </a:txBody>
                  <a:tcPr marL="0" marR="0" marT="0" marB="0" anchor="ctr">
                    <a:lnL>
                      <a:noFill/>
                    </a:lnL>
                    <a:lnR>
                      <a:noFill/>
                    </a:lnR>
                    <a:lnT>
                      <a:noFill/>
                    </a:lnT>
                    <a:lnB>
                      <a:no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4459756"/>
                  </a:ext>
                </a:extLst>
              </a:tr>
              <a:tr h="100330">
                <a:tc>
                  <a:txBody>
                    <a:bodyPr/>
                    <a:lstStyle/>
                    <a:p>
                      <a:pPr algn="l" fontAlgn="b"/>
                      <a:r>
                        <a:rPr lang="en-US" sz="1100" b="0" i="0" u="none" strike="noStrike" dirty="0">
                          <a:solidFill>
                            <a:srgbClr val="002060"/>
                          </a:solidFill>
                          <a:effectLst/>
                          <a:latin typeface="Avenir Next LT Pro" panose="020B0504020202020204" pitchFamily="34" charset="0"/>
                        </a:rPr>
                        <a:t> </a:t>
                      </a:r>
                    </a:p>
                  </a:txBody>
                  <a:tcPr marL="0" marR="0" marT="0" marB="0" anchor="b">
                    <a:lnL>
                      <a:noFill/>
                    </a:lnL>
                    <a:lnR>
                      <a:noFill/>
                    </a:lnR>
                    <a:lnT>
                      <a:noFill/>
                    </a:lnT>
                    <a:lnB>
                      <a:noFill/>
                    </a:lnB>
                    <a:noFill/>
                  </a:tcPr>
                </a:tc>
                <a:tc>
                  <a:txBody>
                    <a:bodyPr/>
                    <a:lstStyle/>
                    <a:p>
                      <a:pPr algn="ctr" fontAlgn="b"/>
                      <a:r>
                        <a:rPr lang="en-US" sz="1100" b="0" i="0" u="none" strike="noStrike">
                          <a:solidFill>
                            <a:srgbClr val="002060"/>
                          </a:solidFill>
                          <a:effectLst/>
                          <a:latin typeface="Avenir Next LT Pro" panose="020B0504020202020204" pitchFamily="34" charset="0"/>
                        </a:rPr>
                        <a:t> </a:t>
                      </a:r>
                    </a:p>
                  </a:txBody>
                  <a:tcPr marL="0" marR="0" marT="0" marB="0" anchor="b">
                    <a:lnL>
                      <a:noFill/>
                    </a:lnL>
                    <a:lnR>
                      <a:noFill/>
                    </a:lnR>
                    <a:lnT>
                      <a:noFill/>
                    </a:lnT>
                    <a:lnB>
                      <a:noFill/>
                    </a:lnB>
                    <a:noFill/>
                  </a:tcPr>
                </a:tc>
                <a:tc>
                  <a:txBody>
                    <a:bodyPr/>
                    <a:lstStyle/>
                    <a:p>
                      <a:pPr algn="ctr" fontAlgn="b"/>
                      <a:r>
                        <a:rPr lang="en-US" sz="1100" b="0" i="0" u="none" strike="noStrike" dirty="0">
                          <a:solidFill>
                            <a:srgbClr val="002060"/>
                          </a:solidFill>
                          <a:effectLst/>
                          <a:latin typeface="Avenir Next LT Pro" panose="020B0504020202020204" pitchFamily="34" charset="0"/>
                        </a:rPr>
                        <a:t> </a:t>
                      </a:r>
                    </a:p>
                  </a:txBody>
                  <a:tcPr marL="0" marR="0" marT="0" marB="0" anchor="b">
                    <a:lnL>
                      <a:noFill/>
                    </a:lnL>
                    <a:lnR>
                      <a:noFill/>
                    </a:lnR>
                    <a:lnT>
                      <a:noFill/>
                    </a:lnT>
                    <a:lnB>
                      <a:noFill/>
                    </a:lnB>
                    <a:noFill/>
                  </a:tcPr>
                </a:tc>
                <a:extLst>
                  <a:ext uri="{0D108BD9-81ED-4DB2-BD59-A6C34878D82A}">
                    <a16:rowId xmlns:a16="http://schemas.microsoft.com/office/drawing/2014/main" val="1110725382"/>
                  </a:ext>
                </a:extLst>
              </a:tr>
              <a:tr h="579120">
                <a:tc>
                  <a:txBody>
                    <a:bodyPr/>
                    <a:lstStyle/>
                    <a:p>
                      <a:pPr algn="ctr" fontAlgn="ctr"/>
                      <a:r>
                        <a:rPr lang="en-US" sz="1200" b="1" i="0" u="none" strike="noStrike" dirty="0">
                          <a:solidFill>
                            <a:schemeClr val="bg1"/>
                          </a:solidFill>
                          <a:effectLst/>
                          <a:latin typeface="Avenir Next LT Pro" panose="020B0504020202020204" pitchFamily="34" charset="0"/>
                        </a:rPr>
                        <a:t>Product</a:t>
                      </a:r>
                    </a:p>
                  </a:txBody>
                  <a:tcPr marL="0" marR="0" marT="0" marB="0" anchor="ctr">
                    <a:lnL>
                      <a:noFill/>
                    </a:lnL>
                    <a:lnR w="12700" cap="flat" cmpd="sng" algn="ctr">
                      <a:solidFill>
                        <a:srgbClr val="3B1A3D"/>
                      </a:solidFill>
                      <a:prstDash val="solid"/>
                      <a:round/>
                      <a:headEnd type="none" w="med" len="med"/>
                      <a:tailEnd type="none" w="med" len="med"/>
                    </a:lnR>
                    <a:lnT>
                      <a:noFill/>
                    </a:lnT>
                    <a:lnB>
                      <a:noFill/>
                    </a:lnB>
                    <a:solidFill>
                      <a:srgbClr val="3B1A3D"/>
                    </a:solidFill>
                  </a:tcPr>
                </a:tc>
                <a:tc>
                  <a:txBody>
                    <a:bodyPr/>
                    <a:lstStyle/>
                    <a:p>
                      <a:pPr algn="ctr" fontAlgn="ctr"/>
                      <a:r>
                        <a:rPr lang="en-US" sz="1200" b="1" i="0" u="none" strike="noStrike" dirty="0">
                          <a:solidFill>
                            <a:schemeClr val="bg1"/>
                          </a:solidFill>
                          <a:effectLst/>
                          <a:latin typeface="Avenir Next LT Pro" panose="020B0504020202020204" pitchFamily="34" charset="0"/>
                        </a:rPr>
                        <a:t>Shared Tenancy</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solidFill>
                      <a:srgbClr val="3B1A3D"/>
                    </a:solidFill>
                  </a:tcPr>
                </a:tc>
                <a:tc>
                  <a:txBody>
                    <a:bodyPr/>
                    <a:lstStyle/>
                    <a:p>
                      <a:pPr algn="ctr" fontAlgn="ctr"/>
                      <a:r>
                        <a:rPr lang="en-US" sz="1200" b="1" i="0" u="none" strike="noStrike" dirty="0">
                          <a:solidFill>
                            <a:schemeClr val="bg1"/>
                          </a:solidFill>
                          <a:effectLst/>
                          <a:latin typeface="Avenir Next LT Pro" panose="020B0504020202020204" pitchFamily="34" charset="0"/>
                        </a:rPr>
                        <a:t>Mixed Tenancy</a:t>
                      </a:r>
                    </a:p>
                  </a:txBody>
                  <a:tcPr marL="0" marR="0" marT="0" marB="0" anchor="ctr">
                    <a:lnL w="12700" cap="flat" cmpd="sng" algn="ctr">
                      <a:solidFill>
                        <a:srgbClr val="3B1A3D"/>
                      </a:solidFill>
                      <a:prstDash val="solid"/>
                      <a:round/>
                      <a:headEnd type="none" w="med" len="med"/>
                      <a:tailEnd type="none" w="med" len="med"/>
                    </a:lnL>
                    <a:lnR>
                      <a:noFill/>
                    </a:lnR>
                    <a:lnT>
                      <a:noFill/>
                    </a:lnT>
                    <a:lnB>
                      <a:noFill/>
                    </a:lnB>
                    <a:solidFill>
                      <a:srgbClr val="3B1A3D"/>
                    </a:solidFill>
                  </a:tcPr>
                </a:tc>
                <a:extLst>
                  <a:ext uri="{0D108BD9-81ED-4DB2-BD59-A6C34878D82A}">
                    <a16:rowId xmlns:a16="http://schemas.microsoft.com/office/drawing/2014/main" val="1350370952"/>
                  </a:ext>
                </a:extLst>
              </a:tr>
              <a:tr h="290830">
                <a:tc>
                  <a:txBody>
                    <a:bodyPr/>
                    <a:lstStyle/>
                    <a:p>
                      <a:pPr algn="ctr" fontAlgn="ctr"/>
                      <a:r>
                        <a:rPr lang="en-US" sz="1100" b="0" i="0" u="none" strike="noStrike" dirty="0">
                          <a:solidFill>
                            <a:schemeClr val="tx1"/>
                          </a:solidFill>
                          <a:effectLst/>
                          <a:latin typeface="Avenir Next LT Pro" panose="020B0504020202020204" pitchFamily="34" charset="0"/>
                        </a:rPr>
                        <a:t>Win Server Datacenter Cores</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noFill/>
                  </a:tcPr>
                </a:tc>
                <a:tc>
                  <a:txBody>
                    <a:bodyPr/>
                    <a:lstStyle/>
                    <a:p>
                      <a:pPr algn="ctr" fontAlgn="ctr"/>
                      <a:r>
                        <a:rPr lang="en-US" sz="1100" b="0" i="0" u="none" strike="noStrike" dirty="0">
                          <a:solidFill>
                            <a:schemeClr val="tx1"/>
                          </a:solidFill>
                          <a:effectLst/>
                          <a:latin typeface="Avenir Next LT Pro" panose="020B0504020202020204" pitchFamily="34" charset="0"/>
                        </a:rPr>
                        <a:t>n/a - Win License Included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noFill/>
                  </a:tcPr>
                </a:tc>
                <a:tc>
                  <a:txBody>
                    <a:bodyPr/>
                    <a:lstStyle/>
                    <a:p>
                      <a:pPr algn="ctr" fontAlgn="ctr"/>
                      <a:r>
                        <a:rPr lang="en-US" sz="1100" dirty="0">
                          <a:solidFill>
                            <a:schemeClr val="tx1"/>
                          </a:solidFill>
                          <a:latin typeface="Avenir Next LT Pro" panose="020B0504020202020204" pitchFamily="34" charset="77"/>
                        </a:rPr>
                        <a:t>64</a:t>
                      </a:r>
                      <a:endParaRPr lang="en-US" sz="11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a:noFill/>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825152895"/>
                  </a:ext>
                </a:extLst>
              </a:tr>
              <a:tr h="290830">
                <a:tc>
                  <a:txBody>
                    <a:bodyPr/>
                    <a:lstStyle/>
                    <a:p>
                      <a:pPr algn="ctr" fontAlgn="ctr"/>
                      <a:r>
                        <a:rPr lang="en-US" sz="1100" b="0" i="0" u="none" strike="noStrike" dirty="0">
                          <a:solidFill>
                            <a:schemeClr val="tx1"/>
                          </a:solidFill>
                          <a:effectLst/>
                          <a:latin typeface="Avenir Next LT Pro" panose="020B0504020202020204" pitchFamily="34" charset="0"/>
                        </a:rPr>
                        <a:t>Win Server Standard Cores</a:t>
                      </a: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fontAlgn="ctr"/>
                      <a:r>
                        <a:rPr lang="en-US" sz="1100" b="0" i="0" u="none" strike="noStrike" dirty="0">
                          <a:solidFill>
                            <a:schemeClr val="tx1"/>
                          </a:solidFill>
                          <a:effectLst/>
                          <a:latin typeface="Avenir Next LT Pro" panose="020B0504020202020204" pitchFamily="34" charset="0"/>
                        </a:rPr>
                        <a:t>n/a - Win License Included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fontAlgn="ctr"/>
                      <a:r>
                        <a:rPr lang="en-US" sz="1100" dirty="0">
                          <a:solidFill>
                            <a:schemeClr val="tx1"/>
                          </a:solidFill>
                          <a:latin typeface="Avenir Next LT Pro" panose="020B0504020202020204" pitchFamily="34" charset="77"/>
                        </a:rPr>
                        <a:t>0</a:t>
                      </a:r>
                      <a:endParaRPr lang="en-US" sz="11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1021192928"/>
                  </a:ext>
                </a:extLst>
              </a:tr>
              <a:tr h="290830">
                <a:tc>
                  <a:txBody>
                    <a:bodyPr/>
                    <a:lstStyle/>
                    <a:p>
                      <a:pPr algn="ctr" fontAlgn="ctr"/>
                      <a:r>
                        <a:rPr lang="en-US" sz="1100" b="0" i="0" u="none" strike="noStrike" dirty="0">
                          <a:solidFill>
                            <a:schemeClr val="tx1"/>
                          </a:solidFill>
                          <a:effectLst/>
                          <a:latin typeface="Avenir Next LT Pro" panose="020B0504020202020204" pitchFamily="34" charset="0"/>
                        </a:rPr>
                        <a:t>SQL Enterprise Cores</a:t>
                      </a: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fontAlgn="ctr"/>
                      <a:r>
                        <a:rPr lang="en-US" sz="1100" dirty="0">
                          <a:solidFill>
                            <a:schemeClr val="tx1"/>
                          </a:solidFill>
                          <a:latin typeface="Avenir Next LT Pro" panose="020B0504020202020204" pitchFamily="34" charset="77"/>
                        </a:rPr>
                        <a:t>0</a:t>
                      </a:r>
                      <a:endParaRPr lang="en-US" sz="11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fontAlgn="ctr"/>
                      <a:r>
                        <a:rPr lang="en-US" sz="1100" dirty="0">
                          <a:solidFill>
                            <a:schemeClr val="tx1"/>
                          </a:solidFill>
                          <a:latin typeface="Avenir Next LT Pro" panose="020B0504020202020204" pitchFamily="34" charset="77"/>
                        </a:rPr>
                        <a:t>0</a:t>
                      </a:r>
                      <a:endParaRPr lang="en-US" sz="11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224027958"/>
                  </a:ext>
                </a:extLst>
              </a:tr>
              <a:tr h="290830">
                <a:tc>
                  <a:txBody>
                    <a:bodyPr/>
                    <a:lstStyle/>
                    <a:p>
                      <a:pPr algn="ctr" fontAlgn="ctr"/>
                      <a:r>
                        <a:rPr lang="en-US" sz="1100" b="0" i="0" u="none" strike="noStrike" dirty="0">
                          <a:solidFill>
                            <a:schemeClr val="tx1"/>
                          </a:solidFill>
                          <a:effectLst/>
                          <a:latin typeface="Avenir Next LT Pro" panose="020B0504020202020204" pitchFamily="34" charset="0"/>
                        </a:rPr>
                        <a:t>SQL Standard Cores</a:t>
                      </a:r>
                    </a:p>
                  </a:txBody>
                  <a:tcPr marL="0"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fontAlgn="ctr"/>
                      <a:r>
                        <a:rPr lang="en-US" sz="1100" dirty="0">
                          <a:solidFill>
                            <a:schemeClr val="tx1"/>
                          </a:solidFill>
                          <a:latin typeface="Avenir Next LT Pro" panose="020B0504020202020204" pitchFamily="34" charset="77"/>
                        </a:rPr>
                        <a:t>20</a:t>
                      </a:r>
                      <a:endParaRPr lang="en-US" sz="11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fontAlgn="ctr"/>
                      <a:r>
                        <a:rPr lang="en-US" sz="1100" dirty="0">
                          <a:solidFill>
                            <a:schemeClr val="tx1"/>
                          </a:solidFill>
                          <a:latin typeface="Avenir Next LT Pro" panose="020B0504020202020204" pitchFamily="34" charset="77"/>
                        </a:rPr>
                        <a:t>20</a:t>
                      </a:r>
                      <a:endParaRPr lang="en-US" sz="11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130125822"/>
                  </a:ext>
                </a:extLst>
              </a:tr>
              <a:tr h="190500">
                <a:tc gridSpan="3">
                  <a:txBody>
                    <a:bodyPr/>
                    <a:lstStyle/>
                    <a:p>
                      <a:pPr algn="l" fontAlgn="ctr"/>
                      <a:r>
                        <a:rPr lang="en-US" sz="1100" b="0" i="0" u="none" strike="noStrike" dirty="0">
                          <a:solidFill>
                            <a:schemeClr val="tx1"/>
                          </a:solidFill>
                          <a:effectLst/>
                          <a:latin typeface="Avenir Next LT Pro" panose="020B0504020202020204" pitchFamily="34" charset="0"/>
                        </a:rPr>
                        <a:t>*Cores are listed as total cores, NOT core packs</a:t>
                      </a:r>
                    </a:p>
                  </a:txBody>
                  <a:tcPr marL="0" marR="0" marT="0" marB="0" anchor="ctr">
                    <a:lnL>
                      <a:noFill/>
                    </a:lnL>
                    <a:lnR>
                      <a:noFill/>
                    </a:lnR>
                    <a:lnT w="12700" cap="flat" cmpd="sng" algn="ctr">
                      <a:solidFill>
                        <a:srgbClr val="3B1A3D"/>
                      </a:solidFill>
                      <a:prstDash val="solid"/>
                      <a:round/>
                      <a:headEnd type="none" w="med" len="med"/>
                      <a:tailEnd type="none" w="med" len="med"/>
                    </a:lnT>
                    <a:lnB>
                      <a:noFill/>
                    </a:lnB>
                    <a:noFill/>
                  </a:tcPr>
                </a:tc>
                <a:tc hMerge="1">
                  <a:txBody>
                    <a:bodyPr/>
                    <a:lstStyle/>
                    <a:p>
                      <a:endParaRPr lang="en-US" dirty="0"/>
                    </a:p>
                  </a:txBody>
                  <a:tcPr/>
                </a:tc>
                <a:tc hMerge="1">
                  <a:txBody>
                    <a:bodyPr/>
                    <a:lstStyle/>
                    <a:p>
                      <a:endParaRPr lang="en-US"/>
                    </a:p>
                  </a:txBody>
                  <a:tcPr/>
                </a:tc>
                <a:extLst>
                  <a:ext uri="{0D108BD9-81ED-4DB2-BD59-A6C34878D82A}">
                    <a16:rowId xmlns:a16="http://schemas.microsoft.com/office/drawing/2014/main" val="1548076151"/>
                  </a:ext>
                </a:extLst>
              </a:tr>
            </a:tbl>
          </a:graphicData>
        </a:graphic>
      </p:graphicFrame>
      <p:graphicFrame>
        <p:nvGraphicFramePr>
          <p:cNvPr id="5" name="Table 4">
            <a:extLst>
              <a:ext uri="{FF2B5EF4-FFF2-40B4-BE49-F238E27FC236}">
                <a16:creationId xmlns:a16="http://schemas.microsoft.com/office/drawing/2014/main" id="{69CB1598-414B-F1C0-A15A-E133A67B941A}"/>
              </a:ext>
            </a:extLst>
          </p:cNvPr>
          <p:cNvGraphicFramePr>
            <a:graphicFrameLocks noGrp="1"/>
          </p:cNvGraphicFramePr>
          <p:nvPr>
            <p:extLst>
              <p:ext uri="{D42A27DB-BD31-4B8C-83A1-F6EECF244321}">
                <p14:modId xmlns:p14="http://schemas.microsoft.com/office/powerpoint/2010/main" val="4173416074"/>
              </p:ext>
            </p:extLst>
          </p:nvPr>
        </p:nvGraphicFramePr>
        <p:xfrm>
          <a:off x="6858000" y="3017520"/>
          <a:ext cx="5065776" cy="3383281"/>
        </p:xfrm>
        <a:graphic>
          <a:graphicData uri="http://schemas.openxmlformats.org/drawingml/2006/table">
            <a:tbl>
              <a:tblPr/>
              <a:tblGrid>
                <a:gridCol w="5065776">
                  <a:extLst>
                    <a:ext uri="{9D8B030D-6E8A-4147-A177-3AD203B41FA5}">
                      <a16:colId xmlns:a16="http://schemas.microsoft.com/office/drawing/2014/main" val="2068848503"/>
                    </a:ext>
                  </a:extLst>
                </a:gridCol>
              </a:tblGrid>
              <a:tr h="264834">
                <a:tc>
                  <a:txBody>
                    <a:bodyPr/>
                    <a:lstStyle/>
                    <a:p>
                      <a:pPr algn="l" rtl="0" fontAlgn="ctr"/>
                      <a:r>
                        <a:rPr lang="en-US" sz="1400" b="1" i="0" u="none" strike="noStrike" dirty="0">
                          <a:solidFill>
                            <a:schemeClr val="tx1"/>
                          </a:solidFill>
                          <a:effectLst/>
                          <a:latin typeface="Avenir Next LT Pro" panose="020B0504020202020204" pitchFamily="34" charset="0"/>
                        </a:rPr>
                        <a:t>Modeling:</a:t>
                      </a:r>
                    </a:p>
                  </a:txBody>
                  <a:tcPr marL="0" marR="0" marT="0" marB="0" anchor="ctr">
                    <a:lnL>
                      <a:noFill/>
                    </a:lnL>
                    <a:lnR>
                      <a:noFill/>
                    </a:lnR>
                    <a:lnT>
                      <a:noFill/>
                    </a:lnT>
                    <a:lnB>
                      <a:noFill/>
                    </a:lnB>
                    <a:noFill/>
                  </a:tcPr>
                </a:tc>
                <a:extLst>
                  <a:ext uri="{0D108BD9-81ED-4DB2-BD59-A6C34878D82A}">
                    <a16:rowId xmlns:a16="http://schemas.microsoft.com/office/drawing/2014/main" val="388181183"/>
                  </a:ext>
                </a:extLst>
              </a:tr>
              <a:tr h="264834">
                <a:tc>
                  <a:txBody>
                    <a:bodyPr/>
                    <a:lstStyle/>
                    <a:p>
                      <a:pPr algn="l" rtl="0" fontAlgn="ctr"/>
                      <a:r>
                        <a:rPr lang="en-US" sz="1200" b="0" i="0" u="none" strike="noStrike" dirty="0">
                          <a:solidFill>
                            <a:schemeClr val="tx1"/>
                          </a:solidFill>
                          <a:effectLst/>
                          <a:latin typeface="Avenir Next LT Pro" panose="020B0504020202020204" pitchFamily="34" charset="0"/>
                        </a:rPr>
                        <a:t>•  Pricing Model: Reserved instances, 3 years, no upfront</a:t>
                      </a:r>
                    </a:p>
                  </a:txBody>
                  <a:tcPr marL="0" marR="0" marT="0" marB="0" anchor="ctr">
                    <a:lnL>
                      <a:noFill/>
                    </a:lnL>
                    <a:lnR>
                      <a:noFill/>
                    </a:lnR>
                    <a:lnT>
                      <a:noFill/>
                    </a:lnT>
                    <a:lnB>
                      <a:noFill/>
                    </a:lnB>
                    <a:noFill/>
                  </a:tcPr>
                </a:tc>
                <a:extLst>
                  <a:ext uri="{0D108BD9-81ED-4DB2-BD59-A6C34878D82A}">
                    <a16:rowId xmlns:a16="http://schemas.microsoft.com/office/drawing/2014/main" val="4044454203"/>
                  </a:ext>
                </a:extLst>
              </a:tr>
              <a:tr h="264834">
                <a:tc>
                  <a:txBody>
                    <a:bodyPr/>
                    <a:lstStyle/>
                    <a:p>
                      <a:pPr algn="l" rtl="0" fontAlgn="ctr"/>
                      <a:r>
                        <a:rPr lang="en-US" sz="1200" b="0" i="0" u="none" strike="noStrike" dirty="0">
                          <a:solidFill>
                            <a:schemeClr val="tx1"/>
                          </a:solidFill>
                          <a:effectLst/>
                          <a:latin typeface="Avenir Next LT Pro" panose="020B0504020202020204" pitchFamily="34" charset="0"/>
                        </a:rPr>
                        <a:t>•  Region-London; Currency-USD</a:t>
                      </a:r>
                    </a:p>
                  </a:txBody>
                  <a:tcPr marL="0" marR="0" marT="0" marB="0" anchor="ctr">
                    <a:lnL>
                      <a:noFill/>
                    </a:lnL>
                    <a:lnR>
                      <a:noFill/>
                    </a:lnR>
                    <a:lnT>
                      <a:noFill/>
                    </a:lnT>
                    <a:lnB>
                      <a:noFill/>
                    </a:lnB>
                    <a:noFill/>
                  </a:tcPr>
                </a:tc>
                <a:extLst>
                  <a:ext uri="{0D108BD9-81ED-4DB2-BD59-A6C34878D82A}">
                    <a16:rowId xmlns:a16="http://schemas.microsoft.com/office/drawing/2014/main" val="668263602"/>
                  </a:ext>
                </a:extLst>
              </a:tr>
              <a:tr h="264834">
                <a:tc>
                  <a:txBody>
                    <a:bodyPr/>
                    <a:lstStyle/>
                    <a:p>
                      <a:pPr algn="l" rtl="0" fontAlgn="ctr"/>
                      <a:r>
                        <a:rPr lang="en-US" sz="1200" b="0" i="0" u="none" strike="noStrike">
                          <a:solidFill>
                            <a:schemeClr val="tx1"/>
                          </a:solidFill>
                          <a:effectLst/>
                          <a:latin typeface="Avenir Next LT Pro" panose="020B0504020202020204" pitchFamily="34" charset="0"/>
                        </a:rPr>
                        <a:t>•  Storage Assumptions:</a:t>
                      </a:r>
                    </a:p>
                  </a:txBody>
                  <a:tcPr marL="0" marR="0" marT="0" marB="0" anchor="ctr">
                    <a:lnL>
                      <a:noFill/>
                    </a:lnL>
                    <a:lnR>
                      <a:noFill/>
                    </a:lnR>
                    <a:lnT>
                      <a:noFill/>
                    </a:lnT>
                    <a:lnB>
                      <a:noFill/>
                    </a:lnB>
                    <a:noFill/>
                  </a:tcPr>
                </a:tc>
                <a:extLst>
                  <a:ext uri="{0D108BD9-81ED-4DB2-BD59-A6C34878D82A}">
                    <a16:rowId xmlns:a16="http://schemas.microsoft.com/office/drawing/2014/main" val="2984730061"/>
                  </a:ext>
                </a:extLst>
              </a:tr>
              <a:tr h="403611">
                <a:tc>
                  <a:txBody>
                    <a:bodyPr/>
                    <a:lstStyle/>
                    <a:p>
                      <a:pPr algn="l" rtl="0" fontAlgn="ctr"/>
                      <a:r>
                        <a:rPr lang="en-US" sz="1200" b="0" i="0" u="none" strike="noStrike" dirty="0">
                          <a:solidFill>
                            <a:schemeClr val="tx1"/>
                          </a:solidFill>
                          <a:effectLst/>
                          <a:latin typeface="Avenir Next LT Pro" panose="020B0504020202020204" pitchFamily="34" charset="0"/>
                        </a:rPr>
                        <a:t>•  Storage Utilization = 100% of Provisioned Storage</a:t>
                      </a:r>
                    </a:p>
                  </a:txBody>
                  <a:tcPr marL="257175" marR="0" marT="0" marB="0" anchor="ctr">
                    <a:lnL>
                      <a:noFill/>
                    </a:lnL>
                    <a:lnR>
                      <a:noFill/>
                    </a:lnR>
                    <a:lnT>
                      <a:noFill/>
                    </a:lnT>
                    <a:lnB>
                      <a:noFill/>
                    </a:lnB>
                    <a:noFill/>
                  </a:tcPr>
                </a:tc>
                <a:extLst>
                  <a:ext uri="{0D108BD9-81ED-4DB2-BD59-A6C34878D82A}">
                    <a16:rowId xmlns:a16="http://schemas.microsoft.com/office/drawing/2014/main" val="2716301739"/>
                  </a:ext>
                </a:extLst>
              </a:tr>
              <a:tr h="583444">
                <a:tc>
                  <a:txBody>
                    <a:bodyPr/>
                    <a:lstStyle/>
                    <a:p>
                      <a:pPr algn="l" rtl="0" fontAlgn="ctr"/>
                      <a:r>
                        <a:rPr lang="en-US" sz="1200" b="0" i="0" u="none" strike="noStrike" dirty="0">
                          <a:solidFill>
                            <a:schemeClr val="tx1"/>
                          </a:solidFill>
                          <a:effectLst/>
                          <a:latin typeface="Avenir Next LT Pro" panose="020B0504020202020204" pitchFamily="34" charset="0"/>
                        </a:rPr>
                        <a:t>•  All Amazon EBS volumes are modeled to General Purpose SSD </a:t>
                      </a:r>
                      <a:br>
                        <a:rPr lang="en-US" sz="1200" b="0" i="0" u="none" strike="noStrike" dirty="0">
                          <a:solidFill>
                            <a:schemeClr val="tx1"/>
                          </a:solidFill>
                          <a:effectLst/>
                          <a:latin typeface="Avenir Next LT Pro" panose="020B0504020202020204" pitchFamily="34" charset="0"/>
                        </a:rPr>
                      </a:br>
                      <a:r>
                        <a:rPr lang="en-US" sz="1200" b="0" i="0" u="none" strike="noStrike" dirty="0">
                          <a:solidFill>
                            <a:schemeClr val="tx1"/>
                          </a:solidFill>
                          <a:effectLst/>
                          <a:latin typeface="Avenir Next LT Pro" panose="020B0504020202020204" pitchFamily="34" charset="0"/>
                        </a:rPr>
                        <a:t>   (gp3) with baseline performance of 3000 IOPS &amp; 125 </a:t>
                      </a:r>
                      <a:r>
                        <a:rPr lang="en-US" sz="1200" b="0" i="0" u="none" strike="noStrike" dirty="0" err="1">
                          <a:solidFill>
                            <a:schemeClr val="tx1"/>
                          </a:solidFill>
                          <a:effectLst/>
                          <a:latin typeface="Avenir Next LT Pro" panose="020B0504020202020204" pitchFamily="34" charset="0"/>
                        </a:rPr>
                        <a:t>MBps</a:t>
                      </a:r>
                      <a:r>
                        <a:rPr lang="en-US" sz="1200" b="0" i="0" u="none" strike="noStrike" dirty="0">
                          <a:solidFill>
                            <a:schemeClr val="tx1"/>
                          </a:solidFill>
                          <a:effectLst/>
                          <a:latin typeface="Avenir Next LT Pro" panose="020B0504020202020204" pitchFamily="34" charset="0"/>
                        </a:rPr>
                        <a:t> </a:t>
                      </a:r>
                      <a:br>
                        <a:rPr lang="en-US" sz="1200" b="0" i="0" u="none" strike="noStrike" dirty="0">
                          <a:solidFill>
                            <a:schemeClr val="tx1"/>
                          </a:solidFill>
                          <a:effectLst/>
                          <a:latin typeface="Avenir Next LT Pro" panose="020B0504020202020204" pitchFamily="34" charset="0"/>
                        </a:rPr>
                      </a:br>
                      <a:r>
                        <a:rPr lang="en-US" sz="1200" b="0" i="0" u="none" strike="noStrike" dirty="0">
                          <a:solidFill>
                            <a:schemeClr val="tx1"/>
                          </a:solidFill>
                          <a:effectLst/>
                          <a:latin typeface="Avenir Next LT Pro" panose="020B0504020202020204" pitchFamily="34" charset="0"/>
                        </a:rPr>
                        <a:t>   throughput for SSD.</a:t>
                      </a:r>
                    </a:p>
                  </a:txBody>
                  <a:tcPr marL="257175" marR="0" marT="0" marB="0" anchor="ctr">
                    <a:lnL>
                      <a:noFill/>
                    </a:lnL>
                    <a:lnR>
                      <a:noFill/>
                    </a:lnR>
                    <a:lnT>
                      <a:noFill/>
                    </a:lnT>
                    <a:lnB>
                      <a:noFill/>
                    </a:lnB>
                    <a:noFill/>
                  </a:tcPr>
                </a:tc>
                <a:extLst>
                  <a:ext uri="{0D108BD9-81ED-4DB2-BD59-A6C34878D82A}">
                    <a16:rowId xmlns:a16="http://schemas.microsoft.com/office/drawing/2014/main" val="3704920735"/>
                  </a:ext>
                </a:extLst>
              </a:tr>
              <a:tr h="403611">
                <a:tc>
                  <a:txBody>
                    <a:bodyPr/>
                    <a:lstStyle/>
                    <a:p>
                      <a:pPr algn="l" rtl="0" fontAlgn="ctr"/>
                      <a:r>
                        <a:rPr lang="en-US" sz="1200" b="0" i="0" u="none" strike="noStrike" dirty="0">
                          <a:solidFill>
                            <a:schemeClr val="tx1"/>
                          </a:solidFill>
                          <a:effectLst/>
                          <a:latin typeface="Avenir Next LT Pro" panose="020B0504020202020204" pitchFamily="34" charset="0"/>
                        </a:rPr>
                        <a:t>•  Networking Assumptions = 10% of base compute Shared Tenancy 1 YR NUSP costs</a:t>
                      </a:r>
                    </a:p>
                  </a:txBody>
                  <a:tcPr marL="0" marR="0" marT="0" marB="0" anchor="ctr">
                    <a:lnL>
                      <a:noFill/>
                    </a:lnL>
                    <a:lnR>
                      <a:noFill/>
                    </a:lnR>
                    <a:lnT>
                      <a:noFill/>
                    </a:lnT>
                    <a:lnB>
                      <a:noFill/>
                    </a:lnB>
                    <a:noFill/>
                  </a:tcPr>
                </a:tc>
                <a:extLst>
                  <a:ext uri="{0D108BD9-81ED-4DB2-BD59-A6C34878D82A}">
                    <a16:rowId xmlns:a16="http://schemas.microsoft.com/office/drawing/2014/main" val="4186087070"/>
                  </a:ext>
                </a:extLst>
              </a:tr>
              <a:tr h="264834">
                <a:tc>
                  <a:txBody>
                    <a:bodyPr/>
                    <a:lstStyle/>
                    <a:p>
                      <a:pPr algn="l" rtl="0" fontAlgn="ctr"/>
                      <a:r>
                        <a:rPr lang="en-US" sz="1200" b="0" i="0" u="none" strike="noStrike" dirty="0">
                          <a:solidFill>
                            <a:schemeClr val="tx1"/>
                          </a:solidFill>
                          <a:effectLst/>
                          <a:latin typeface="Avenir Next LT Pro" panose="020B0504020202020204" pitchFamily="34" charset="0"/>
                        </a:rPr>
                        <a:t>•  Licensing:</a:t>
                      </a:r>
                    </a:p>
                  </a:txBody>
                  <a:tcPr marL="0" marR="0" marT="0" marB="0" anchor="ctr">
                    <a:lnL>
                      <a:noFill/>
                    </a:lnL>
                    <a:lnR>
                      <a:noFill/>
                    </a:lnR>
                    <a:lnT>
                      <a:noFill/>
                    </a:lnT>
                    <a:lnB>
                      <a:noFill/>
                    </a:lnB>
                    <a:noFill/>
                  </a:tcPr>
                </a:tc>
                <a:extLst>
                  <a:ext uri="{0D108BD9-81ED-4DB2-BD59-A6C34878D82A}">
                    <a16:rowId xmlns:a16="http://schemas.microsoft.com/office/drawing/2014/main" val="2520177591"/>
                  </a:ext>
                </a:extLst>
              </a:tr>
              <a:tr h="403611">
                <a:tc>
                  <a:txBody>
                    <a:bodyPr/>
                    <a:lstStyle/>
                    <a:p>
                      <a:pPr algn="l" rtl="0" fontAlgn="ctr"/>
                      <a:r>
                        <a:rPr lang="en-US" sz="1200" b="0" i="0" u="none" strike="noStrike" dirty="0">
                          <a:solidFill>
                            <a:schemeClr val="tx1"/>
                          </a:solidFill>
                          <a:effectLst/>
                          <a:latin typeface="Avenir Next LT Pro" panose="020B0504020202020204" pitchFamily="34" charset="0"/>
                        </a:rPr>
                        <a:t>•  Windows: License Included</a:t>
                      </a:r>
                    </a:p>
                  </a:txBody>
                  <a:tcPr marL="257175" marR="0" marT="0" marB="0" anchor="ctr">
                    <a:lnL>
                      <a:noFill/>
                    </a:lnL>
                    <a:lnR>
                      <a:noFill/>
                    </a:lnR>
                    <a:lnT>
                      <a:noFill/>
                    </a:lnT>
                    <a:lnB>
                      <a:noFill/>
                    </a:lnB>
                    <a:noFill/>
                  </a:tcPr>
                </a:tc>
                <a:extLst>
                  <a:ext uri="{0D108BD9-81ED-4DB2-BD59-A6C34878D82A}">
                    <a16:rowId xmlns:a16="http://schemas.microsoft.com/office/drawing/2014/main" val="2888984196"/>
                  </a:ext>
                </a:extLst>
              </a:tr>
              <a:tr h="264834">
                <a:tc>
                  <a:txBody>
                    <a:bodyPr/>
                    <a:lstStyle/>
                    <a:p>
                      <a:pPr algn="l" rtl="0" fontAlgn="ctr"/>
                      <a:r>
                        <a:rPr lang="en-US" sz="1200" b="0" i="0" u="none" strike="noStrike" dirty="0">
                          <a:solidFill>
                            <a:schemeClr val="tx1"/>
                          </a:solidFill>
                          <a:effectLst/>
                          <a:latin typeface="Avenir Next LT Pro" panose="020B0504020202020204" pitchFamily="34" charset="0"/>
                        </a:rPr>
                        <a:t>•  SQL: Bring Your Own License (BYOL)</a:t>
                      </a:r>
                    </a:p>
                  </a:txBody>
                  <a:tcPr marL="257175" marR="0" marT="0" marB="0" anchor="ctr">
                    <a:lnL>
                      <a:noFill/>
                    </a:lnL>
                    <a:lnR>
                      <a:noFill/>
                    </a:lnR>
                    <a:lnT>
                      <a:noFill/>
                    </a:lnT>
                    <a:lnB>
                      <a:noFill/>
                    </a:lnB>
                    <a:noFill/>
                  </a:tcPr>
                </a:tc>
                <a:extLst>
                  <a:ext uri="{0D108BD9-81ED-4DB2-BD59-A6C34878D82A}">
                    <a16:rowId xmlns:a16="http://schemas.microsoft.com/office/drawing/2014/main" val="1515774311"/>
                  </a:ext>
                </a:extLst>
              </a:tr>
            </a:tbl>
          </a:graphicData>
        </a:graphic>
      </p:graphicFrame>
    </p:spTree>
    <p:extLst>
      <p:ext uri="{BB962C8B-B14F-4D97-AF65-F5344CB8AC3E}">
        <p14:creationId xmlns:p14="http://schemas.microsoft.com/office/powerpoint/2010/main" val="1436711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7D2A-2B5C-4A44-73EB-E3C64440C3E1}"/>
              </a:ext>
            </a:extLst>
          </p:cNvPr>
          <p:cNvSpPr>
            <a:spLocks noGrp="1"/>
          </p:cNvSpPr>
          <p:nvPr>
            <p:ph type="title"/>
          </p:nvPr>
        </p:nvSpPr>
        <p:spPr/>
        <p:txBody>
          <a:bodyPr/>
          <a:lstStyle/>
          <a:p>
            <a:r>
              <a:rPr lang="en-GB" sz="2800" dirty="0">
                <a:solidFill>
                  <a:srgbClr val="472566"/>
                </a:solidFill>
                <a:latin typeface="Avenir Next LT Pro Demi" panose="020B0704020202020204" pitchFamily="34" charset="0"/>
              </a:rPr>
              <a:t>Graviton for Linux Servers</a:t>
            </a:r>
          </a:p>
        </p:txBody>
      </p:sp>
      <p:graphicFrame>
        <p:nvGraphicFramePr>
          <p:cNvPr id="11" name="Table 2">
            <a:extLst>
              <a:ext uri="{FF2B5EF4-FFF2-40B4-BE49-F238E27FC236}">
                <a16:creationId xmlns:a16="http://schemas.microsoft.com/office/drawing/2014/main" id="{ACAC0FAB-3BFB-0F9A-5BD8-58C513BD5B6E}"/>
              </a:ext>
            </a:extLst>
          </p:cNvPr>
          <p:cNvGraphicFramePr>
            <a:graphicFrameLocks noGrp="1"/>
          </p:cNvGraphicFramePr>
          <p:nvPr>
            <p:extLst>
              <p:ext uri="{D42A27DB-BD31-4B8C-83A1-F6EECF244321}">
                <p14:modId xmlns:p14="http://schemas.microsoft.com/office/powerpoint/2010/main" val="3561742580"/>
              </p:ext>
            </p:extLst>
          </p:nvPr>
        </p:nvGraphicFramePr>
        <p:xfrm>
          <a:off x="838200" y="1579418"/>
          <a:ext cx="4956672" cy="3273138"/>
        </p:xfrm>
        <a:graphic>
          <a:graphicData uri="http://schemas.openxmlformats.org/drawingml/2006/table">
            <a:tbl>
              <a:tblPr firstRow="1" bandRow="1">
                <a:tableStyleId>{2D5ABB26-0587-4C30-8999-92F81FD0307C}</a:tableStyleId>
              </a:tblPr>
              <a:tblGrid>
                <a:gridCol w="2473255">
                  <a:extLst>
                    <a:ext uri="{9D8B030D-6E8A-4147-A177-3AD203B41FA5}">
                      <a16:colId xmlns:a16="http://schemas.microsoft.com/office/drawing/2014/main" val="4006182644"/>
                    </a:ext>
                  </a:extLst>
                </a:gridCol>
                <a:gridCol w="2483417">
                  <a:extLst>
                    <a:ext uri="{9D8B030D-6E8A-4147-A177-3AD203B41FA5}">
                      <a16:colId xmlns:a16="http://schemas.microsoft.com/office/drawing/2014/main" val="3202673570"/>
                    </a:ext>
                  </a:extLst>
                </a:gridCol>
              </a:tblGrid>
              <a:tr h="1000619">
                <a:tc gridSpan="2">
                  <a:txBody>
                    <a:bodyPr/>
                    <a:lstStyle/>
                    <a:p>
                      <a:pPr algn="ctr"/>
                      <a:r>
                        <a:rPr lang="en-GB" sz="2000" b="1" dirty="0">
                          <a:solidFill>
                            <a:schemeClr val="bg1"/>
                          </a:solidFill>
                          <a:latin typeface="Avenir Next LT Pro" panose="020B0504020202020204" pitchFamily="34" charset="0"/>
                        </a:rPr>
                        <a:t>&lt;LIN&gt; Linux Servers in scope</a:t>
                      </a:r>
                    </a:p>
                  </a:txBody>
                  <a:tcPr anchor="ct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3B1A3D"/>
                    </a:solidFill>
                  </a:tcPr>
                </a:tc>
                <a:tc hMerge="1">
                  <a:txBody>
                    <a:bodyPr/>
                    <a:lstStyle/>
                    <a:p>
                      <a:endParaRPr lang="en-GB" sz="1400" dirty="0">
                        <a:solidFill>
                          <a:schemeClr val="tx1"/>
                        </a:solidFill>
                        <a:latin typeface="Avenir Next LT Pro" panose="020B0504020202020204" pitchFamily="34" charset="0"/>
                      </a:endParaRP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3B1A3D"/>
                    </a:solidFill>
                  </a:tcPr>
                </a:tc>
                <a:extLst>
                  <a:ext uri="{0D108BD9-81ED-4DB2-BD59-A6C34878D82A}">
                    <a16:rowId xmlns:a16="http://schemas.microsoft.com/office/drawing/2014/main" val="2045923233"/>
                  </a:ext>
                </a:extLst>
              </a:tr>
              <a:tr h="1711049">
                <a:tc>
                  <a:txBody>
                    <a:bodyPr/>
                    <a:lstStyle/>
                    <a:p>
                      <a:pPr algn="ctr"/>
                      <a:r>
                        <a:rPr lang="en-GB" sz="2000" dirty="0">
                          <a:solidFill>
                            <a:schemeClr val="tx1"/>
                          </a:solidFill>
                          <a:latin typeface="Avenir Next LT Pro" panose="020B0504020202020204" pitchFamily="34" charset="0"/>
                        </a:rPr>
                        <a:t>Non-Graviton cost: </a:t>
                      </a:r>
                    </a:p>
                    <a:p>
                      <a:pPr algn="ctr"/>
                      <a:br>
                        <a:rPr lang="en-GB" sz="2000" dirty="0">
                          <a:solidFill>
                            <a:schemeClr val="tx1"/>
                          </a:solidFill>
                          <a:latin typeface="Avenir Next LT Pro" panose="020B0504020202020204" pitchFamily="34" charset="0"/>
                        </a:rPr>
                      </a:br>
                      <a:r>
                        <a:rPr lang="en-GB" sz="2000" dirty="0">
                          <a:solidFill>
                            <a:schemeClr val="tx1"/>
                          </a:solidFill>
                          <a:latin typeface="Avenir Next LT Pro" panose="020B0504020202020204" pitchFamily="34" charset="0"/>
                        </a:rPr>
                        <a:t>$4,000</a:t>
                      </a:r>
                    </a:p>
                    <a:p>
                      <a:pPr algn="ctr"/>
                      <a:endParaRPr lang="en-GB" sz="2000" dirty="0">
                        <a:solidFill>
                          <a:schemeClr val="tx1"/>
                        </a:solidFill>
                        <a:latin typeface="Avenir Next LT Pro" panose="020B0504020202020204" pitchFamily="34" charset="0"/>
                      </a:endParaRPr>
                    </a:p>
                  </a:txBody>
                  <a:tcPr anchor="ct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000" dirty="0">
                          <a:solidFill>
                            <a:schemeClr val="tx1"/>
                          </a:solidFill>
                          <a:latin typeface="Avenir Next LT Pro" panose="020B0504020202020204" pitchFamily="34" charset="0"/>
                        </a:rPr>
                        <a:t>Graviton cost:</a:t>
                      </a:r>
                    </a:p>
                    <a:p>
                      <a:pPr algn="ctr"/>
                      <a:endParaRPr lang="en-GB" sz="2000" dirty="0">
                        <a:solidFill>
                          <a:schemeClr val="tx1"/>
                        </a:solidFill>
                        <a:latin typeface="Avenir Next LT Pro" panose="020B0504020202020204" pitchFamily="34" charset="0"/>
                      </a:endParaRPr>
                    </a:p>
                    <a:p>
                      <a:pPr algn="ctr"/>
                      <a:r>
                        <a:rPr lang="en-GB" sz="2000" dirty="0">
                          <a:solidFill>
                            <a:schemeClr val="tx1"/>
                          </a:solidFill>
                          <a:latin typeface="Avenir Next LT Pro" panose="020B0504020202020204" pitchFamily="34" charset="0"/>
                        </a:rPr>
                        <a:t>$3,000</a:t>
                      </a:r>
                    </a:p>
                    <a:p>
                      <a:pPr algn="ctr"/>
                      <a:endParaRPr lang="en-GB" sz="2000" dirty="0">
                        <a:solidFill>
                          <a:schemeClr val="tx1"/>
                        </a:solidFill>
                        <a:latin typeface="Avenir Next LT Pro" panose="020B0504020202020204" pitchFamily="34" charset="0"/>
                      </a:endParaRPr>
                    </a:p>
                  </a:txBody>
                  <a:tcPr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3725454"/>
                  </a:ext>
                </a:extLst>
              </a:tr>
              <a:tr h="561470">
                <a:tc gridSpan="2">
                  <a:txBody>
                    <a:bodyPr/>
                    <a:lstStyle/>
                    <a:p>
                      <a:pPr algn="ctr"/>
                      <a:r>
                        <a:rPr lang="en-GB" sz="2400" b="1" dirty="0">
                          <a:solidFill>
                            <a:schemeClr val="bg1"/>
                          </a:solidFill>
                          <a:latin typeface="Avenir Next LT Pro" panose="020B0504020202020204" pitchFamily="34" charset="0"/>
                        </a:rPr>
                        <a:t>Total savings: $797</a:t>
                      </a:r>
                    </a:p>
                  </a:txBody>
                  <a:tcPr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solidFill>
                      <a:srgbClr val="3B1A3D"/>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extLst>
                  <a:ext uri="{0D108BD9-81ED-4DB2-BD59-A6C34878D82A}">
                    <a16:rowId xmlns:a16="http://schemas.microsoft.com/office/drawing/2014/main" val="468808878"/>
                  </a:ext>
                </a:extLst>
              </a:tr>
            </a:tbl>
          </a:graphicData>
        </a:graphic>
      </p:graphicFrame>
      <p:sp>
        <p:nvSpPr>
          <p:cNvPr id="12" name="TextBox 11">
            <a:extLst>
              <a:ext uri="{FF2B5EF4-FFF2-40B4-BE49-F238E27FC236}">
                <a16:creationId xmlns:a16="http://schemas.microsoft.com/office/drawing/2014/main" id="{25185F59-7989-E622-D4D2-022A7DFE02E9}"/>
              </a:ext>
            </a:extLst>
          </p:cNvPr>
          <p:cNvSpPr txBox="1"/>
          <p:nvPr/>
        </p:nvSpPr>
        <p:spPr>
          <a:xfrm>
            <a:off x="6709167" y="907663"/>
            <a:ext cx="3875809" cy="2308324"/>
          </a:xfrm>
          <a:prstGeom prst="rect">
            <a:avLst/>
          </a:prstGeom>
          <a:noFill/>
        </p:spPr>
        <p:txBody>
          <a:bodyPr wrap="square" rtlCol="0">
            <a:spAutoFit/>
          </a:bodyPr>
          <a:lstStyle/>
          <a:p>
            <a:r>
              <a:rPr lang="en-GB" sz="1600" dirty="0"/>
              <a:t>Graviton processors are designed by AWS to deliver the best price performance for Cloud workloads running in EC2.</a:t>
            </a:r>
          </a:p>
          <a:p>
            <a:endParaRPr lang="en-GB" sz="1600" dirty="0"/>
          </a:p>
          <a:p>
            <a:r>
              <a:rPr lang="en-GB" sz="1600" dirty="0"/>
              <a:t>They are based in the ARM architecture and are supported by most Linux-based workloads. If compatible, they may deliver savings when compared to “traditional” EC2 Linux instances of..</a:t>
            </a:r>
          </a:p>
        </p:txBody>
      </p:sp>
      <p:sp>
        <p:nvSpPr>
          <p:cNvPr id="13" name="Oval 12">
            <a:extLst>
              <a:ext uri="{FF2B5EF4-FFF2-40B4-BE49-F238E27FC236}">
                <a16:creationId xmlns:a16="http://schemas.microsoft.com/office/drawing/2014/main" id="{0A078469-DCF1-A1A2-F515-88847BD98BFD}"/>
              </a:ext>
            </a:extLst>
          </p:cNvPr>
          <p:cNvSpPr/>
          <p:nvPr/>
        </p:nvSpPr>
        <p:spPr>
          <a:xfrm>
            <a:off x="7180116" y="3449282"/>
            <a:ext cx="2722420" cy="2722420"/>
          </a:xfrm>
          <a:prstGeom prst="ellipse">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5400" b="1" dirty="0">
                <a:solidFill>
                  <a:schemeClr val="bg1"/>
                </a:solidFill>
                <a:latin typeface="Avenir Next LT Pro" panose="020B0504020202020204" pitchFamily="34" charset="0"/>
              </a:rPr>
              <a:t>23%</a:t>
            </a:r>
          </a:p>
        </p:txBody>
      </p:sp>
    </p:spTree>
    <p:extLst>
      <p:ext uri="{BB962C8B-B14F-4D97-AF65-F5344CB8AC3E}">
        <p14:creationId xmlns:p14="http://schemas.microsoft.com/office/powerpoint/2010/main" val="2850283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E8EDD-5D02-48D8-A3EA-BC0CA1E0B78B}"/>
              </a:ext>
            </a:extLst>
          </p:cNvPr>
          <p:cNvSpPr>
            <a:spLocks noGrp="1"/>
          </p:cNvSpPr>
          <p:nvPr>
            <p:ph type="title"/>
          </p:nvPr>
        </p:nvSpPr>
        <p:spPr>
          <a:xfrm>
            <a:off x="612648" y="320040"/>
            <a:ext cx="11155680" cy="539496"/>
          </a:xfrm>
        </p:spPr>
        <p:txBody>
          <a:bodyPr>
            <a:noAutofit/>
          </a:bodyPr>
          <a:lstStyle/>
          <a:p>
            <a:pPr>
              <a:spcBef>
                <a:spcPts val="1000"/>
              </a:spcBef>
            </a:pPr>
            <a:r>
              <a:rPr lang="en-US" sz="2800" dirty="0" err="1">
                <a:solidFill>
                  <a:srgbClr val="472566"/>
                </a:solidFill>
                <a:latin typeface="Avenir Next LT Pro Demi" panose="020B0704020202020204" pitchFamily="34" charset="0"/>
                <a:ea typeface="+mn-ea"/>
                <a:cs typeface="+mn-cs"/>
              </a:rPr>
              <a:t>Annualised</a:t>
            </a:r>
            <a:r>
              <a:rPr lang="en-US" sz="2800" dirty="0">
                <a:solidFill>
                  <a:srgbClr val="472566"/>
                </a:solidFill>
                <a:latin typeface="Avenir Next LT Pro Demi" panose="020B0704020202020204" pitchFamily="34" charset="0"/>
                <a:ea typeface="+mn-ea"/>
                <a:cs typeface="+mn-cs"/>
              </a:rPr>
              <a:t> comparison details –No Upfront</a:t>
            </a:r>
          </a:p>
        </p:txBody>
      </p:sp>
      <p:graphicFrame>
        <p:nvGraphicFramePr>
          <p:cNvPr id="7" name="Table 6">
            <a:extLst>
              <a:ext uri="{FF2B5EF4-FFF2-40B4-BE49-F238E27FC236}">
                <a16:creationId xmlns:a16="http://schemas.microsoft.com/office/drawing/2014/main" id="{E3C71027-549A-4737-BE7C-1028B5A0250D}"/>
              </a:ext>
            </a:extLst>
          </p:cNvPr>
          <p:cNvGraphicFramePr>
            <a:graphicFrameLocks noGrp="1"/>
          </p:cNvGraphicFramePr>
          <p:nvPr>
            <p:extLst>
              <p:ext uri="{D42A27DB-BD31-4B8C-83A1-F6EECF244321}">
                <p14:modId xmlns:p14="http://schemas.microsoft.com/office/powerpoint/2010/main" val="3771896893"/>
              </p:ext>
            </p:extLst>
          </p:nvPr>
        </p:nvGraphicFramePr>
        <p:xfrm>
          <a:off x="448056" y="1006657"/>
          <a:ext cx="11320272" cy="3126642"/>
        </p:xfrm>
        <a:graphic>
          <a:graphicData uri="http://schemas.openxmlformats.org/drawingml/2006/table">
            <a:tbl>
              <a:tblPr/>
              <a:tblGrid>
                <a:gridCol w="1886712">
                  <a:extLst>
                    <a:ext uri="{9D8B030D-6E8A-4147-A177-3AD203B41FA5}">
                      <a16:colId xmlns:a16="http://schemas.microsoft.com/office/drawing/2014/main" val="3814246973"/>
                    </a:ext>
                  </a:extLst>
                </a:gridCol>
                <a:gridCol w="1886712">
                  <a:extLst>
                    <a:ext uri="{9D8B030D-6E8A-4147-A177-3AD203B41FA5}">
                      <a16:colId xmlns:a16="http://schemas.microsoft.com/office/drawing/2014/main" val="3971102704"/>
                    </a:ext>
                  </a:extLst>
                </a:gridCol>
                <a:gridCol w="1886712">
                  <a:extLst>
                    <a:ext uri="{9D8B030D-6E8A-4147-A177-3AD203B41FA5}">
                      <a16:colId xmlns:a16="http://schemas.microsoft.com/office/drawing/2014/main" val="3378607210"/>
                    </a:ext>
                  </a:extLst>
                </a:gridCol>
                <a:gridCol w="1886712">
                  <a:extLst>
                    <a:ext uri="{9D8B030D-6E8A-4147-A177-3AD203B41FA5}">
                      <a16:colId xmlns:a16="http://schemas.microsoft.com/office/drawing/2014/main" val="1765164425"/>
                    </a:ext>
                  </a:extLst>
                </a:gridCol>
                <a:gridCol w="1886712">
                  <a:extLst>
                    <a:ext uri="{9D8B030D-6E8A-4147-A177-3AD203B41FA5}">
                      <a16:colId xmlns:a16="http://schemas.microsoft.com/office/drawing/2014/main" val="2549330018"/>
                    </a:ext>
                  </a:extLst>
                </a:gridCol>
                <a:gridCol w="1886712">
                  <a:extLst>
                    <a:ext uri="{9D8B030D-6E8A-4147-A177-3AD203B41FA5}">
                      <a16:colId xmlns:a16="http://schemas.microsoft.com/office/drawing/2014/main" val="545068042"/>
                    </a:ext>
                  </a:extLst>
                </a:gridCol>
              </a:tblGrid>
              <a:tr h="314746">
                <a:tc>
                  <a:txBody>
                    <a:bodyPr/>
                    <a:lstStyle/>
                    <a:p>
                      <a:pPr algn="l" fontAlgn="ctr"/>
                      <a:r>
                        <a:rPr lang="en-US" sz="1700" b="0" i="0" u="none" strike="noStrike" dirty="0">
                          <a:solidFill>
                            <a:srgbClr val="002060"/>
                          </a:solidFill>
                          <a:effectLst/>
                          <a:latin typeface="Avenir Next LT Pro" panose="020B0504020202020204" pitchFamily="34" charset="0"/>
                        </a:rPr>
                        <a:t> </a:t>
                      </a:r>
                    </a:p>
                  </a:txBody>
                  <a:tcPr marL="80385" marR="0" marT="0" marB="0" anchor="ctr">
                    <a:lnL>
                      <a:noFill/>
                    </a:lnL>
                    <a:lnR>
                      <a:noFill/>
                    </a:lnR>
                    <a:lnT>
                      <a:noFill/>
                    </a:lnT>
                    <a:lnB>
                      <a:noFill/>
                    </a:lnB>
                    <a:noFill/>
                  </a:tcPr>
                </a:tc>
                <a:tc>
                  <a:txBody>
                    <a:bodyPr/>
                    <a:lstStyle/>
                    <a:p>
                      <a:pPr algn="ctr" rtl="0" fontAlgn="ctr"/>
                      <a:r>
                        <a:rPr lang="en-US" sz="1300" b="0" i="0" u="none" strike="noStrike">
                          <a:solidFill>
                            <a:srgbClr val="002060"/>
                          </a:solidFill>
                          <a:effectLst/>
                          <a:latin typeface="Avenir Next LT Pro" panose="020B0504020202020204" pitchFamily="34" charset="0"/>
                        </a:rPr>
                        <a:t> </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1</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2</a:t>
                      </a:r>
                    </a:p>
                  </a:txBody>
                  <a:tcPr marL="0" marR="0" marT="0" marB="0" anchor="ctr">
                    <a:lnL>
                      <a:noFill/>
                    </a:lnL>
                    <a:lnR>
                      <a:noFill/>
                    </a:lnR>
                    <a:lnT>
                      <a:noFill/>
                    </a:lnT>
                    <a:lnB>
                      <a:noFill/>
                    </a:lnB>
                    <a:noFill/>
                  </a:tcPr>
                </a:tc>
                <a:tc>
                  <a:txBody>
                    <a:bodyPr/>
                    <a:lstStyle/>
                    <a:p>
                      <a:pPr algn="ctr" rtl="0" fontAlgn="ctr"/>
                      <a:r>
                        <a:rPr lang="en-US" sz="1300" b="0" i="0" u="none" strike="noStrike">
                          <a:solidFill>
                            <a:schemeClr val="tx1"/>
                          </a:solidFill>
                          <a:effectLst/>
                          <a:latin typeface="Avenir Next LT Pro" panose="020B0504020202020204" pitchFamily="34" charset="0"/>
                        </a:rPr>
                        <a:t>Option 3</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4</a:t>
                      </a:r>
                    </a:p>
                  </a:txBody>
                  <a:tcPr marL="0" marR="0" marT="0" marB="0" anchor="ctr">
                    <a:lnL>
                      <a:noFill/>
                    </a:lnL>
                    <a:lnR>
                      <a:noFill/>
                    </a:lnR>
                    <a:lnT>
                      <a:noFill/>
                    </a:lnT>
                    <a:lnB>
                      <a:noFill/>
                    </a:lnB>
                    <a:noFill/>
                  </a:tcPr>
                </a:tc>
                <a:extLst>
                  <a:ext uri="{0D108BD9-81ED-4DB2-BD59-A6C34878D82A}">
                    <a16:rowId xmlns:a16="http://schemas.microsoft.com/office/drawing/2014/main" val="413401810"/>
                  </a:ext>
                </a:extLst>
              </a:tr>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a:noFill/>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 SQL LI</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endParaRPr lang="en-US" sz="1200" b="0" i="1" u="none" strike="noStrike" dirty="0">
                        <a:solidFill>
                          <a:srgbClr val="002060"/>
                        </a:solidFill>
                        <a:effectLst/>
                        <a:latin typeface="Avenir Next LT Pro" panose="020B0504020202020204" pitchFamily="34" charset="0"/>
                      </a:endParaRPr>
                    </a:p>
                  </a:txBody>
                  <a:tcPr marL="0" marR="0" marT="0" marB="0">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&lt;b3nc&gt;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&lt;b1nc&gt;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bodc</a:t>
                      </a:r>
                      <a:r>
                        <a:rPr lang="en-US" sz="1200" dirty="0">
                          <a:solidFill>
                            <a:schemeClr val="tx1"/>
                          </a:solidFill>
                          <a:latin typeface="Avenir Next LT Pro" panose="020B0504020202020204" pitchFamily="34" charset="77"/>
                        </a:rPr>
                        <a:t>&gt;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blic</a:t>
                      </a:r>
                      <a:r>
                        <a:rPr lang="en-US" sz="1200" dirty="0">
                          <a:solidFill>
                            <a:schemeClr val="tx1"/>
                          </a:solidFill>
                          <a:latin typeface="Avenir Next LT Pro" panose="020B0504020202020204" pitchFamily="34" charset="77"/>
                        </a:rPr>
                        <a:t>&gt;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&lt;b3ns&gt;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&lt;b1ns&gt;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&lt;bods&gt;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blis</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$&lt;b3nn&gt;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$&lt;b1nn&gt;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bodn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$&lt;blin&gt;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algn="l" rtl="0" fontAlgn="ctr"/>
                      <a:r>
                        <a:rPr lang="en-US" sz="1200" b="1" i="0" u="none" strike="noStrike" dirty="0">
                          <a:solidFill>
                            <a:schemeClr val="tx1"/>
                          </a:solidFill>
                          <a:effectLst/>
                          <a:latin typeface="Avenir Next LT Pro" panose="020B0504020202020204" pitchFamily="34" charset="0"/>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190,000</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&lt;b3nt&gt;</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&lt;b1nt&gt;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bodt</a:t>
                      </a:r>
                      <a:r>
                        <a:rPr lang="en-US" sz="1200" b="1" dirty="0">
                          <a:solidFill>
                            <a:schemeClr val="tx1"/>
                          </a:solidFill>
                          <a:latin typeface="Avenir Next LT Pro" panose="020B0504020202020204" pitchFamily="34" charset="77"/>
                        </a:rPr>
                        <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blit</a:t>
                      </a:r>
                      <a:r>
                        <a:rPr lang="en-US" sz="1200" b="1" dirty="0">
                          <a:solidFill>
                            <a:schemeClr val="tx1"/>
                          </a:solidFill>
                          <a:latin typeface="Avenir Next LT Pro" panose="020B0504020202020204" pitchFamily="34" charset="77"/>
                        </a:rPr>
                        <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547384">
                <a:tc>
                  <a:txBody>
                    <a:bodyPr/>
                    <a:lstStyle/>
                    <a:p>
                      <a:pPr algn="l" rtl="0" fontAlgn="ctr"/>
                      <a:r>
                        <a:rPr lang="en-US" sz="1200" b="0" i="0" u="none" strike="noStrike" dirty="0">
                          <a:solidFill>
                            <a:schemeClr val="tx1"/>
                          </a:solidFill>
                          <a:effectLst/>
                          <a:latin typeface="Avenir Next LT Pro" panose="020B0504020202020204" pitchFamily="34" charset="0"/>
                        </a:rPr>
                        <a:t>Annual Savings</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&lt;b3nt%&gt;</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&lt;b1nt%&gt;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bodt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blit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60189714"/>
                  </a:ext>
                </a:extLst>
              </a:tr>
            </a:tbl>
          </a:graphicData>
        </a:graphic>
      </p:graphicFrame>
      <p:sp>
        <p:nvSpPr>
          <p:cNvPr id="8" name="TextBox 7">
            <a:extLst>
              <a:ext uri="{FF2B5EF4-FFF2-40B4-BE49-F238E27FC236}">
                <a16:creationId xmlns:a16="http://schemas.microsoft.com/office/drawing/2014/main" id="{E63036CD-9D01-793F-3784-729ECD59D893}"/>
              </a:ext>
            </a:extLst>
          </p:cNvPr>
          <p:cNvSpPr txBox="1"/>
          <p:nvPr/>
        </p:nvSpPr>
        <p:spPr>
          <a:xfrm>
            <a:off x="8235254"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AWS's on-demand price plan, License Mobility through SA, and attempts to optimise cost and reduce the Number of Cores wherever possible.</a:t>
            </a:r>
          </a:p>
        </p:txBody>
      </p:sp>
      <p:sp>
        <p:nvSpPr>
          <p:cNvPr id="3" name="TextBox 2">
            <a:extLst>
              <a:ext uri="{FF2B5EF4-FFF2-40B4-BE49-F238E27FC236}">
                <a16:creationId xmlns:a16="http://schemas.microsoft.com/office/drawing/2014/main" id="{8BC53431-257D-FC32-D342-2DF00C102384}"/>
              </a:ext>
            </a:extLst>
          </p:cNvPr>
          <p:cNvSpPr txBox="1"/>
          <p:nvPr/>
        </p:nvSpPr>
        <p:spPr>
          <a:xfrm>
            <a:off x="6328267"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the Reserved No-Upfront 1-Year AWS price plan, License Mobility through SA, and attempts to Optimize Cost and Reduce the Number of Cores where possible.</a:t>
            </a:r>
          </a:p>
        </p:txBody>
      </p:sp>
      <p:sp>
        <p:nvSpPr>
          <p:cNvPr id="4" name="TextBox 3">
            <a:extLst>
              <a:ext uri="{FF2B5EF4-FFF2-40B4-BE49-F238E27FC236}">
                <a16:creationId xmlns:a16="http://schemas.microsoft.com/office/drawing/2014/main" id="{79CF102B-5FB7-F04D-9B39-D51FC3025A9E}"/>
              </a:ext>
            </a:extLst>
          </p:cNvPr>
          <p:cNvSpPr txBox="1"/>
          <p:nvPr/>
        </p:nvSpPr>
        <p:spPr>
          <a:xfrm>
            <a:off x="4327299"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the Reserved No-Upfront 3-Year AWS price plan, License Mobility through SA, and attempts to Optimize Cost and Reduce the Number of Cores where possible.</a:t>
            </a:r>
          </a:p>
        </p:txBody>
      </p:sp>
      <p:sp>
        <p:nvSpPr>
          <p:cNvPr id="5" name="TextBox 4">
            <a:extLst>
              <a:ext uri="{FF2B5EF4-FFF2-40B4-BE49-F238E27FC236}">
                <a16:creationId xmlns:a16="http://schemas.microsoft.com/office/drawing/2014/main" id="{FEFD1759-CF75-A2B0-8D49-C10F052CFB55}"/>
              </a:ext>
            </a:extLst>
          </p:cNvPr>
          <p:cNvSpPr txBox="1"/>
          <p:nvPr/>
        </p:nvSpPr>
        <p:spPr>
          <a:xfrm>
            <a:off x="10142241"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AWS's on-demand price plan and adds SQL licensing costs to represent compute pricing if License Mobility and BYOL are not possible.</a:t>
            </a:r>
          </a:p>
        </p:txBody>
      </p:sp>
    </p:spTree>
    <p:extLst>
      <p:ext uri="{BB962C8B-B14F-4D97-AF65-F5344CB8AC3E}">
        <p14:creationId xmlns:p14="http://schemas.microsoft.com/office/powerpoint/2010/main" val="3457065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B26D7-8CDB-850D-4645-3A19DF124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AC1FA-6AD7-F294-A59A-551A4EAB200C}"/>
              </a:ext>
            </a:extLst>
          </p:cNvPr>
          <p:cNvSpPr>
            <a:spLocks noGrp="1"/>
          </p:cNvSpPr>
          <p:nvPr>
            <p:ph type="title"/>
          </p:nvPr>
        </p:nvSpPr>
        <p:spPr>
          <a:xfrm>
            <a:off x="612648" y="320040"/>
            <a:ext cx="11155680" cy="539496"/>
          </a:xfrm>
        </p:spPr>
        <p:txBody>
          <a:bodyPr>
            <a:noAutofit/>
          </a:bodyPr>
          <a:lstStyle/>
          <a:p>
            <a:pPr>
              <a:spcBef>
                <a:spcPts val="1000"/>
              </a:spcBef>
            </a:pPr>
            <a:r>
              <a:rPr lang="en-US" sz="2800" dirty="0" err="1">
                <a:solidFill>
                  <a:srgbClr val="472566"/>
                </a:solidFill>
                <a:latin typeface="Avenir Next LT Pro Demi" panose="020B0704020202020204" pitchFamily="34" charset="0"/>
                <a:ea typeface="+mn-ea"/>
                <a:cs typeface="+mn-cs"/>
              </a:rPr>
              <a:t>Annualised</a:t>
            </a:r>
            <a:r>
              <a:rPr lang="en-US" sz="2800" dirty="0">
                <a:solidFill>
                  <a:srgbClr val="472566"/>
                </a:solidFill>
                <a:latin typeface="Avenir Next LT Pro Demi" panose="020B0704020202020204" pitchFamily="34" charset="0"/>
                <a:ea typeface="+mn-ea"/>
                <a:cs typeface="+mn-cs"/>
              </a:rPr>
              <a:t> comparison details –All Upfront</a:t>
            </a:r>
          </a:p>
        </p:txBody>
      </p:sp>
      <p:graphicFrame>
        <p:nvGraphicFramePr>
          <p:cNvPr id="7" name="Table 6">
            <a:extLst>
              <a:ext uri="{FF2B5EF4-FFF2-40B4-BE49-F238E27FC236}">
                <a16:creationId xmlns:a16="http://schemas.microsoft.com/office/drawing/2014/main" id="{010A3392-6F04-46C9-E114-FF56E12E13E1}"/>
              </a:ext>
            </a:extLst>
          </p:cNvPr>
          <p:cNvGraphicFramePr>
            <a:graphicFrameLocks noGrp="1"/>
          </p:cNvGraphicFramePr>
          <p:nvPr>
            <p:extLst>
              <p:ext uri="{D42A27DB-BD31-4B8C-83A1-F6EECF244321}">
                <p14:modId xmlns:p14="http://schemas.microsoft.com/office/powerpoint/2010/main" val="1597488256"/>
              </p:ext>
            </p:extLst>
          </p:nvPr>
        </p:nvGraphicFramePr>
        <p:xfrm>
          <a:off x="448056" y="1006657"/>
          <a:ext cx="11320272" cy="3126642"/>
        </p:xfrm>
        <a:graphic>
          <a:graphicData uri="http://schemas.openxmlformats.org/drawingml/2006/table">
            <a:tbl>
              <a:tblPr/>
              <a:tblGrid>
                <a:gridCol w="1886712">
                  <a:extLst>
                    <a:ext uri="{9D8B030D-6E8A-4147-A177-3AD203B41FA5}">
                      <a16:colId xmlns:a16="http://schemas.microsoft.com/office/drawing/2014/main" val="3814246973"/>
                    </a:ext>
                  </a:extLst>
                </a:gridCol>
                <a:gridCol w="1886712">
                  <a:extLst>
                    <a:ext uri="{9D8B030D-6E8A-4147-A177-3AD203B41FA5}">
                      <a16:colId xmlns:a16="http://schemas.microsoft.com/office/drawing/2014/main" val="3971102704"/>
                    </a:ext>
                  </a:extLst>
                </a:gridCol>
                <a:gridCol w="1886712">
                  <a:extLst>
                    <a:ext uri="{9D8B030D-6E8A-4147-A177-3AD203B41FA5}">
                      <a16:colId xmlns:a16="http://schemas.microsoft.com/office/drawing/2014/main" val="3378607210"/>
                    </a:ext>
                  </a:extLst>
                </a:gridCol>
                <a:gridCol w="1886712">
                  <a:extLst>
                    <a:ext uri="{9D8B030D-6E8A-4147-A177-3AD203B41FA5}">
                      <a16:colId xmlns:a16="http://schemas.microsoft.com/office/drawing/2014/main" val="1765164425"/>
                    </a:ext>
                  </a:extLst>
                </a:gridCol>
                <a:gridCol w="1886712">
                  <a:extLst>
                    <a:ext uri="{9D8B030D-6E8A-4147-A177-3AD203B41FA5}">
                      <a16:colId xmlns:a16="http://schemas.microsoft.com/office/drawing/2014/main" val="2549330018"/>
                    </a:ext>
                  </a:extLst>
                </a:gridCol>
                <a:gridCol w="1886712">
                  <a:extLst>
                    <a:ext uri="{9D8B030D-6E8A-4147-A177-3AD203B41FA5}">
                      <a16:colId xmlns:a16="http://schemas.microsoft.com/office/drawing/2014/main" val="545068042"/>
                    </a:ext>
                  </a:extLst>
                </a:gridCol>
              </a:tblGrid>
              <a:tr h="314746">
                <a:tc>
                  <a:txBody>
                    <a:bodyPr/>
                    <a:lstStyle/>
                    <a:p>
                      <a:pPr algn="l" fontAlgn="ctr"/>
                      <a:r>
                        <a:rPr lang="en-US" sz="1700" b="0" i="0" u="none" strike="noStrike" dirty="0">
                          <a:solidFill>
                            <a:srgbClr val="002060"/>
                          </a:solidFill>
                          <a:effectLst/>
                          <a:latin typeface="Avenir Next LT Pro" panose="020B0504020202020204" pitchFamily="34" charset="0"/>
                        </a:rPr>
                        <a:t> </a:t>
                      </a:r>
                    </a:p>
                  </a:txBody>
                  <a:tcPr marL="80385" marR="0" marT="0" marB="0" anchor="ctr">
                    <a:lnL>
                      <a:noFill/>
                    </a:lnL>
                    <a:lnR>
                      <a:noFill/>
                    </a:lnR>
                    <a:lnT>
                      <a:noFill/>
                    </a:lnT>
                    <a:lnB>
                      <a:noFill/>
                    </a:lnB>
                    <a:noFill/>
                  </a:tcPr>
                </a:tc>
                <a:tc>
                  <a:txBody>
                    <a:bodyPr/>
                    <a:lstStyle/>
                    <a:p>
                      <a:pPr algn="ctr" rtl="0" fontAlgn="ctr"/>
                      <a:r>
                        <a:rPr lang="en-US" sz="1300" b="0" i="0" u="none" strike="noStrike">
                          <a:solidFill>
                            <a:srgbClr val="002060"/>
                          </a:solidFill>
                          <a:effectLst/>
                          <a:latin typeface="Avenir Next LT Pro" panose="020B0504020202020204" pitchFamily="34" charset="0"/>
                        </a:rPr>
                        <a:t> </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1</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2</a:t>
                      </a:r>
                    </a:p>
                  </a:txBody>
                  <a:tcPr marL="0" marR="0" marT="0" marB="0" anchor="ctr">
                    <a:lnL>
                      <a:noFill/>
                    </a:lnL>
                    <a:lnR>
                      <a:noFill/>
                    </a:lnR>
                    <a:lnT>
                      <a:noFill/>
                    </a:lnT>
                    <a:lnB>
                      <a:noFill/>
                    </a:lnB>
                    <a:noFill/>
                  </a:tcPr>
                </a:tc>
                <a:tc>
                  <a:txBody>
                    <a:bodyPr/>
                    <a:lstStyle/>
                    <a:p>
                      <a:pPr algn="ctr" rtl="0" fontAlgn="ctr"/>
                      <a:r>
                        <a:rPr lang="en-US" sz="1300" b="0" i="0" u="none" strike="noStrike">
                          <a:solidFill>
                            <a:schemeClr val="tx1"/>
                          </a:solidFill>
                          <a:effectLst/>
                          <a:latin typeface="Avenir Next LT Pro" panose="020B0504020202020204" pitchFamily="34" charset="0"/>
                        </a:rPr>
                        <a:t>Option 3</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4</a:t>
                      </a:r>
                    </a:p>
                  </a:txBody>
                  <a:tcPr marL="0" marR="0" marT="0" marB="0" anchor="ctr">
                    <a:lnL>
                      <a:noFill/>
                    </a:lnL>
                    <a:lnR>
                      <a:noFill/>
                    </a:lnR>
                    <a:lnT>
                      <a:noFill/>
                    </a:lnT>
                    <a:lnB>
                      <a:noFill/>
                    </a:lnB>
                    <a:noFill/>
                  </a:tcPr>
                </a:tc>
                <a:extLst>
                  <a:ext uri="{0D108BD9-81ED-4DB2-BD59-A6C34878D82A}">
                    <a16:rowId xmlns:a16="http://schemas.microsoft.com/office/drawing/2014/main" val="413401810"/>
                  </a:ext>
                </a:extLst>
              </a:tr>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a:noFill/>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 SQL LI</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endParaRPr lang="en-US" sz="1200" b="0" i="1" u="none" strike="noStrike" dirty="0">
                        <a:solidFill>
                          <a:srgbClr val="002060"/>
                        </a:solidFill>
                        <a:effectLst/>
                        <a:latin typeface="Avenir Next LT Pro" panose="020B0504020202020204" pitchFamily="34" charset="0"/>
                      </a:endParaRPr>
                    </a:p>
                  </a:txBody>
                  <a:tcPr marL="0" marR="0" marT="0" marB="0">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&lt;b3ac&gt; </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&lt;b1ac&gt;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bodc</a:t>
                      </a:r>
                      <a:r>
                        <a:rPr lang="en-US" sz="1200" dirty="0">
                          <a:solidFill>
                            <a:schemeClr val="tx1"/>
                          </a:solidFill>
                          <a:latin typeface="Avenir Next LT Pro" panose="020B0504020202020204" pitchFamily="34" charset="77"/>
                        </a:rPr>
                        <a:t>&gt;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blic</a:t>
                      </a:r>
                      <a:r>
                        <a:rPr lang="en-US" sz="1200" dirty="0">
                          <a:solidFill>
                            <a:schemeClr val="tx1"/>
                          </a:solidFill>
                          <a:latin typeface="Avenir Next LT Pro" panose="020B0504020202020204" pitchFamily="34" charset="77"/>
                        </a:rPr>
                        <a:t>&gt;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&lt;b3as&gt;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&lt;b1as&gt;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&lt;bods&gt;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blis</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$&lt;b3an&gt;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$&lt;b1an&gt;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bodn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$&lt;blin&gt;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algn="l" rtl="0" fontAlgn="ctr"/>
                      <a:r>
                        <a:rPr lang="en-US" sz="1200" b="1" i="0" u="none" strike="noStrike" dirty="0">
                          <a:solidFill>
                            <a:schemeClr val="tx1"/>
                          </a:solidFill>
                          <a:effectLst/>
                          <a:latin typeface="Avenir Next LT Pro" panose="020B0504020202020204" pitchFamily="34" charset="0"/>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190,000</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&lt;b3at&gt;</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&lt;b1at&gt;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bodt</a:t>
                      </a:r>
                      <a:r>
                        <a:rPr lang="en-US" sz="1200" b="1" dirty="0">
                          <a:solidFill>
                            <a:schemeClr val="tx1"/>
                          </a:solidFill>
                          <a:latin typeface="Avenir Next LT Pro" panose="020B0504020202020204" pitchFamily="34" charset="77"/>
                        </a:rPr>
                        <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blit</a:t>
                      </a:r>
                      <a:r>
                        <a:rPr lang="en-US" sz="1200" b="1" dirty="0">
                          <a:solidFill>
                            <a:schemeClr val="tx1"/>
                          </a:solidFill>
                          <a:latin typeface="Avenir Next LT Pro" panose="020B0504020202020204" pitchFamily="34" charset="77"/>
                        </a:rPr>
                        <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547384">
                <a:tc>
                  <a:txBody>
                    <a:bodyPr/>
                    <a:lstStyle/>
                    <a:p>
                      <a:pPr algn="l" rtl="0" fontAlgn="ctr"/>
                      <a:r>
                        <a:rPr lang="en-US" sz="1200" b="0" i="0" u="none" strike="noStrike" dirty="0">
                          <a:solidFill>
                            <a:schemeClr val="tx1"/>
                          </a:solidFill>
                          <a:effectLst/>
                          <a:latin typeface="Avenir Next LT Pro" panose="020B0504020202020204" pitchFamily="34" charset="0"/>
                        </a:rPr>
                        <a:t>Annual Savings</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&lt;b3at%&gt;</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&lt;b1at%&gt;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bodt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blit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60189714"/>
                  </a:ext>
                </a:extLst>
              </a:tr>
            </a:tbl>
          </a:graphicData>
        </a:graphic>
      </p:graphicFrame>
      <p:sp>
        <p:nvSpPr>
          <p:cNvPr id="8" name="TextBox 7">
            <a:extLst>
              <a:ext uri="{FF2B5EF4-FFF2-40B4-BE49-F238E27FC236}">
                <a16:creationId xmlns:a16="http://schemas.microsoft.com/office/drawing/2014/main" id="{F8BAE273-2BFC-A401-BCDE-68C64ACCF2E5}"/>
              </a:ext>
            </a:extLst>
          </p:cNvPr>
          <p:cNvSpPr txBox="1"/>
          <p:nvPr/>
        </p:nvSpPr>
        <p:spPr>
          <a:xfrm>
            <a:off x="8235254"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AWS's on-demand price plan, License Mobility through SA, and attempts to optimise cost and reduce the Number of Cores wherever possible.</a:t>
            </a:r>
          </a:p>
        </p:txBody>
      </p:sp>
      <p:sp>
        <p:nvSpPr>
          <p:cNvPr id="3" name="TextBox 2">
            <a:extLst>
              <a:ext uri="{FF2B5EF4-FFF2-40B4-BE49-F238E27FC236}">
                <a16:creationId xmlns:a16="http://schemas.microsoft.com/office/drawing/2014/main" id="{9B9BFE74-BFCE-222D-AA86-1E89B3675E5F}"/>
              </a:ext>
            </a:extLst>
          </p:cNvPr>
          <p:cNvSpPr txBox="1"/>
          <p:nvPr/>
        </p:nvSpPr>
        <p:spPr>
          <a:xfrm>
            <a:off x="6328267"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the Reserved No-Upfront 1-Year AWS price plan, License Mobility through SA, and attempts to Optimize Cost and Reduce the Number of Cores where possible.</a:t>
            </a:r>
          </a:p>
        </p:txBody>
      </p:sp>
      <p:sp>
        <p:nvSpPr>
          <p:cNvPr id="4" name="TextBox 3">
            <a:extLst>
              <a:ext uri="{FF2B5EF4-FFF2-40B4-BE49-F238E27FC236}">
                <a16:creationId xmlns:a16="http://schemas.microsoft.com/office/drawing/2014/main" id="{A3CBF57E-7232-1429-50C6-F94A677E9B9D}"/>
              </a:ext>
            </a:extLst>
          </p:cNvPr>
          <p:cNvSpPr txBox="1"/>
          <p:nvPr/>
        </p:nvSpPr>
        <p:spPr>
          <a:xfrm>
            <a:off x="4327299"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the Reserved No-Upfront 3-Year AWS price plan, License Mobility through SA, and attempts to Optimize Cost and Reduce the Number of Cores where possible.</a:t>
            </a:r>
          </a:p>
        </p:txBody>
      </p:sp>
      <p:sp>
        <p:nvSpPr>
          <p:cNvPr id="5" name="TextBox 4">
            <a:extLst>
              <a:ext uri="{FF2B5EF4-FFF2-40B4-BE49-F238E27FC236}">
                <a16:creationId xmlns:a16="http://schemas.microsoft.com/office/drawing/2014/main" id="{BBAF3FC8-B0D1-E71F-15F2-6C264055E5EE}"/>
              </a:ext>
            </a:extLst>
          </p:cNvPr>
          <p:cNvSpPr txBox="1"/>
          <p:nvPr/>
        </p:nvSpPr>
        <p:spPr>
          <a:xfrm>
            <a:off x="10142241" y="4280420"/>
            <a:ext cx="1768701" cy="830997"/>
          </a:xfrm>
          <a:prstGeom prst="rect">
            <a:avLst/>
          </a:prstGeom>
          <a:noFill/>
        </p:spPr>
        <p:txBody>
          <a:bodyPr vert="horz" wrap="square" rtlCol="0">
            <a:spAutoFit/>
          </a:bodyPr>
          <a:lstStyle/>
          <a:p>
            <a:r>
              <a:rPr lang="en-GB" sz="800" dirty="0">
                <a:latin typeface="Avenir Next LT Pro" panose="020B0504020202020204" pitchFamily="34" charset="0"/>
              </a:rPr>
              <a:t>This design uses AWS's on-demand price plan and adds SQL licensing costs to represent compute pricing if License Mobility and BYOL are not possible.</a:t>
            </a:r>
          </a:p>
        </p:txBody>
      </p:sp>
    </p:spTree>
    <p:extLst>
      <p:ext uri="{BB962C8B-B14F-4D97-AF65-F5344CB8AC3E}">
        <p14:creationId xmlns:p14="http://schemas.microsoft.com/office/powerpoint/2010/main" val="605334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9C14-8FDE-4866-562F-B93293C2D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20FE41-9B46-1616-69DF-51D74922A88A}"/>
              </a:ext>
            </a:extLst>
          </p:cNvPr>
          <p:cNvSpPr>
            <a:spLocks noGrp="1"/>
          </p:cNvSpPr>
          <p:nvPr>
            <p:ph type="title"/>
          </p:nvPr>
        </p:nvSpPr>
        <p:spPr>
          <a:xfrm>
            <a:off x="435864" y="3132107"/>
            <a:ext cx="6346599" cy="539496"/>
          </a:xfrm>
        </p:spPr>
        <p:txBody>
          <a:bodyPr>
            <a:noAutofit/>
          </a:bodyPr>
          <a:lstStyle/>
          <a:p>
            <a:pPr>
              <a:spcBef>
                <a:spcPts val="1000"/>
              </a:spcBef>
            </a:pPr>
            <a:r>
              <a:rPr lang="en-US" sz="2800" dirty="0">
                <a:solidFill>
                  <a:srgbClr val="472566"/>
                </a:solidFill>
                <a:latin typeface="Avenir Next LT Pro Demi" panose="020B0704020202020204" pitchFamily="34" charset="0"/>
                <a:ea typeface="+mn-ea"/>
                <a:cs typeface="+mn-cs"/>
              </a:rPr>
              <a:t>Adjusted for Production - NUSP </a:t>
            </a:r>
          </a:p>
        </p:txBody>
      </p:sp>
      <p:graphicFrame>
        <p:nvGraphicFramePr>
          <p:cNvPr id="7" name="Table 6">
            <a:extLst>
              <a:ext uri="{FF2B5EF4-FFF2-40B4-BE49-F238E27FC236}">
                <a16:creationId xmlns:a16="http://schemas.microsoft.com/office/drawing/2014/main" id="{19512AD7-68FF-8806-E7D4-891DD45F0A74}"/>
              </a:ext>
            </a:extLst>
          </p:cNvPr>
          <p:cNvGraphicFramePr>
            <a:graphicFrameLocks noGrp="1"/>
          </p:cNvGraphicFramePr>
          <p:nvPr>
            <p:extLst>
              <p:ext uri="{D42A27DB-BD31-4B8C-83A1-F6EECF244321}">
                <p14:modId xmlns:p14="http://schemas.microsoft.com/office/powerpoint/2010/main" val="1969504259"/>
              </p:ext>
            </p:extLst>
          </p:nvPr>
        </p:nvGraphicFramePr>
        <p:xfrm>
          <a:off x="435864" y="321607"/>
          <a:ext cx="7546850" cy="2613470"/>
        </p:xfrm>
        <a:graphic>
          <a:graphicData uri="http://schemas.openxmlformats.org/drawingml/2006/table">
            <a:tbl>
              <a:tblPr/>
              <a:tblGrid>
                <a:gridCol w="1509370">
                  <a:extLst>
                    <a:ext uri="{9D8B030D-6E8A-4147-A177-3AD203B41FA5}">
                      <a16:colId xmlns:a16="http://schemas.microsoft.com/office/drawing/2014/main" val="3814246973"/>
                    </a:ext>
                  </a:extLst>
                </a:gridCol>
                <a:gridCol w="1509370">
                  <a:extLst>
                    <a:ext uri="{9D8B030D-6E8A-4147-A177-3AD203B41FA5}">
                      <a16:colId xmlns:a16="http://schemas.microsoft.com/office/drawing/2014/main" val="3780020611"/>
                    </a:ext>
                  </a:extLst>
                </a:gridCol>
                <a:gridCol w="1509370">
                  <a:extLst>
                    <a:ext uri="{9D8B030D-6E8A-4147-A177-3AD203B41FA5}">
                      <a16:colId xmlns:a16="http://schemas.microsoft.com/office/drawing/2014/main" val="3378607210"/>
                    </a:ext>
                  </a:extLst>
                </a:gridCol>
                <a:gridCol w="1509370">
                  <a:extLst>
                    <a:ext uri="{9D8B030D-6E8A-4147-A177-3AD203B41FA5}">
                      <a16:colId xmlns:a16="http://schemas.microsoft.com/office/drawing/2014/main" val="1765164425"/>
                    </a:ext>
                  </a:extLst>
                </a:gridCol>
                <a:gridCol w="1509370">
                  <a:extLst>
                    <a:ext uri="{9D8B030D-6E8A-4147-A177-3AD203B41FA5}">
                      <a16:colId xmlns:a16="http://schemas.microsoft.com/office/drawing/2014/main" val="2549330018"/>
                    </a:ext>
                  </a:extLst>
                </a:gridCol>
              </a:tblGrid>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endParaRPr lang="en-US" sz="1200" b="1" i="0" u="none" strike="noStrike" dirty="0">
                        <a:solidFill>
                          <a:srgbClr val="002060"/>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endParaRPr lang="en-US" sz="1200" b="1" i="0" u="none" strike="noStrike" dirty="0">
                        <a:solidFill>
                          <a:srgbClr val="002060"/>
                        </a:solidFill>
                        <a:effectLst/>
                        <a:latin typeface="Avenir Next LT Pro" panose="020B0504020202020204" pitchFamily="34" charset="0"/>
                      </a:endParaRP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endParaRPr lang="en-US" sz="1200" b="1" i="0" u="none" strike="noStrike" dirty="0">
                        <a:solidFill>
                          <a:srgbClr val="002060"/>
                        </a:solidFill>
                        <a:effectLst/>
                        <a:latin typeface="Avenir Next LT Pro" panose="020B0504020202020204" pitchFamily="34" charset="0"/>
                      </a:endParaRP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endParaRPr lang="en-US" sz="1200" b="1" i="0" u="none" strike="noStrike" dirty="0">
                        <a:solidFill>
                          <a:srgbClr val="002060"/>
                        </a:solidFill>
                        <a:effectLst/>
                        <a:latin typeface="Avenir Next LT Pro" panose="020B0504020202020204" pitchFamily="34" charset="0"/>
                      </a:endParaRP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&lt;b3nc&gt; </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&lt;b1nc&gt;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bodc</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&lt;b3ns&gt; </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&lt;b1ns&gt;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&lt;bods&gt;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$&lt;b3nn&gt;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$&lt;b1nn&gt;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bodn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algn="l" rtl="0" fontAlgn="ctr"/>
                      <a:r>
                        <a:rPr lang="en-US" sz="1200" b="1" i="0" u="none" strike="noStrike" dirty="0">
                          <a:solidFill>
                            <a:schemeClr val="tx1"/>
                          </a:solidFill>
                          <a:effectLst/>
                          <a:latin typeface="Avenir Next LT Pro" panose="020B0504020202020204" pitchFamily="34" charset="0"/>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$190,000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&lt;b3nt&gt;</a:t>
                      </a:r>
                      <a:r>
                        <a:rPr lang="en-US" sz="1200" b="1"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&lt;b1nt&gt;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bodt</a:t>
                      </a:r>
                      <a:r>
                        <a:rPr lang="en-US" sz="1200" b="1" dirty="0">
                          <a:solidFill>
                            <a:schemeClr val="tx1"/>
                          </a:solidFill>
                          <a:latin typeface="Avenir Next LT Pro" panose="020B0504020202020204" pitchFamily="34" charset="77"/>
                        </a:rPr>
                        <a:t>&gt;</a:t>
                      </a:r>
                      <a:r>
                        <a:rPr lang="en-US" sz="1200" b="1"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348958">
                <a:tc>
                  <a:txBody>
                    <a:bodyPr/>
                    <a:lstStyle/>
                    <a:p>
                      <a:pPr algn="l" rtl="0" fontAlgn="ctr"/>
                      <a:endParaRPr lang="en-US" sz="1200" b="1" i="0" u="none" strike="noStrike" dirty="0">
                        <a:solidFill>
                          <a:schemeClr val="bg1"/>
                        </a:solidFill>
                        <a:effectLst/>
                        <a:latin typeface="Avenir Next LT Pro" panose="020B0504020202020204" pitchFamily="34" charset="0"/>
                      </a:endParaRP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endParaRPr lang="en-US" sz="1200" b="1" i="0" u="none" strike="noStrike" kern="1200" dirty="0">
                        <a:solidFill>
                          <a:schemeClr val="bg1"/>
                        </a:solidFill>
                        <a:effectLst/>
                        <a:latin typeface="Avenir Next LT Pro" panose="020B0504020202020204" pitchFamily="34" charset="0"/>
                        <a:ea typeface="+mn-ea"/>
                        <a:cs typeface="+mn-cs"/>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&lt;b3nt%&gt;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&lt;b1nt%&gt;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bodt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60073716"/>
                  </a:ext>
                </a:extLst>
              </a:tr>
            </a:tbl>
          </a:graphicData>
        </a:graphic>
      </p:graphicFrame>
      <p:sp>
        <p:nvSpPr>
          <p:cNvPr id="10" name="TextBox 9">
            <a:extLst>
              <a:ext uri="{FF2B5EF4-FFF2-40B4-BE49-F238E27FC236}">
                <a16:creationId xmlns:a16="http://schemas.microsoft.com/office/drawing/2014/main" id="{7A1B484F-78FD-9389-2E38-77FF0B238EA3}"/>
              </a:ext>
            </a:extLst>
          </p:cNvPr>
          <p:cNvSpPr txBox="1"/>
          <p:nvPr/>
        </p:nvSpPr>
        <p:spPr>
          <a:xfrm>
            <a:off x="8806463" y="4414931"/>
            <a:ext cx="2785081" cy="1323439"/>
          </a:xfrm>
          <a:prstGeom prst="rect">
            <a:avLst/>
          </a:prstGeom>
          <a:noFill/>
        </p:spPr>
        <p:txBody>
          <a:bodyPr wrap="square" rtlCol="0">
            <a:spAutoFit/>
          </a:bodyPr>
          <a:lstStyle/>
          <a:p>
            <a:pPr marL="285750" indent="-285750">
              <a:buFont typeface="Arial" panose="020B0604020202020204" pitchFamily="34" charset="0"/>
              <a:buChar char="•"/>
            </a:pPr>
            <a:r>
              <a:rPr lang="en-GB" sz="1000" dirty="0"/>
              <a:t>T Family recommendations removed from production workloads</a:t>
            </a:r>
          </a:p>
          <a:p>
            <a:pPr marL="285750" indent="-285750">
              <a:buFont typeface="Arial" panose="020B0604020202020204" pitchFamily="34" charset="0"/>
              <a:buChar char="•"/>
            </a:pPr>
            <a:r>
              <a:rPr lang="en-GB" sz="1000" dirty="0"/>
              <a:t>CPU/memory metrics matched with more appropriate instance types</a:t>
            </a:r>
          </a:p>
          <a:p>
            <a:pPr marL="285750" indent="-285750">
              <a:buFont typeface="Arial" panose="020B0604020202020204" pitchFamily="34" charset="0"/>
              <a:buChar char="•"/>
            </a:pPr>
            <a:r>
              <a:rPr lang="en-GB" sz="1000" dirty="0"/>
              <a:t>Where no exact match, closest possible is used</a:t>
            </a:r>
          </a:p>
          <a:p>
            <a:pPr marL="285750" indent="-285750">
              <a:buFont typeface="Arial" panose="020B0604020202020204" pitchFamily="34" charset="0"/>
              <a:buChar char="•"/>
            </a:pPr>
            <a:r>
              <a:rPr lang="en-GB" sz="1000" dirty="0"/>
              <a:t>Non-prod not adjusted</a:t>
            </a:r>
          </a:p>
          <a:p>
            <a:pPr marL="285750" indent="-285750">
              <a:buFont typeface="Arial" panose="020B0604020202020204" pitchFamily="34" charset="0"/>
              <a:buChar char="•"/>
            </a:pPr>
            <a:r>
              <a:rPr lang="en-GB" sz="1000" dirty="0"/>
              <a:t>Storage/network not adjusted</a:t>
            </a:r>
          </a:p>
        </p:txBody>
      </p:sp>
      <p:graphicFrame>
        <p:nvGraphicFramePr>
          <p:cNvPr id="11" name="Table 10">
            <a:extLst>
              <a:ext uri="{FF2B5EF4-FFF2-40B4-BE49-F238E27FC236}">
                <a16:creationId xmlns:a16="http://schemas.microsoft.com/office/drawing/2014/main" id="{10FA3407-1341-7A7E-6054-11B1EDE66B99}"/>
              </a:ext>
            </a:extLst>
          </p:cNvPr>
          <p:cNvGraphicFramePr>
            <a:graphicFrameLocks noGrp="1"/>
          </p:cNvGraphicFramePr>
          <p:nvPr>
            <p:extLst>
              <p:ext uri="{D42A27DB-BD31-4B8C-83A1-F6EECF244321}">
                <p14:modId xmlns:p14="http://schemas.microsoft.com/office/powerpoint/2010/main" val="555207020"/>
              </p:ext>
            </p:extLst>
          </p:nvPr>
        </p:nvGraphicFramePr>
        <p:xfrm>
          <a:off x="435864" y="3868633"/>
          <a:ext cx="7546850" cy="2613470"/>
        </p:xfrm>
        <a:graphic>
          <a:graphicData uri="http://schemas.openxmlformats.org/drawingml/2006/table">
            <a:tbl>
              <a:tblPr/>
              <a:tblGrid>
                <a:gridCol w="1509370">
                  <a:extLst>
                    <a:ext uri="{9D8B030D-6E8A-4147-A177-3AD203B41FA5}">
                      <a16:colId xmlns:a16="http://schemas.microsoft.com/office/drawing/2014/main" val="3814246973"/>
                    </a:ext>
                  </a:extLst>
                </a:gridCol>
                <a:gridCol w="1509370">
                  <a:extLst>
                    <a:ext uri="{9D8B030D-6E8A-4147-A177-3AD203B41FA5}">
                      <a16:colId xmlns:a16="http://schemas.microsoft.com/office/drawing/2014/main" val="3287157208"/>
                    </a:ext>
                  </a:extLst>
                </a:gridCol>
                <a:gridCol w="1509370">
                  <a:extLst>
                    <a:ext uri="{9D8B030D-6E8A-4147-A177-3AD203B41FA5}">
                      <a16:colId xmlns:a16="http://schemas.microsoft.com/office/drawing/2014/main" val="3378607210"/>
                    </a:ext>
                  </a:extLst>
                </a:gridCol>
                <a:gridCol w="1509370">
                  <a:extLst>
                    <a:ext uri="{9D8B030D-6E8A-4147-A177-3AD203B41FA5}">
                      <a16:colId xmlns:a16="http://schemas.microsoft.com/office/drawing/2014/main" val="1765164425"/>
                    </a:ext>
                  </a:extLst>
                </a:gridCol>
                <a:gridCol w="1509370">
                  <a:extLst>
                    <a:ext uri="{9D8B030D-6E8A-4147-A177-3AD203B41FA5}">
                      <a16:colId xmlns:a16="http://schemas.microsoft.com/office/drawing/2014/main" val="2549330018"/>
                    </a:ext>
                  </a:extLst>
                </a:gridCol>
              </a:tblGrid>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b="0" i="0" u="none" strike="noStrike" dirty="0">
                          <a:solidFill>
                            <a:schemeClr val="tx1"/>
                          </a:solidFill>
                          <a:effectLst/>
                          <a:latin typeface="Avenir Next LT Pro" panose="020B0504020202020204" pitchFamily="34" charset="77"/>
                        </a:rPr>
                        <a:t>&lt;a3nc&gt;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$&lt;a1nc&gt;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aodc</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&lt;a3ns&gt;</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&lt;a1ns&gt;</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aods</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$&lt;a3nn&gt;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$&lt;a1nn&gt;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aodn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marL="0" algn="l"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$190,000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$&lt;a3nt&gt;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$&lt;a1nt&gt;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aodt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348958">
                <a:tc>
                  <a:txBody>
                    <a:bodyPr/>
                    <a:lstStyle/>
                    <a:p>
                      <a:pPr algn="l" rtl="0" fontAlgn="ctr"/>
                      <a:endParaRPr lang="en-US" sz="1200" b="1" i="0" u="none" strike="noStrike" dirty="0">
                        <a:solidFill>
                          <a:schemeClr val="bg1"/>
                        </a:solidFill>
                        <a:effectLst/>
                        <a:latin typeface="Avenir Next LT Pro" panose="020B0504020202020204" pitchFamily="34" charset="0"/>
                      </a:endParaRP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endParaRPr lang="en-US" sz="1200" b="1" i="0" u="none" strike="noStrike" kern="1200" dirty="0">
                        <a:solidFill>
                          <a:schemeClr val="bg1"/>
                        </a:solidFill>
                        <a:effectLst/>
                        <a:latin typeface="Avenir Next LT Pro" panose="020B0504020202020204" pitchFamily="34" charset="0"/>
                        <a:ea typeface="+mn-ea"/>
                        <a:cs typeface="+mn-cs"/>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&lt;a3nt%&gt;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&lt;a1nt%&gt;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aodt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74497177"/>
                  </a:ext>
                </a:extLst>
              </a:tr>
            </a:tbl>
          </a:graphicData>
        </a:graphic>
      </p:graphicFrame>
      <p:sp>
        <p:nvSpPr>
          <p:cNvPr id="12" name="TextBox 11">
            <a:extLst>
              <a:ext uri="{FF2B5EF4-FFF2-40B4-BE49-F238E27FC236}">
                <a16:creationId xmlns:a16="http://schemas.microsoft.com/office/drawing/2014/main" id="{56B5F9A2-5C0C-63E8-EFE2-429AAC7961A7}"/>
              </a:ext>
            </a:extLst>
          </p:cNvPr>
          <p:cNvSpPr txBox="1"/>
          <p:nvPr/>
        </p:nvSpPr>
        <p:spPr>
          <a:xfrm>
            <a:off x="8806463" y="715491"/>
            <a:ext cx="2785081" cy="1938992"/>
          </a:xfrm>
          <a:prstGeom prst="rect">
            <a:avLst/>
          </a:prstGeom>
          <a:noFill/>
        </p:spPr>
        <p:txBody>
          <a:bodyPr wrap="square" rtlCol="0">
            <a:spAutoFit/>
          </a:bodyPr>
          <a:lstStyle/>
          <a:p>
            <a:pPr marL="285750" indent="-285750">
              <a:buFont typeface="Arial" panose="020B0604020202020204" pitchFamily="34" charset="0"/>
              <a:buChar char="•"/>
            </a:pPr>
            <a:r>
              <a:rPr lang="en-GB" sz="1000" dirty="0"/>
              <a:t>T instances are burstable, designed for low to moderate usage</a:t>
            </a:r>
          </a:p>
          <a:p>
            <a:pPr marL="285750" indent="-285750">
              <a:buFont typeface="Arial" panose="020B0604020202020204" pitchFamily="34" charset="0"/>
              <a:buChar char="•"/>
            </a:pPr>
            <a:r>
              <a:rPr lang="en-GB" sz="1000" dirty="0"/>
              <a:t>Not suitable for high-performance workloads</a:t>
            </a:r>
          </a:p>
          <a:p>
            <a:pPr marL="285750" indent="-285750">
              <a:buFont typeface="Arial" panose="020B0604020202020204" pitchFamily="34" charset="0"/>
              <a:buChar char="•"/>
            </a:pPr>
            <a:r>
              <a:rPr lang="en-GB" sz="1000" dirty="0"/>
              <a:t>Performance may be inconsistent depending on use-case</a:t>
            </a:r>
          </a:p>
          <a:p>
            <a:pPr marL="285750" indent="-285750">
              <a:buFont typeface="Arial" panose="020B0604020202020204" pitchFamily="34" charset="0"/>
              <a:buChar char="•"/>
            </a:pPr>
            <a:r>
              <a:rPr lang="en-GB" sz="1000" dirty="0"/>
              <a:t>CPU credit system means performance may be throttled after periods of high usage when credits are exhausted</a:t>
            </a:r>
          </a:p>
          <a:p>
            <a:pPr marL="285750" indent="-285750">
              <a:buFont typeface="Arial" panose="020B0604020202020204" pitchFamily="34" charset="0"/>
              <a:buChar char="•"/>
            </a:pPr>
            <a:r>
              <a:rPr lang="en-GB" sz="1000" dirty="0"/>
              <a:t>Network performance is also burstable so performance may be inconsistent</a:t>
            </a:r>
          </a:p>
          <a:p>
            <a:pPr marL="285750" indent="-285750">
              <a:buFont typeface="Arial" panose="020B0604020202020204" pitchFamily="34" charset="0"/>
              <a:buChar char="•"/>
            </a:pPr>
            <a:endParaRPr lang="en-GB" sz="1000" dirty="0"/>
          </a:p>
        </p:txBody>
      </p:sp>
      <p:sp>
        <p:nvSpPr>
          <p:cNvPr id="13" name="Arrow: Down 12">
            <a:extLst>
              <a:ext uri="{FF2B5EF4-FFF2-40B4-BE49-F238E27FC236}">
                <a16:creationId xmlns:a16="http://schemas.microsoft.com/office/drawing/2014/main" id="{82DDB48D-9345-B23D-6C0F-486053C3E22F}"/>
              </a:ext>
            </a:extLst>
          </p:cNvPr>
          <p:cNvSpPr/>
          <p:nvPr/>
        </p:nvSpPr>
        <p:spPr>
          <a:xfrm>
            <a:off x="9758995" y="2752796"/>
            <a:ext cx="938676" cy="1414602"/>
          </a:xfrm>
          <a:prstGeom prst="down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58290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2C670-D76F-1974-9D10-C330752A8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0CDFF-3151-5D19-4FB5-9C59983E1373}"/>
              </a:ext>
            </a:extLst>
          </p:cNvPr>
          <p:cNvSpPr>
            <a:spLocks noGrp="1"/>
          </p:cNvSpPr>
          <p:nvPr>
            <p:ph type="title"/>
          </p:nvPr>
        </p:nvSpPr>
        <p:spPr>
          <a:xfrm>
            <a:off x="612648" y="320040"/>
            <a:ext cx="11155680" cy="539496"/>
          </a:xfrm>
        </p:spPr>
        <p:txBody>
          <a:bodyPr>
            <a:noAutofit/>
          </a:bodyPr>
          <a:lstStyle/>
          <a:p>
            <a:pPr>
              <a:spcBef>
                <a:spcPts val="1000"/>
              </a:spcBef>
            </a:pPr>
            <a:r>
              <a:rPr lang="en-US" sz="2800" dirty="0">
                <a:solidFill>
                  <a:srgbClr val="472566"/>
                </a:solidFill>
                <a:latin typeface="Avenir Next LT Pro Demi" panose="020B0704020202020204" pitchFamily="34" charset="0"/>
                <a:ea typeface="+mn-ea"/>
                <a:cs typeface="+mn-cs"/>
              </a:rPr>
              <a:t>Adjusted for production and right-sized - NUSP</a:t>
            </a:r>
          </a:p>
        </p:txBody>
      </p:sp>
      <p:graphicFrame>
        <p:nvGraphicFramePr>
          <p:cNvPr id="7" name="Table 6">
            <a:extLst>
              <a:ext uri="{FF2B5EF4-FFF2-40B4-BE49-F238E27FC236}">
                <a16:creationId xmlns:a16="http://schemas.microsoft.com/office/drawing/2014/main" id="{7459DE33-58D7-4856-898E-26E0EF8F47F1}"/>
              </a:ext>
            </a:extLst>
          </p:cNvPr>
          <p:cNvGraphicFramePr>
            <a:graphicFrameLocks noGrp="1"/>
          </p:cNvGraphicFramePr>
          <p:nvPr>
            <p:extLst>
              <p:ext uri="{D42A27DB-BD31-4B8C-83A1-F6EECF244321}">
                <p14:modId xmlns:p14="http://schemas.microsoft.com/office/powerpoint/2010/main" val="3633355572"/>
              </p:ext>
            </p:extLst>
          </p:nvPr>
        </p:nvGraphicFramePr>
        <p:xfrm>
          <a:off x="448056" y="1006657"/>
          <a:ext cx="9433560" cy="3126642"/>
        </p:xfrm>
        <a:graphic>
          <a:graphicData uri="http://schemas.openxmlformats.org/drawingml/2006/table">
            <a:tbl>
              <a:tblPr/>
              <a:tblGrid>
                <a:gridCol w="1886712">
                  <a:extLst>
                    <a:ext uri="{9D8B030D-6E8A-4147-A177-3AD203B41FA5}">
                      <a16:colId xmlns:a16="http://schemas.microsoft.com/office/drawing/2014/main" val="3814246973"/>
                    </a:ext>
                  </a:extLst>
                </a:gridCol>
                <a:gridCol w="1886712">
                  <a:extLst>
                    <a:ext uri="{9D8B030D-6E8A-4147-A177-3AD203B41FA5}">
                      <a16:colId xmlns:a16="http://schemas.microsoft.com/office/drawing/2014/main" val="3971102704"/>
                    </a:ext>
                  </a:extLst>
                </a:gridCol>
                <a:gridCol w="1886712">
                  <a:extLst>
                    <a:ext uri="{9D8B030D-6E8A-4147-A177-3AD203B41FA5}">
                      <a16:colId xmlns:a16="http://schemas.microsoft.com/office/drawing/2014/main" val="3378607210"/>
                    </a:ext>
                  </a:extLst>
                </a:gridCol>
                <a:gridCol w="1886712">
                  <a:extLst>
                    <a:ext uri="{9D8B030D-6E8A-4147-A177-3AD203B41FA5}">
                      <a16:colId xmlns:a16="http://schemas.microsoft.com/office/drawing/2014/main" val="1765164425"/>
                    </a:ext>
                  </a:extLst>
                </a:gridCol>
                <a:gridCol w="1886712">
                  <a:extLst>
                    <a:ext uri="{9D8B030D-6E8A-4147-A177-3AD203B41FA5}">
                      <a16:colId xmlns:a16="http://schemas.microsoft.com/office/drawing/2014/main" val="2549330018"/>
                    </a:ext>
                  </a:extLst>
                </a:gridCol>
              </a:tblGrid>
              <a:tr h="314746">
                <a:tc>
                  <a:txBody>
                    <a:bodyPr/>
                    <a:lstStyle/>
                    <a:p>
                      <a:pPr algn="l" fontAlgn="ctr"/>
                      <a:r>
                        <a:rPr lang="en-US" sz="1700" b="0" i="0" u="none" strike="noStrike" dirty="0">
                          <a:solidFill>
                            <a:srgbClr val="002060"/>
                          </a:solidFill>
                          <a:effectLst/>
                          <a:latin typeface="Avenir Next LT Pro" panose="020B0504020202020204" pitchFamily="34" charset="0"/>
                        </a:rPr>
                        <a:t> </a:t>
                      </a:r>
                    </a:p>
                  </a:txBody>
                  <a:tcPr marL="80385" marR="0" marT="0" marB="0" anchor="ctr">
                    <a:lnL>
                      <a:noFill/>
                    </a:lnL>
                    <a:lnR>
                      <a:noFill/>
                    </a:lnR>
                    <a:lnT>
                      <a:noFill/>
                    </a:lnT>
                    <a:lnB>
                      <a:noFill/>
                    </a:lnB>
                    <a:noFill/>
                  </a:tcPr>
                </a:tc>
                <a:tc>
                  <a:txBody>
                    <a:bodyPr/>
                    <a:lstStyle/>
                    <a:p>
                      <a:pPr algn="ctr" rtl="0" fontAlgn="ctr"/>
                      <a:r>
                        <a:rPr lang="en-US" sz="1300" b="0" i="0" u="none" strike="noStrike">
                          <a:solidFill>
                            <a:srgbClr val="002060"/>
                          </a:solidFill>
                          <a:effectLst/>
                          <a:latin typeface="Avenir Next LT Pro" panose="020B0504020202020204" pitchFamily="34" charset="0"/>
                        </a:rPr>
                        <a:t> </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1</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2</a:t>
                      </a:r>
                    </a:p>
                  </a:txBody>
                  <a:tcPr marL="0" marR="0" marT="0" marB="0" anchor="ctr">
                    <a:lnL>
                      <a:noFill/>
                    </a:lnL>
                    <a:lnR>
                      <a:noFill/>
                    </a:lnR>
                    <a:lnT>
                      <a:noFill/>
                    </a:lnT>
                    <a:lnB>
                      <a:noFill/>
                    </a:lnB>
                    <a:noFill/>
                  </a:tcPr>
                </a:tc>
                <a:tc>
                  <a:txBody>
                    <a:bodyPr/>
                    <a:lstStyle/>
                    <a:p>
                      <a:pPr algn="ctr" rtl="0" fontAlgn="ctr"/>
                      <a:r>
                        <a:rPr lang="en-US" sz="1300" b="0" i="0" u="none" strike="noStrike">
                          <a:solidFill>
                            <a:schemeClr val="tx1"/>
                          </a:solidFill>
                          <a:effectLst/>
                          <a:latin typeface="Avenir Next LT Pro" panose="020B0504020202020204" pitchFamily="34" charset="0"/>
                        </a:rPr>
                        <a:t>Option 3</a:t>
                      </a:r>
                    </a:p>
                  </a:txBody>
                  <a:tcPr marL="0" marR="0" marT="0" marB="0" anchor="ctr">
                    <a:lnL>
                      <a:noFill/>
                    </a:lnL>
                    <a:lnR>
                      <a:noFill/>
                    </a:lnR>
                    <a:lnT>
                      <a:noFill/>
                    </a:lnT>
                    <a:lnB>
                      <a:noFill/>
                    </a:lnB>
                    <a:noFill/>
                  </a:tcPr>
                </a:tc>
                <a:extLst>
                  <a:ext uri="{0D108BD9-81ED-4DB2-BD59-A6C34878D82A}">
                    <a16:rowId xmlns:a16="http://schemas.microsoft.com/office/drawing/2014/main" val="413401810"/>
                  </a:ext>
                </a:extLst>
              </a:tr>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NUSP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b="0" i="0" u="none" strike="noStrike" dirty="0">
                          <a:solidFill>
                            <a:schemeClr val="tx1"/>
                          </a:solidFill>
                          <a:effectLst/>
                          <a:latin typeface="Avenir Next LT Pro" panose="020B0504020202020204" pitchFamily="34" charset="77"/>
                        </a:rPr>
                        <a:t>&lt;a3nc&gt;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b="0" i="0" u="none" strike="noStrike" dirty="0">
                          <a:solidFill>
                            <a:schemeClr val="tx1"/>
                          </a:solidFill>
                          <a:effectLst/>
                          <a:latin typeface="Avenir Next LT Pro" panose="020B0504020202020204" pitchFamily="34" charset="77"/>
                        </a:rPr>
                        <a:t>&lt;a1nc&gt;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aodc</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&lt;a3ns&gt;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&lt;a1ns&gt;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aods</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$&lt;a3nn&gt;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$&lt;a1nn&gt;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aodn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algn="l" rtl="0" fontAlgn="ctr"/>
                      <a:r>
                        <a:rPr lang="en-US" sz="1200" b="1" i="0" u="none" strike="noStrike" dirty="0">
                          <a:solidFill>
                            <a:schemeClr val="tx1"/>
                          </a:solidFill>
                          <a:effectLst/>
                          <a:latin typeface="Avenir Next LT Pro" panose="020B0504020202020204" pitchFamily="34" charset="0"/>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190,000</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i="0" u="none" strike="noStrike" dirty="0">
                          <a:solidFill>
                            <a:schemeClr val="tx1"/>
                          </a:solidFill>
                          <a:effectLst/>
                          <a:latin typeface="Avenir Next LT Pro" panose="020B0504020202020204" pitchFamily="34" charset="77"/>
                        </a:rPr>
                        <a:t>&lt;a3nt&gt;</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&lt;a1nt&gt;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aodt</a:t>
                      </a:r>
                      <a:r>
                        <a:rPr lang="en-US" sz="1200" b="1" dirty="0">
                          <a:solidFill>
                            <a:schemeClr val="tx1"/>
                          </a:solidFill>
                          <a:latin typeface="Avenir Next LT Pro" panose="020B0504020202020204" pitchFamily="34" charset="77"/>
                        </a:rPr>
                        <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547384">
                <a:tc>
                  <a:txBody>
                    <a:bodyPr/>
                    <a:lstStyle/>
                    <a:p>
                      <a:pPr algn="l" rtl="0" fontAlgn="ctr"/>
                      <a:r>
                        <a:rPr lang="en-US" sz="1200" b="0" i="0" u="none" strike="noStrike" dirty="0">
                          <a:solidFill>
                            <a:schemeClr val="tx1"/>
                          </a:solidFill>
                          <a:effectLst/>
                          <a:latin typeface="Avenir Next LT Pro" panose="020B0504020202020204" pitchFamily="34" charset="0"/>
                        </a:rPr>
                        <a:t>Annual Savings</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&lt;a3nt%&gt;</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&lt;a1nt%&gt;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aodt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60189714"/>
                  </a:ext>
                </a:extLst>
              </a:tr>
            </a:tbl>
          </a:graphicData>
        </a:graphic>
      </p:graphicFrame>
      <p:sp>
        <p:nvSpPr>
          <p:cNvPr id="6" name="TextBox 5">
            <a:extLst>
              <a:ext uri="{FF2B5EF4-FFF2-40B4-BE49-F238E27FC236}">
                <a16:creationId xmlns:a16="http://schemas.microsoft.com/office/drawing/2014/main" id="{89CA5BC8-F015-853A-352E-F903E87B3909}"/>
              </a:ext>
            </a:extLst>
          </p:cNvPr>
          <p:cNvSpPr txBox="1"/>
          <p:nvPr/>
        </p:nvSpPr>
        <p:spPr>
          <a:xfrm>
            <a:off x="909232" y="4628291"/>
            <a:ext cx="3082323" cy="584775"/>
          </a:xfrm>
          <a:prstGeom prst="rect">
            <a:avLst/>
          </a:prstGeom>
          <a:noFill/>
        </p:spPr>
        <p:txBody>
          <a:bodyPr wrap="square" rtlCol="0">
            <a:spAutoFit/>
          </a:bodyPr>
          <a:lstStyle/>
          <a:p>
            <a:r>
              <a:rPr lang="en-GB" sz="2000" dirty="0">
                <a:solidFill>
                  <a:srgbClr val="472566"/>
                </a:solidFill>
                <a:latin typeface="Avenir Next LT Pro Demi" panose="020B0704020202020204" pitchFamily="34" charset="0"/>
              </a:rPr>
              <a:t>Adjustments:</a:t>
            </a:r>
          </a:p>
          <a:p>
            <a:endParaRPr lang="en-GB" sz="1200" dirty="0"/>
          </a:p>
        </p:txBody>
      </p:sp>
      <p:graphicFrame>
        <p:nvGraphicFramePr>
          <p:cNvPr id="11" name="Table 10">
            <a:extLst>
              <a:ext uri="{FF2B5EF4-FFF2-40B4-BE49-F238E27FC236}">
                <a16:creationId xmlns:a16="http://schemas.microsoft.com/office/drawing/2014/main" id="{313E81F1-7BDE-F4D9-3824-43EF21E480B3}"/>
              </a:ext>
            </a:extLst>
          </p:cNvPr>
          <p:cNvGraphicFramePr>
            <a:graphicFrameLocks noGrp="1"/>
          </p:cNvGraphicFramePr>
          <p:nvPr>
            <p:extLst>
              <p:ext uri="{D42A27DB-BD31-4B8C-83A1-F6EECF244321}">
                <p14:modId xmlns:p14="http://schemas.microsoft.com/office/powerpoint/2010/main" val="2344423362"/>
              </p:ext>
            </p:extLst>
          </p:nvPr>
        </p:nvGraphicFramePr>
        <p:xfrm>
          <a:off x="909232" y="4972128"/>
          <a:ext cx="3082323" cy="1219200"/>
        </p:xfrm>
        <a:graphic>
          <a:graphicData uri="http://schemas.openxmlformats.org/drawingml/2006/table">
            <a:tbl>
              <a:tblPr firstRow="1" bandRow="1">
                <a:tableStyleId>{2D5ABB26-0587-4C30-8999-92F81FD0307C}</a:tableStyleId>
              </a:tblPr>
              <a:tblGrid>
                <a:gridCol w="1181472">
                  <a:extLst>
                    <a:ext uri="{9D8B030D-6E8A-4147-A177-3AD203B41FA5}">
                      <a16:colId xmlns:a16="http://schemas.microsoft.com/office/drawing/2014/main" val="2209916037"/>
                    </a:ext>
                  </a:extLst>
                </a:gridCol>
                <a:gridCol w="795620">
                  <a:extLst>
                    <a:ext uri="{9D8B030D-6E8A-4147-A177-3AD203B41FA5}">
                      <a16:colId xmlns:a16="http://schemas.microsoft.com/office/drawing/2014/main" val="4045962877"/>
                    </a:ext>
                  </a:extLst>
                </a:gridCol>
                <a:gridCol w="1105231">
                  <a:extLst>
                    <a:ext uri="{9D8B030D-6E8A-4147-A177-3AD203B41FA5}">
                      <a16:colId xmlns:a16="http://schemas.microsoft.com/office/drawing/2014/main" val="2745941609"/>
                    </a:ext>
                  </a:extLst>
                </a:gridCol>
              </a:tblGrid>
              <a:tr h="216851">
                <a:tc>
                  <a:txBody>
                    <a:bodyPr/>
                    <a:lstStyle/>
                    <a:p>
                      <a:r>
                        <a:rPr lang="en-GB" sz="1400" dirty="0"/>
                        <a:t>t3a.medium</a:t>
                      </a:r>
                    </a:p>
                  </a:txBody>
                  <a:tcPr/>
                </a:tc>
                <a:tc>
                  <a:txBody>
                    <a:bodyPr/>
                    <a:lstStyle/>
                    <a:p>
                      <a:endParaRPr lang="en-GB" sz="1400" dirty="0"/>
                    </a:p>
                  </a:txBody>
                  <a:tcPr/>
                </a:tc>
                <a:tc>
                  <a:txBody>
                    <a:bodyPr/>
                    <a:lstStyle/>
                    <a:p>
                      <a:r>
                        <a:rPr lang="en-GB" sz="1400" dirty="0"/>
                        <a:t>c6a.large</a:t>
                      </a:r>
                    </a:p>
                  </a:txBody>
                  <a:tcPr/>
                </a:tc>
                <a:extLst>
                  <a:ext uri="{0D108BD9-81ED-4DB2-BD59-A6C34878D82A}">
                    <a16:rowId xmlns:a16="http://schemas.microsoft.com/office/drawing/2014/main" val="1724069812"/>
                  </a:ext>
                </a:extLst>
              </a:tr>
              <a:tr h="0">
                <a:tc>
                  <a:txBody>
                    <a:bodyPr/>
                    <a:lstStyle/>
                    <a:p>
                      <a:r>
                        <a:rPr lang="en-GB" sz="1400" dirty="0"/>
                        <a:t>t3a.large</a:t>
                      </a:r>
                    </a:p>
                  </a:txBody>
                  <a:tcPr/>
                </a:tc>
                <a:tc>
                  <a:txBody>
                    <a:bodyPr/>
                    <a:lstStyle/>
                    <a:p>
                      <a:endParaRPr lang="en-GB" sz="1400" dirty="0"/>
                    </a:p>
                  </a:txBody>
                  <a:tcPr/>
                </a:tc>
                <a:tc>
                  <a:txBody>
                    <a:bodyPr/>
                    <a:lstStyle/>
                    <a:p>
                      <a:r>
                        <a:rPr lang="en-GB" sz="1400" dirty="0"/>
                        <a:t>m6a.large</a:t>
                      </a:r>
                    </a:p>
                  </a:txBody>
                  <a:tcPr/>
                </a:tc>
                <a:extLst>
                  <a:ext uri="{0D108BD9-81ED-4DB2-BD59-A6C34878D82A}">
                    <a16:rowId xmlns:a16="http://schemas.microsoft.com/office/drawing/2014/main" val="1057126517"/>
                  </a:ext>
                </a:extLst>
              </a:tr>
              <a:tr h="0">
                <a:tc>
                  <a:txBody>
                    <a:bodyPr/>
                    <a:lstStyle/>
                    <a:p>
                      <a:r>
                        <a:rPr lang="en-GB" sz="1400" dirty="0"/>
                        <a:t>t3a.small</a:t>
                      </a:r>
                    </a:p>
                  </a:txBody>
                  <a:tcPr/>
                </a:tc>
                <a:tc>
                  <a:txBody>
                    <a:bodyPr/>
                    <a:lstStyle/>
                    <a:p>
                      <a:endParaRPr lang="en-GB" sz="1400" dirty="0"/>
                    </a:p>
                  </a:txBody>
                  <a:tcPr/>
                </a:tc>
                <a:tc>
                  <a:txBody>
                    <a:bodyPr/>
                    <a:lstStyle/>
                    <a:p>
                      <a:r>
                        <a:rPr lang="en-GB" sz="1400" dirty="0"/>
                        <a:t>c6a.large</a:t>
                      </a:r>
                    </a:p>
                  </a:txBody>
                  <a:tcPr/>
                </a:tc>
                <a:extLst>
                  <a:ext uri="{0D108BD9-81ED-4DB2-BD59-A6C34878D82A}">
                    <a16:rowId xmlns:a16="http://schemas.microsoft.com/office/drawing/2014/main" val="3349648708"/>
                  </a:ext>
                </a:extLst>
              </a:tr>
              <a:tr h="0">
                <a:tc>
                  <a:txBody>
                    <a:bodyPr/>
                    <a:lstStyle/>
                    <a:p>
                      <a:r>
                        <a:rPr lang="en-GB" sz="1400" dirty="0"/>
                        <a:t>t3a.xlarge</a:t>
                      </a:r>
                    </a:p>
                  </a:txBody>
                  <a:tcPr/>
                </a:tc>
                <a:tc>
                  <a:txBody>
                    <a:bodyPr/>
                    <a:lstStyle/>
                    <a:p>
                      <a:endParaRPr lang="en-GB" sz="1400" dirty="0"/>
                    </a:p>
                  </a:txBody>
                  <a:tcPr/>
                </a:tc>
                <a:tc>
                  <a:txBody>
                    <a:bodyPr/>
                    <a:lstStyle/>
                    <a:p>
                      <a:r>
                        <a:rPr lang="en-GB" sz="1400" dirty="0"/>
                        <a:t>m6a.xlarge</a:t>
                      </a:r>
                    </a:p>
                  </a:txBody>
                  <a:tcPr/>
                </a:tc>
                <a:extLst>
                  <a:ext uri="{0D108BD9-81ED-4DB2-BD59-A6C34878D82A}">
                    <a16:rowId xmlns:a16="http://schemas.microsoft.com/office/drawing/2014/main" val="2535201958"/>
                  </a:ext>
                </a:extLst>
              </a:tr>
            </a:tbl>
          </a:graphicData>
        </a:graphic>
      </p:graphicFrame>
      <p:sp>
        <p:nvSpPr>
          <p:cNvPr id="12" name="Arrow: Right 11">
            <a:extLst>
              <a:ext uri="{FF2B5EF4-FFF2-40B4-BE49-F238E27FC236}">
                <a16:creationId xmlns:a16="http://schemas.microsoft.com/office/drawing/2014/main" id="{F105C587-3F70-B439-C44E-1FBD251E33B7}"/>
              </a:ext>
            </a:extLst>
          </p:cNvPr>
          <p:cNvSpPr/>
          <p:nvPr/>
        </p:nvSpPr>
        <p:spPr>
          <a:xfrm>
            <a:off x="2067340" y="5057029"/>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8F925AB4-5BC2-9075-6CCD-97602EF214B8}"/>
              </a:ext>
            </a:extLst>
          </p:cNvPr>
          <p:cNvSpPr/>
          <p:nvPr/>
        </p:nvSpPr>
        <p:spPr>
          <a:xfrm>
            <a:off x="2067339" y="5366099"/>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8C92B679-012F-213D-C945-85A56E278CF1}"/>
              </a:ext>
            </a:extLst>
          </p:cNvPr>
          <p:cNvSpPr/>
          <p:nvPr/>
        </p:nvSpPr>
        <p:spPr>
          <a:xfrm>
            <a:off x="2067339" y="5668286"/>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2F0883F1-35B3-9A5A-046F-D261CAF2496B}"/>
              </a:ext>
            </a:extLst>
          </p:cNvPr>
          <p:cNvSpPr/>
          <p:nvPr/>
        </p:nvSpPr>
        <p:spPr>
          <a:xfrm>
            <a:off x="2067339" y="5970473"/>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BECFA7AB-2634-DBB4-AD53-96DF048AAC0E}"/>
              </a:ext>
            </a:extLst>
          </p:cNvPr>
          <p:cNvSpPr txBox="1"/>
          <p:nvPr/>
        </p:nvSpPr>
        <p:spPr>
          <a:xfrm>
            <a:off x="4913907" y="4975788"/>
            <a:ext cx="3705308" cy="1384995"/>
          </a:xfrm>
          <a:prstGeom prst="rect">
            <a:avLst/>
          </a:prstGeom>
          <a:noFill/>
        </p:spPr>
        <p:txBody>
          <a:bodyPr wrap="square" rtlCol="0">
            <a:spAutoFit/>
          </a:bodyPr>
          <a:lstStyle/>
          <a:p>
            <a:r>
              <a:rPr lang="en-GB" sz="1400" dirty="0"/>
              <a:t>Where predicted CPU utilisation is more than 30%, instance is right-sized according to adjustments listed.</a:t>
            </a:r>
          </a:p>
          <a:p>
            <a:endParaRPr lang="en-GB" sz="1400" dirty="0"/>
          </a:p>
          <a:p>
            <a:r>
              <a:rPr lang="en-GB" sz="1400" dirty="0"/>
              <a:t>Where less than 30%, t instance family is retained.</a:t>
            </a:r>
          </a:p>
        </p:txBody>
      </p:sp>
      <p:sp>
        <p:nvSpPr>
          <p:cNvPr id="17" name="TextBox 16">
            <a:extLst>
              <a:ext uri="{FF2B5EF4-FFF2-40B4-BE49-F238E27FC236}">
                <a16:creationId xmlns:a16="http://schemas.microsoft.com/office/drawing/2014/main" id="{CCE0327D-ED5E-B66A-4890-F55BCD8002A1}"/>
              </a:ext>
            </a:extLst>
          </p:cNvPr>
          <p:cNvSpPr txBox="1"/>
          <p:nvPr/>
        </p:nvSpPr>
        <p:spPr>
          <a:xfrm>
            <a:off x="4913907" y="4628291"/>
            <a:ext cx="3082323" cy="584775"/>
          </a:xfrm>
          <a:prstGeom prst="rect">
            <a:avLst/>
          </a:prstGeom>
          <a:noFill/>
        </p:spPr>
        <p:txBody>
          <a:bodyPr wrap="square" rtlCol="0">
            <a:spAutoFit/>
          </a:bodyPr>
          <a:lstStyle/>
          <a:p>
            <a:r>
              <a:rPr lang="en-GB" sz="2000" dirty="0">
                <a:solidFill>
                  <a:srgbClr val="472566"/>
                </a:solidFill>
                <a:latin typeface="Avenir Next LT Pro Demi" panose="020B0704020202020204" pitchFamily="34" charset="0"/>
              </a:rPr>
              <a:t>Assumptions:</a:t>
            </a:r>
          </a:p>
          <a:p>
            <a:endParaRPr lang="en-GB" sz="1200" dirty="0"/>
          </a:p>
        </p:txBody>
      </p:sp>
    </p:spTree>
    <p:extLst>
      <p:ext uri="{BB962C8B-B14F-4D97-AF65-F5344CB8AC3E}">
        <p14:creationId xmlns:p14="http://schemas.microsoft.com/office/powerpoint/2010/main" val="4193369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11647-A354-0944-520E-1D0AD8B35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2E724-A190-36E0-2C12-4FEA895CED1D}"/>
              </a:ext>
            </a:extLst>
          </p:cNvPr>
          <p:cNvSpPr>
            <a:spLocks noGrp="1"/>
          </p:cNvSpPr>
          <p:nvPr>
            <p:ph type="title"/>
          </p:nvPr>
        </p:nvSpPr>
        <p:spPr>
          <a:xfrm>
            <a:off x="435864" y="3132107"/>
            <a:ext cx="6346599" cy="539496"/>
          </a:xfrm>
        </p:spPr>
        <p:txBody>
          <a:bodyPr>
            <a:noAutofit/>
          </a:bodyPr>
          <a:lstStyle/>
          <a:p>
            <a:pPr>
              <a:spcBef>
                <a:spcPts val="1000"/>
              </a:spcBef>
            </a:pPr>
            <a:r>
              <a:rPr lang="en-US" sz="2800" dirty="0">
                <a:solidFill>
                  <a:srgbClr val="472566"/>
                </a:solidFill>
                <a:latin typeface="Avenir Next LT Pro Demi" panose="020B0704020202020204" pitchFamily="34" charset="0"/>
                <a:ea typeface="+mn-ea"/>
                <a:cs typeface="+mn-cs"/>
              </a:rPr>
              <a:t>Adjusted for Production - AUSP </a:t>
            </a:r>
          </a:p>
        </p:txBody>
      </p:sp>
      <p:graphicFrame>
        <p:nvGraphicFramePr>
          <p:cNvPr id="7" name="Table 6">
            <a:extLst>
              <a:ext uri="{FF2B5EF4-FFF2-40B4-BE49-F238E27FC236}">
                <a16:creationId xmlns:a16="http://schemas.microsoft.com/office/drawing/2014/main" id="{CF769BA9-8172-7EB2-498A-69D97C77965E}"/>
              </a:ext>
            </a:extLst>
          </p:cNvPr>
          <p:cNvGraphicFramePr>
            <a:graphicFrameLocks noGrp="1"/>
          </p:cNvGraphicFramePr>
          <p:nvPr>
            <p:extLst>
              <p:ext uri="{D42A27DB-BD31-4B8C-83A1-F6EECF244321}">
                <p14:modId xmlns:p14="http://schemas.microsoft.com/office/powerpoint/2010/main" val="1370589509"/>
              </p:ext>
            </p:extLst>
          </p:nvPr>
        </p:nvGraphicFramePr>
        <p:xfrm>
          <a:off x="435864" y="321607"/>
          <a:ext cx="7546850" cy="2613470"/>
        </p:xfrm>
        <a:graphic>
          <a:graphicData uri="http://schemas.openxmlformats.org/drawingml/2006/table">
            <a:tbl>
              <a:tblPr/>
              <a:tblGrid>
                <a:gridCol w="1509370">
                  <a:extLst>
                    <a:ext uri="{9D8B030D-6E8A-4147-A177-3AD203B41FA5}">
                      <a16:colId xmlns:a16="http://schemas.microsoft.com/office/drawing/2014/main" val="3814246973"/>
                    </a:ext>
                  </a:extLst>
                </a:gridCol>
                <a:gridCol w="1509370">
                  <a:extLst>
                    <a:ext uri="{9D8B030D-6E8A-4147-A177-3AD203B41FA5}">
                      <a16:colId xmlns:a16="http://schemas.microsoft.com/office/drawing/2014/main" val="3780020611"/>
                    </a:ext>
                  </a:extLst>
                </a:gridCol>
                <a:gridCol w="1509370">
                  <a:extLst>
                    <a:ext uri="{9D8B030D-6E8A-4147-A177-3AD203B41FA5}">
                      <a16:colId xmlns:a16="http://schemas.microsoft.com/office/drawing/2014/main" val="3378607210"/>
                    </a:ext>
                  </a:extLst>
                </a:gridCol>
                <a:gridCol w="1509370">
                  <a:extLst>
                    <a:ext uri="{9D8B030D-6E8A-4147-A177-3AD203B41FA5}">
                      <a16:colId xmlns:a16="http://schemas.microsoft.com/office/drawing/2014/main" val="1765164425"/>
                    </a:ext>
                  </a:extLst>
                </a:gridCol>
                <a:gridCol w="1509370">
                  <a:extLst>
                    <a:ext uri="{9D8B030D-6E8A-4147-A177-3AD203B41FA5}">
                      <a16:colId xmlns:a16="http://schemas.microsoft.com/office/drawing/2014/main" val="2549330018"/>
                    </a:ext>
                  </a:extLst>
                </a:gridCol>
              </a:tblGrid>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endParaRPr lang="en-US" sz="1200" b="1" i="0" u="none" strike="noStrike" dirty="0">
                        <a:solidFill>
                          <a:srgbClr val="002060"/>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endParaRPr lang="en-US" sz="1200" b="1" i="0" u="none" strike="noStrike" dirty="0">
                        <a:solidFill>
                          <a:srgbClr val="002060"/>
                        </a:solidFill>
                        <a:effectLst/>
                        <a:latin typeface="Avenir Next LT Pro" panose="020B0504020202020204" pitchFamily="34" charset="0"/>
                      </a:endParaRP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endParaRPr lang="en-US" sz="1200" b="1" i="0" u="none" strike="noStrike" dirty="0">
                        <a:solidFill>
                          <a:srgbClr val="002060"/>
                        </a:solidFill>
                        <a:effectLst/>
                        <a:latin typeface="Avenir Next LT Pro" panose="020B0504020202020204" pitchFamily="34" charset="0"/>
                      </a:endParaRP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endParaRPr lang="en-US" sz="1200" b="1" i="0" u="none" strike="noStrike" dirty="0">
                        <a:solidFill>
                          <a:srgbClr val="002060"/>
                        </a:solidFill>
                        <a:effectLst/>
                        <a:latin typeface="Avenir Next LT Pro" panose="020B0504020202020204" pitchFamily="34" charset="0"/>
                      </a:endParaRP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&lt;b3ac&gt; </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&lt;b1ac&gt;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bodc</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&lt;b3as&gt; </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&lt;b1as&gt; </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&lt;bods&gt;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$&lt;b3an&gt;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$&lt;b1an&gt;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bodn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algn="l" rtl="0" fontAlgn="ctr"/>
                      <a:r>
                        <a:rPr lang="en-US" sz="1200" b="1" i="0" u="none" strike="noStrike" dirty="0">
                          <a:solidFill>
                            <a:schemeClr val="tx1"/>
                          </a:solidFill>
                          <a:effectLst/>
                          <a:latin typeface="Avenir Next LT Pro" panose="020B0504020202020204" pitchFamily="34" charset="0"/>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$190,000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&lt;b3at&gt;</a:t>
                      </a:r>
                      <a:r>
                        <a:rPr lang="en-US" sz="1200" b="1"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&lt;b1at&gt;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bodt</a:t>
                      </a:r>
                      <a:r>
                        <a:rPr lang="en-US" sz="1200" b="1" dirty="0">
                          <a:solidFill>
                            <a:schemeClr val="tx1"/>
                          </a:solidFill>
                          <a:latin typeface="Avenir Next LT Pro" panose="020B0504020202020204" pitchFamily="34" charset="77"/>
                        </a:rPr>
                        <a:t>&gt;</a:t>
                      </a:r>
                      <a:r>
                        <a:rPr lang="en-US" sz="1200" b="1"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348958">
                <a:tc>
                  <a:txBody>
                    <a:bodyPr/>
                    <a:lstStyle/>
                    <a:p>
                      <a:pPr algn="l" rtl="0" fontAlgn="ctr"/>
                      <a:endParaRPr lang="en-US" sz="1200" b="1" i="0" u="none" strike="noStrike" dirty="0">
                        <a:solidFill>
                          <a:schemeClr val="bg1"/>
                        </a:solidFill>
                        <a:effectLst/>
                        <a:latin typeface="Avenir Next LT Pro" panose="020B0504020202020204" pitchFamily="34" charset="0"/>
                      </a:endParaRP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endParaRPr lang="en-US" sz="1200" b="1" i="0" u="none" strike="noStrike" kern="1200" dirty="0">
                        <a:solidFill>
                          <a:schemeClr val="bg1"/>
                        </a:solidFill>
                        <a:effectLst/>
                        <a:latin typeface="Avenir Next LT Pro" panose="020B0504020202020204" pitchFamily="34" charset="0"/>
                        <a:ea typeface="+mn-ea"/>
                        <a:cs typeface="+mn-cs"/>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&lt;b3at%&gt;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&lt;b1at%&gt;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bodt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60073716"/>
                  </a:ext>
                </a:extLst>
              </a:tr>
            </a:tbl>
          </a:graphicData>
        </a:graphic>
      </p:graphicFrame>
      <p:sp>
        <p:nvSpPr>
          <p:cNvPr id="10" name="TextBox 9">
            <a:extLst>
              <a:ext uri="{FF2B5EF4-FFF2-40B4-BE49-F238E27FC236}">
                <a16:creationId xmlns:a16="http://schemas.microsoft.com/office/drawing/2014/main" id="{83CE9AB5-FCFB-CFD8-E20C-48D137AE093F}"/>
              </a:ext>
            </a:extLst>
          </p:cNvPr>
          <p:cNvSpPr txBox="1"/>
          <p:nvPr/>
        </p:nvSpPr>
        <p:spPr>
          <a:xfrm>
            <a:off x="8806463" y="4414931"/>
            <a:ext cx="2785081" cy="1323439"/>
          </a:xfrm>
          <a:prstGeom prst="rect">
            <a:avLst/>
          </a:prstGeom>
          <a:noFill/>
        </p:spPr>
        <p:txBody>
          <a:bodyPr wrap="square" rtlCol="0">
            <a:spAutoFit/>
          </a:bodyPr>
          <a:lstStyle/>
          <a:p>
            <a:pPr marL="285750" indent="-285750">
              <a:buFont typeface="Arial" panose="020B0604020202020204" pitchFamily="34" charset="0"/>
              <a:buChar char="•"/>
            </a:pPr>
            <a:r>
              <a:rPr lang="en-GB" sz="1000" dirty="0"/>
              <a:t>T Family recommendations removed from production workloads</a:t>
            </a:r>
          </a:p>
          <a:p>
            <a:pPr marL="285750" indent="-285750">
              <a:buFont typeface="Arial" panose="020B0604020202020204" pitchFamily="34" charset="0"/>
              <a:buChar char="•"/>
            </a:pPr>
            <a:r>
              <a:rPr lang="en-GB" sz="1000" dirty="0"/>
              <a:t>CPU/memory metrics matched with more appropriate instance types</a:t>
            </a:r>
          </a:p>
          <a:p>
            <a:pPr marL="285750" indent="-285750">
              <a:buFont typeface="Arial" panose="020B0604020202020204" pitchFamily="34" charset="0"/>
              <a:buChar char="•"/>
            </a:pPr>
            <a:r>
              <a:rPr lang="en-GB" sz="1000" dirty="0"/>
              <a:t>Where no exact match, closest possible is used</a:t>
            </a:r>
          </a:p>
          <a:p>
            <a:pPr marL="285750" indent="-285750">
              <a:buFont typeface="Arial" panose="020B0604020202020204" pitchFamily="34" charset="0"/>
              <a:buChar char="•"/>
            </a:pPr>
            <a:r>
              <a:rPr lang="en-GB" sz="1000" dirty="0"/>
              <a:t>Non-prod not adjusted</a:t>
            </a:r>
          </a:p>
          <a:p>
            <a:pPr marL="285750" indent="-285750">
              <a:buFont typeface="Arial" panose="020B0604020202020204" pitchFamily="34" charset="0"/>
              <a:buChar char="•"/>
            </a:pPr>
            <a:r>
              <a:rPr lang="en-GB" sz="1000" dirty="0"/>
              <a:t>Storage/network not adjusted</a:t>
            </a:r>
          </a:p>
        </p:txBody>
      </p:sp>
      <p:graphicFrame>
        <p:nvGraphicFramePr>
          <p:cNvPr id="11" name="Table 10">
            <a:extLst>
              <a:ext uri="{FF2B5EF4-FFF2-40B4-BE49-F238E27FC236}">
                <a16:creationId xmlns:a16="http://schemas.microsoft.com/office/drawing/2014/main" id="{2A88C077-C11B-A316-46E3-B94663D113FB}"/>
              </a:ext>
            </a:extLst>
          </p:cNvPr>
          <p:cNvGraphicFramePr>
            <a:graphicFrameLocks noGrp="1"/>
          </p:cNvGraphicFramePr>
          <p:nvPr>
            <p:extLst>
              <p:ext uri="{D42A27DB-BD31-4B8C-83A1-F6EECF244321}">
                <p14:modId xmlns:p14="http://schemas.microsoft.com/office/powerpoint/2010/main" val="3860237197"/>
              </p:ext>
            </p:extLst>
          </p:nvPr>
        </p:nvGraphicFramePr>
        <p:xfrm>
          <a:off x="435864" y="3868633"/>
          <a:ext cx="7546850" cy="2613470"/>
        </p:xfrm>
        <a:graphic>
          <a:graphicData uri="http://schemas.openxmlformats.org/drawingml/2006/table">
            <a:tbl>
              <a:tblPr/>
              <a:tblGrid>
                <a:gridCol w="1509370">
                  <a:extLst>
                    <a:ext uri="{9D8B030D-6E8A-4147-A177-3AD203B41FA5}">
                      <a16:colId xmlns:a16="http://schemas.microsoft.com/office/drawing/2014/main" val="3814246973"/>
                    </a:ext>
                  </a:extLst>
                </a:gridCol>
                <a:gridCol w="1509370">
                  <a:extLst>
                    <a:ext uri="{9D8B030D-6E8A-4147-A177-3AD203B41FA5}">
                      <a16:colId xmlns:a16="http://schemas.microsoft.com/office/drawing/2014/main" val="3287157208"/>
                    </a:ext>
                  </a:extLst>
                </a:gridCol>
                <a:gridCol w="1509370">
                  <a:extLst>
                    <a:ext uri="{9D8B030D-6E8A-4147-A177-3AD203B41FA5}">
                      <a16:colId xmlns:a16="http://schemas.microsoft.com/office/drawing/2014/main" val="3378607210"/>
                    </a:ext>
                  </a:extLst>
                </a:gridCol>
                <a:gridCol w="1509370">
                  <a:extLst>
                    <a:ext uri="{9D8B030D-6E8A-4147-A177-3AD203B41FA5}">
                      <a16:colId xmlns:a16="http://schemas.microsoft.com/office/drawing/2014/main" val="1765164425"/>
                    </a:ext>
                  </a:extLst>
                </a:gridCol>
                <a:gridCol w="1509370">
                  <a:extLst>
                    <a:ext uri="{9D8B030D-6E8A-4147-A177-3AD203B41FA5}">
                      <a16:colId xmlns:a16="http://schemas.microsoft.com/office/drawing/2014/main" val="2549330018"/>
                    </a:ext>
                  </a:extLst>
                </a:gridCol>
              </a:tblGrid>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b="0" i="0" u="none" strike="noStrike" dirty="0">
                          <a:solidFill>
                            <a:schemeClr val="tx1"/>
                          </a:solidFill>
                          <a:effectLst/>
                          <a:latin typeface="Avenir Next LT Pro" panose="020B0504020202020204" pitchFamily="34" charset="77"/>
                        </a:rPr>
                        <a:t>&lt;a3ac&gt;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$&lt;a1ac&gt;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aodc</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&lt;a3as&gt;</a:t>
                      </a:r>
                      <a:r>
                        <a:rPr lang="en-US" sz="1200" b="0" i="0" u="none" strike="noStrike" dirty="0">
                          <a:solidFill>
                            <a:schemeClr val="tx1"/>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&lt;a1as&gt;</a:t>
                      </a:r>
                      <a:r>
                        <a:rPr lang="en-US" sz="1200" b="0" i="0" u="none" strike="noStrike" dirty="0">
                          <a:solidFill>
                            <a:schemeClr val="tx1"/>
                          </a:solidFill>
                          <a:effectLst/>
                          <a:latin typeface="Avenir Next LT Pro" panose="020B0504020202020204" pitchFamily="34" charset="0"/>
                        </a:rPr>
                        <a:t> </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aods</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$&lt;a3an&gt;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$&lt;a1an&gt;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aodn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marL="0" algn="l"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$190,000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$&lt;a3at&gt;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$&lt;a1at&gt;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aodt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348958">
                <a:tc>
                  <a:txBody>
                    <a:bodyPr/>
                    <a:lstStyle/>
                    <a:p>
                      <a:pPr algn="l" rtl="0" fontAlgn="ctr"/>
                      <a:endParaRPr lang="en-US" sz="1200" b="1" i="0" u="none" strike="noStrike" dirty="0">
                        <a:solidFill>
                          <a:schemeClr val="bg1"/>
                        </a:solidFill>
                        <a:effectLst/>
                        <a:latin typeface="Avenir Next LT Pro" panose="020B0504020202020204" pitchFamily="34" charset="0"/>
                      </a:endParaRP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endParaRPr lang="en-US" sz="1200" b="1" i="0" u="none" strike="noStrike" kern="1200" dirty="0">
                        <a:solidFill>
                          <a:schemeClr val="bg1"/>
                        </a:solidFill>
                        <a:effectLst/>
                        <a:latin typeface="Avenir Next LT Pro" panose="020B0504020202020204" pitchFamily="34" charset="0"/>
                        <a:ea typeface="+mn-ea"/>
                        <a:cs typeface="+mn-cs"/>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&lt;a3at%&gt;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&lt;a1at%&gt;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aodt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74497177"/>
                  </a:ext>
                </a:extLst>
              </a:tr>
            </a:tbl>
          </a:graphicData>
        </a:graphic>
      </p:graphicFrame>
      <p:sp>
        <p:nvSpPr>
          <p:cNvPr id="12" name="TextBox 11">
            <a:extLst>
              <a:ext uri="{FF2B5EF4-FFF2-40B4-BE49-F238E27FC236}">
                <a16:creationId xmlns:a16="http://schemas.microsoft.com/office/drawing/2014/main" id="{D5D19D70-1260-BCDF-AE46-B5320A6C3DBE}"/>
              </a:ext>
            </a:extLst>
          </p:cNvPr>
          <p:cNvSpPr txBox="1"/>
          <p:nvPr/>
        </p:nvSpPr>
        <p:spPr>
          <a:xfrm>
            <a:off x="8806463" y="715491"/>
            <a:ext cx="2785081" cy="1938992"/>
          </a:xfrm>
          <a:prstGeom prst="rect">
            <a:avLst/>
          </a:prstGeom>
          <a:noFill/>
        </p:spPr>
        <p:txBody>
          <a:bodyPr wrap="square" rtlCol="0">
            <a:spAutoFit/>
          </a:bodyPr>
          <a:lstStyle/>
          <a:p>
            <a:pPr marL="285750" indent="-285750">
              <a:buFont typeface="Arial" panose="020B0604020202020204" pitchFamily="34" charset="0"/>
              <a:buChar char="•"/>
            </a:pPr>
            <a:r>
              <a:rPr lang="en-GB" sz="1000" dirty="0"/>
              <a:t>T instances are burstable, designed for low to moderate usage</a:t>
            </a:r>
          </a:p>
          <a:p>
            <a:pPr marL="285750" indent="-285750">
              <a:buFont typeface="Arial" panose="020B0604020202020204" pitchFamily="34" charset="0"/>
              <a:buChar char="•"/>
            </a:pPr>
            <a:r>
              <a:rPr lang="en-GB" sz="1000" dirty="0"/>
              <a:t>Not suitable for high-performance workloads</a:t>
            </a:r>
          </a:p>
          <a:p>
            <a:pPr marL="285750" indent="-285750">
              <a:buFont typeface="Arial" panose="020B0604020202020204" pitchFamily="34" charset="0"/>
              <a:buChar char="•"/>
            </a:pPr>
            <a:r>
              <a:rPr lang="en-GB" sz="1000" dirty="0"/>
              <a:t>Performance may be inconsistent depending on use-case</a:t>
            </a:r>
          </a:p>
          <a:p>
            <a:pPr marL="285750" indent="-285750">
              <a:buFont typeface="Arial" panose="020B0604020202020204" pitchFamily="34" charset="0"/>
              <a:buChar char="•"/>
            </a:pPr>
            <a:r>
              <a:rPr lang="en-GB" sz="1000" dirty="0"/>
              <a:t>CPU credit system means performance may be throttled after periods of high usage when credits are exhausted</a:t>
            </a:r>
          </a:p>
          <a:p>
            <a:pPr marL="285750" indent="-285750">
              <a:buFont typeface="Arial" panose="020B0604020202020204" pitchFamily="34" charset="0"/>
              <a:buChar char="•"/>
            </a:pPr>
            <a:r>
              <a:rPr lang="en-GB" sz="1000" dirty="0"/>
              <a:t>Network performance is also burstable so performance may be inconsistent</a:t>
            </a:r>
          </a:p>
          <a:p>
            <a:pPr marL="285750" indent="-285750">
              <a:buFont typeface="Arial" panose="020B0604020202020204" pitchFamily="34" charset="0"/>
              <a:buChar char="•"/>
            </a:pPr>
            <a:endParaRPr lang="en-GB" sz="1000" dirty="0"/>
          </a:p>
        </p:txBody>
      </p:sp>
      <p:sp>
        <p:nvSpPr>
          <p:cNvPr id="13" name="Arrow: Down 12">
            <a:extLst>
              <a:ext uri="{FF2B5EF4-FFF2-40B4-BE49-F238E27FC236}">
                <a16:creationId xmlns:a16="http://schemas.microsoft.com/office/drawing/2014/main" id="{7FBCE375-57E1-A3C3-A21D-0B39138754D9}"/>
              </a:ext>
            </a:extLst>
          </p:cNvPr>
          <p:cNvSpPr/>
          <p:nvPr/>
        </p:nvSpPr>
        <p:spPr>
          <a:xfrm>
            <a:off x="9758995" y="2752796"/>
            <a:ext cx="938676" cy="1414602"/>
          </a:xfrm>
          <a:prstGeom prst="down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2974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C0F55-3274-A957-6AD4-EE38B6F08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FEABA-52DB-2962-DC74-B949262B37CA}"/>
              </a:ext>
            </a:extLst>
          </p:cNvPr>
          <p:cNvSpPr>
            <a:spLocks noGrp="1"/>
          </p:cNvSpPr>
          <p:nvPr>
            <p:ph type="title"/>
          </p:nvPr>
        </p:nvSpPr>
        <p:spPr>
          <a:xfrm>
            <a:off x="612648" y="320040"/>
            <a:ext cx="11155680" cy="539496"/>
          </a:xfrm>
        </p:spPr>
        <p:txBody>
          <a:bodyPr>
            <a:noAutofit/>
          </a:bodyPr>
          <a:lstStyle/>
          <a:p>
            <a:pPr>
              <a:spcBef>
                <a:spcPts val="1000"/>
              </a:spcBef>
            </a:pPr>
            <a:r>
              <a:rPr lang="en-US" sz="2800" dirty="0">
                <a:solidFill>
                  <a:srgbClr val="472566"/>
                </a:solidFill>
                <a:latin typeface="Avenir Next LT Pro Demi" panose="020B0704020202020204" pitchFamily="34" charset="0"/>
                <a:ea typeface="+mn-ea"/>
                <a:cs typeface="+mn-cs"/>
              </a:rPr>
              <a:t>Adjusted for production and right-sized - AUSP</a:t>
            </a:r>
          </a:p>
        </p:txBody>
      </p:sp>
      <p:graphicFrame>
        <p:nvGraphicFramePr>
          <p:cNvPr id="7" name="Table 6">
            <a:extLst>
              <a:ext uri="{FF2B5EF4-FFF2-40B4-BE49-F238E27FC236}">
                <a16:creationId xmlns:a16="http://schemas.microsoft.com/office/drawing/2014/main" id="{B4835859-29F0-8D04-F3FC-E5736F7B16F2}"/>
              </a:ext>
            </a:extLst>
          </p:cNvPr>
          <p:cNvGraphicFramePr>
            <a:graphicFrameLocks noGrp="1"/>
          </p:cNvGraphicFramePr>
          <p:nvPr>
            <p:extLst>
              <p:ext uri="{D42A27DB-BD31-4B8C-83A1-F6EECF244321}">
                <p14:modId xmlns:p14="http://schemas.microsoft.com/office/powerpoint/2010/main" val="3330343663"/>
              </p:ext>
            </p:extLst>
          </p:nvPr>
        </p:nvGraphicFramePr>
        <p:xfrm>
          <a:off x="448056" y="1006657"/>
          <a:ext cx="9433560" cy="3126642"/>
        </p:xfrm>
        <a:graphic>
          <a:graphicData uri="http://schemas.openxmlformats.org/drawingml/2006/table">
            <a:tbl>
              <a:tblPr/>
              <a:tblGrid>
                <a:gridCol w="1886712">
                  <a:extLst>
                    <a:ext uri="{9D8B030D-6E8A-4147-A177-3AD203B41FA5}">
                      <a16:colId xmlns:a16="http://schemas.microsoft.com/office/drawing/2014/main" val="3814246973"/>
                    </a:ext>
                  </a:extLst>
                </a:gridCol>
                <a:gridCol w="1886712">
                  <a:extLst>
                    <a:ext uri="{9D8B030D-6E8A-4147-A177-3AD203B41FA5}">
                      <a16:colId xmlns:a16="http://schemas.microsoft.com/office/drawing/2014/main" val="3971102704"/>
                    </a:ext>
                  </a:extLst>
                </a:gridCol>
                <a:gridCol w="1886712">
                  <a:extLst>
                    <a:ext uri="{9D8B030D-6E8A-4147-A177-3AD203B41FA5}">
                      <a16:colId xmlns:a16="http://schemas.microsoft.com/office/drawing/2014/main" val="3378607210"/>
                    </a:ext>
                  </a:extLst>
                </a:gridCol>
                <a:gridCol w="1886712">
                  <a:extLst>
                    <a:ext uri="{9D8B030D-6E8A-4147-A177-3AD203B41FA5}">
                      <a16:colId xmlns:a16="http://schemas.microsoft.com/office/drawing/2014/main" val="1765164425"/>
                    </a:ext>
                  </a:extLst>
                </a:gridCol>
                <a:gridCol w="1886712">
                  <a:extLst>
                    <a:ext uri="{9D8B030D-6E8A-4147-A177-3AD203B41FA5}">
                      <a16:colId xmlns:a16="http://schemas.microsoft.com/office/drawing/2014/main" val="2549330018"/>
                    </a:ext>
                  </a:extLst>
                </a:gridCol>
              </a:tblGrid>
              <a:tr h="314746">
                <a:tc>
                  <a:txBody>
                    <a:bodyPr/>
                    <a:lstStyle/>
                    <a:p>
                      <a:pPr algn="l" fontAlgn="ctr"/>
                      <a:r>
                        <a:rPr lang="en-US" sz="1700" b="0" i="0" u="none" strike="noStrike" dirty="0">
                          <a:solidFill>
                            <a:srgbClr val="002060"/>
                          </a:solidFill>
                          <a:effectLst/>
                          <a:latin typeface="Avenir Next LT Pro" panose="020B0504020202020204" pitchFamily="34" charset="0"/>
                        </a:rPr>
                        <a:t> </a:t>
                      </a:r>
                    </a:p>
                  </a:txBody>
                  <a:tcPr marL="80385" marR="0" marT="0" marB="0" anchor="ctr">
                    <a:lnL>
                      <a:noFill/>
                    </a:lnL>
                    <a:lnR>
                      <a:noFill/>
                    </a:lnR>
                    <a:lnT>
                      <a:noFill/>
                    </a:lnT>
                    <a:lnB>
                      <a:noFill/>
                    </a:lnB>
                    <a:noFill/>
                  </a:tcPr>
                </a:tc>
                <a:tc>
                  <a:txBody>
                    <a:bodyPr/>
                    <a:lstStyle/>
                    <a:p>
                      <a:pPr algn="ctr" rtl="0" fontAlgn="ctr"/>
                      <a:r>
                        <a:rPr lang="en-US" sz="1300" b="0" i="0" u="none" strike="noStrike">
                          <a:solidFill>
                            <a:srgbClr val="002060"/>
                          </a:solidFill>
                          <a:effectLst/>
                          <a:latin typeface="Avenir Next LT Pro" panose="020B0504020202020204" pitchFamily="34" charset="0"/>
                        </a:rPr>
                        <a:t> </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1</a:t>
                      </a:r>
                    </a:p>
                  </a:txBody>
                  <a:tcPr marL="0" marR="0" marT="0" marB="0" anchor="ctr">
                    <a:lnL>
                      <a:noFill/>
                    </a:lnL>
                    <a:lnR>
                      <a:noFill/>
                    </a:lnR>
                    <a:lnT>
                      <a:noFill/>
                    </a:lnT>
                    <a:lnB>
                      <a:noFill/>
                    </a:lnB>
                    <a:noFill/>
                  </a:tcPr>
                </a:tc>
                <a:tc>
                  <a:txBody>
                    <a:bodyPr/>
                    <a:lstStyle/>
                    <a:p>
                      <a:pPr algn="ctr" rtl="0" fontAlgn="ctr"/>
                      <a:r>
                        <a:rPr lang="en-US" sz="1300" b="0" i="0" u="none" strike="noStrike" dirty="0">
                          <a:solidFill>
                            <a:schemeClr val="tx1"/>
                          </a:solidFill>
                          <a:effectLst/>
                          <a:latin typeface="Avenir Next LT Pro" panose="020B0504020202020204" pitchFamily="34" charset="0"/>
                        </a:rPr>
                        <a:t>Option 2</a:t>
                      </a:r>
                    </a:p>
                  </a:txBody>
                  <a:tcPr marL="0" marR="0" marT="0" marB="0" anchor="ctr">
                    <a:lnL>
                      <a:noFill/>
                    </a:lnL>
                    <a:lnR>
                      <a:noFill/>
                    </a:lnR>
                    <a:lnT>
                      <a:noFill/>
                    </a:lnT>
                    <a:lnB>
                      <a:noFill/>
                    </a:lnB>
                    <a:noFill/>
                  </a:tcPr>
                </a:tc>
                <a:tc>
                  <a:txBody>
                    <a:bodyPr/>
                    <a:lstStyle/>
                    <a:p>
                      <a:pPr algn="ctr" rtl="0" fontAlgn="ctr"/>
                      <a:r>
                        <a:rPr lang="en-US" sz="1300" b="0" i="0" u="none" strike="noStrike">
                          <a:solidFill>
                            <a:schemeClr val="tx1"/>
                          </a:solidFill>
                          <a:effectLst/>
                          <a:latin typeface="Avenir Next LT Pro" panose="020B0504020202020204" pitchFamily="34" charset="0"/>
                        </a:rPr>
                        <a:t>Option 3</a:t>
                      </a:r>
                    </a:p>
                  </a:txBody>
                  <a:tcPr marL="0" marR="0" marT="0" marB="0" anchor="ctr">
                    <a:lnL>
                      <a:noFill/>
                    </a:lnL>
                    <a:lnR>
                      <a:noFill/>
                    </a:lnR>
                    <a:lnT>
                      <a:noFill/>
                    </a:lnT>
                    <a:lnB>
                      <a:noFill/>
                    </a:lnB>
                    <a:noFill/>
                  </a:tcPr>
                </a:tc>
                <a:extLst>
                  <a:ext uri="{0D108BD9-81ED-4DB2-BD59-A6C34878D82A}">
                    <a16:rowId xmlns:a16="http://schemas.microsoft.com/office/drawing/2014/main" val="413401810"/>
                  </a:ext>
                </a:extLst>
              </a:tr>
              <a:tr h="177900">
                <a:tc rowSpan="3">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a:noFill/>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b"/>
                      <a:r>
                        <a:rPr lang="en-US" sz="1200" b="1" i="0" u="none" strike="noStrike" dirty="0">
                          <a:solidFill>
                            <a:srgbClr val="002060"/>
                          </a:solidFill>
                          <a:effectLst/>
                          <a:latin typeface="Avenir Next LT Pro" panose="020B0504020202020204" pitchFamily="34" charset="0"/>
                        </a:rPr>
                        <a:t> </a:t>
                      </a:r>
                    </a:p>
                  </a:txBody>
                  <a:tcPr marL="0" marR="0" marT="0" marB="0" anchor="b">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1338828828"/>
                  </a:ext>
                </a:extLst>
              </a:tr>
              <a:tr h="376326">
                <a:tc vMerge="1">
                  <a:txBody>
                    <a:bodyPr/>
                    <a:lstStyle/>
                    <a:p>
                      <a:endParaRPr lang="en-US"/>
                    </a:p>
                  </a:txBody>
                  <a:tcPr/>
                </a:tc>
                <a:tc>
                  <a:txBody>
                    <a:bodyPr/>
                    <a:lstStyle/>
                    <a:p>
                      <a:pPr algn="ctr" rtl="0" fontAlgn="ctr"/>
                      <a:r>
                        <a:rPr lang="en-US" sz="1100" b="1" i="0" u="none" strike="noStrike" dirty="0">
                          <a:solidFill>
                            <a:schemeClr val="bg1"/>
                          </a:solidFill>
                          <a:effectLst/>
                          <a:latin typeface="Avenir Next LT Pro" panose="020B0504020202020204" pitchFamily="34" charset="0"/>
                        </a:rPr>
                        <a:t>Like-for-like </a:t>
                      </a:r>
                    </a:p>
                    <a:p>
                      <a:pPr algn="ctr" rtl="0" fontAlgn="ctr"/>
                      <a:r>
                        <a:rPr lang="en-US" sz="1100" b="1" i="0" u="none" strike="noStrike" dirty="0">
                          <a:solidFill>
                            <a:schemeClr val="bg1"/>
                          </a:solidFill>
                          <a:effectLst/>
                          <a:latin typeface="Avenir Next LT Pro" panose="020B0504020202020204" pitchFamily="34" charset="0"/>
                        </a:rPr>
                        <a:t>unoptimized – no savings,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3 YR AUSP</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1 </a:t>
                      </a:r>
                      <a:r>
                        <a:rPr lang="en-US" sz="1100" b="1" i="0" u="none" strike="noStrike">
                          <a:solidFill>
                            <a:schemeClr val="bg1"/>
                          </a:solidFill>
                          <a:effectLst/>
                          <a:latin typeface="Avenir Next LT Pro" panose="020B0504020202020204" pitchFamily="34" charset="0"/>
                        </a:rPr>
                        <a:t>YR AUSP</a:t>
                      </a:r>
                      <a:endParaRPr lang="en-US" sz="1100" b="1" i="0" u="none" strike="noStrike" dirty="0">
                        <a:solidFill>
                          <a:schemeClr val="bg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100" b="1" i="0" u="none" strike="noStrike" dirty="0">
                          <a:solidFill>
                            <a:schemeClr val="bg1"/>
                          </a:solidFill>
                          <a:effectLst/>
                          <a:latin typeface="Avenir Next LT Pro" panose="020B0504020202020204" pitchFamily="34" charset="0"/>
                        </a:rPr>
                        <a:t>Right-sized </a:t>
                      </a:r>
                    </a:p>
                    <a:p>
                      <a:pPr algn="ctr" rtl="0" fontAlgn="ctr"/>
                      <a:r>
                        <a:rPr lang="en-US" sz="1100" b="1" i="0" u="none" strike="noStrike" dirty="0">
                          <a:solidFill>
                            <a:schemeClr val="bg1"/>
                          </a:solidFill>
                          <a:effectLst/>
                          <a:latin typeface="Avenir Next LT Pro" panose="020B0504020202020204" pitchFamily="34" charset="0"/>
                        </a:rPr>
                        <a:t>shared tenancy, on-demand</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338609179"/>
                  </a:ext>
                </a:extLst>
              </a:tr>
              <a:tr h="0">
                <a:tc vMerge="1">
                  <a:txBody>
                    <a:bodyPr/>
                    <a:lstStyle/>
                    <a:p>
                      <a:endParaRPr lang="en-US"/>
                    </a:p>
                  </a:txBody>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t"/>
                      <a:r>
                        <a:rPr lang="en-US" sz="1200" b="0" i="1" u="none" strike="noStrike" dirty="0">
                          <a:solidFill>
                            <a:srgbClr val="002060"/>
                          </a:solidFill>
                          <a:effectLst/>
                          <a:latin typeface="Avenir Next LT Pro" panose="020B0504020202020204" pitchFamily="34" charset="0"/>
                        </a:rPr>
                        <a:t> </a:t>
                      </a:r>
                    </a:p>
                  </a:txBody>
                  <a:tcPr marL="0" marR="0" marT="0" marB="0">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extLst>
                  <a:ext uri="{0D108BD9-81ED-4DB2-BD59-A6C34878D82A}">
                    <a16:rowId xmlns:a16="http://schemas.microsoft.com/office/drawing/2014/main" val="3596106868"/>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Compute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145,000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b="0" i="0" u="none" strike="noStrike" dirty="0">
                          <a:solidFill>
                            <a:schemeClr val="tx1"/>
                          </a:solidFill>
                          <a:effectLst/>
                          <a:latin typeface="Avenir Next LT Pro" panose="020B0504020202020204" pitchFamily="34" charset="77"/>
                        </a:rPr>
                        <a:t>&lt;a3ac&gt;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b="0" i="0" u="none" strike="noStrike" dirty="0">
                          <a:solidFill>
                            <a:schemeClr val="tx1"/>
                          </a:solidFill>
                          <a:effectLst/>
                          <a:latin typeface="Avenir Next LT Pro" panose="020B0504020202020204" pitchFamily="34" charset="77"/>
                        </a:rPr>
                        <a:t>&lt;a1ac&gt;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aodc</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220017839"/>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Storage</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41,000</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&lt;a3as&gt;</a:t>
                      </a:r>
                      <a:endParaRPr lang="en-US" sz="1200" b="0"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&lt;a1as&gt;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a:t>
                      </a:r>
                      <a:r>
                        <a:rPr lang="en-US" sz="1200" dirty="0">
                          <a:solidFill>
                            <a:schemeClr val="tx1"/>
                          </a:solidFill>
                          <a:latin typeface="Avenir Next LT Pro" panose="020B0504020202020204" pitchFamily="34" charset="77"/>
                        </a:rPr>
                        <a:t>&lt;</a:t>
                      </a:r>
                      <a:r>
                        <a:rPr lang="en-US" sz="1200" dirty="0" err="1">
                          <a:solidFill>
                            <a:schemeClr val="tx1"/>
                          </a:solidFill>
                          <a:latin typeface="Avenir Next LT Pro" panose="020B0504020202020204" pitchFamily="34" charset="77"/>
                        </a:rPr>
                        <a:t>aods</a:t>
                      </a:r>
                      <a:r>
                        <a:rPr lang="en-US" sz="1200" dirty="0">
                          <a:solidFill>
                            <a:schemeClr val="tx1"/>
                          </a:solidFill>
                          <a:latin typeface="Avenir Next LT Pro" panose="020B0504020202020204" pitchFamily="34" charset="77"/>
                        </a:rPr>
                        <a:t>&gt;</a:t>
                      </a:r>
                      <a:endParaRPr lang="en-US" sz="1200" b="0"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2656871950"/>
                  </a:ext>
                </a:extLst>
              </a:tr>
              <a:tr h="348958">
                <a:tc>
                  <a:txBody>
                    <a:bodyPr/>
                    <a:lstStyle/>
                    <a:p>
                      <a:pPr algn="l" rtl="0" fontAlgn="ctr"/>
                      <a:r>
                        <a:rPr lang="en-US" sz="1200" b="0" i="0" u="none" strike="noStrike" dirty="0">
                          <a:solidFill>
                            <a:schemeClr val="tx1"/>
                          </a:solidFill>
                          <a:effectLst/>
                          <a:latin typeface="Avenir Next LT Pro" panose="020B0504020202020204" pitchFamily="34" charset="0"/>
                        </a:rPr>
                        <a:t>Network</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chemeClr val="tx1"/>
                          </a:solidFill>
                          <a:effectLst/>
                          <a:latin typeface="Avenir Next LT Pro" panose="020B0504020202020204" pitchFamily="34" charset="0"/>
                        </a:rPr>
                        <a:t>$4,000</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$&lt;a3an&gt;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$&lt;a1an&gt;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$&lt;</a:t>
                      </a:r>
                      <a:r>
                        <a:rPr kumimoji="0" lang="en-US" sz="1200" b="0" i="0" u="none" strike="noStrike" kern="1200" cap="none" spc="0" normalizeH="0" baseline="0" noProof="0" dirty="0" err="1">
                          <a:ln>
                            <a:noFill/>
                          </a:ln>
                          <a:solidFill>
                            <a:schemeClr val="tx1"/>
                          </a:solidFill>
                          <a:effectLst/>
                          <a:uLnTx/>
                          <a:uFillTx/>
                          <a:latin typeface="Avenir Next LT Pro" panose="020B0504020202020204" pitchFamily="34" charset="0"/>
                          <a:ea typeface="+mn-ea"/>
                          <a:cs typeface="+mn-cs"/>
                        </a:rPr>
                        <a:t>aodn</a:t>
                      </a:r>
                      <a:r>
                        <a:rPr kumimoji="0" lang="en-US" sz="1200" b="0" i="0" u="none" strike="noStrike" kern="1200" cap="none" spc="0" normalizeH="0" baseline="0" noProof="0" dirty="0">
                          <a:ln>
                            <a:noFill/>
                          </a:ln>
                          <a:solidFill>
                            <a:schemeClr val="tx1"/>
                          </a:solidFill>
                          <a:effectLst/>
                          <a:uLnTx/>
                          <a:uFillTx/>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3217241153"/>
                  </a:ext>
                </a:extLst>
              </a:tr>
              <a:tr h="348958">
                <a:tc>
                  <a:txBody>
                    <a:bodyPr/>
                    <a:lstStyle/>
                    <a:p>
                      <a:pPr algn="l" rtl="0" fontAlgn="ctr"/>
                      <a:r>
                        <a:rPr lang="en-US" sz="1200" b="1" i="0" u="none" strike="noStrike" dirty="0">
                          <a:solidFill>
                            <a:schemeClr val="tx1"/>
                          </a:solidFill>
                          <a:effectLst/>
                          <a:latin typeface="Avenir Next LT Pro" panose="020B0504020202020204" pitchFamily="34" charset="0"/>
                        </a:rPr>
                        <a:t>Annual Total</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190,000</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i="0" u="none" strike="noStrike" dirty="0">
                          <a:solidFill>
                            <a:schemeClr val="tx1"/>
                          </a:solidFill>
                          <a:effectLst/>
                          <a:latin typeface="Avenir Next LT Pro" panose="020B0504020202020204" pitchFamily="34" charset="77"/>
                        </a:rPr>
                        <a:t>&lt;a3at&gt;</a:t>
                      </a:r>
                      <a:endParaRPr lang="en-US" sz="1200" b="1" i="0" u="none" strike="noStrike" dirty="0">
                        <a:solidFill>
                          <a:schemeClr val="tx1"/>
                        </a:solidFill>
                        <a:effectLst/>
                        <a:latin typeface="Avenir Next LT Pro" panose="020B0504020202020204" pitchFamily="34" charset="0"/>
                      </a:endParaRP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&lt;a1at&gt;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tc>
                  <a:txBody>
                    <a:bodyPr/>
                    <a:lstStyle/>
                    <a:p>
                      <a:pPr algn="ctr" rtl="0" fontAlgn="ctr"/>
                      <a:r>
                        <a:rPr lang="en-US" sz="1200" b="1" i="0" u="none" strike="noStrike" dirty="0">
                          <a:solidFill>
                            <a:schemeClr val="tx1"/>
                          </a:solidFill>
                          <a:effectLst/>
                          <a:latin typeface="Avenir Next LT Pro" panose="020B0504020202020204" pitchFamily="34" charset="0"/>
                        </a:rPr>
                        <a:t>$</a:t>
                      </a:r>
                      <a:r>
                        <a:rPr lang="en-US" sz="1200" b="1" dirty="0">
                          <a:solidFill>
                            <a:schemeClr val="tx1"/>
                          </a:solidFill>
                          <a:latin typeface="Avenir Next LT Pro" panose="020B0504020202020204" pitchFamily="34" charset="77"/>
                        </a:rPr>
                        <a:t>&lt;</a:t>
                      </a:r>
                      <a:r>
                        <a:rPr lang="en-US" sz="1200" b="1" dirty="0" err="1">
                          <a:solidFill>
                            <a:schemeClr val="tx1"/>
                          </a:solidFill>
                          <a:latin typeface="Avenir Next LT Pro" panose="020B0504020202020204" pitchFamily="34" charset="77"/>
                        </a:rPr>
                        <a:t>aodt</a:t>
                      </a:r>
                      <a:r>
                        <a:rPr lang="en-US" sz="1200" b="1" dirty="0">
                          <a:solidFill>
                            <a:schemeClr val="tx1"/>
                          </a:solidFill>
                          <a:latin typeface="Avenir Next LT Pro" panose="020B0504020202020204" pitchFamily="34" charset="77"/>
                        </a:rPr>
                        <a:t>&gt;</a:t>
                      </a:r>
                      <a:endParaRPr lang="en-US" sz="1200" b="1" i="0" u="none" strike="noStrike" dirty="0">
                        <a:solidFill>
                          <a:schemeClr val="tx1"/>
                        </a:solidFill>
                        <a:effectLst/>
                        <a:latin typeface="Avenir Next LT Pro" panose="020B0504020202020204" pitchFamily="34" charset="0"/>
                      </a:endParaRP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55199493"/>
                  </a:ext>
                </a:extLst>
              </a:tr>
              <a:tr h="547384">
                <a:tc>
                  <a:txBody>
                    <a:bodyPr/>
                    <a:lstStyle/>
                    <a:p>
                      <a:pPr algn="l" rtl="0" fontAlgn="ctr"/>
                      <a:r>
                        <a:rPr lang="en-US" sz="1200" b="0" i="0" u="none" strike="noStrike" dirty="0">
                          <a:solidFill>
                            <a:schemeClr val="tx1"/>
                          </a:solidFill>
                          <a:effectLst/>
                          <a:latin typeface="Avenir Next LT Pro" panose="020B0504020202020204" pitchFamily="34" charset="0"/>
                        </a:rPr>
                        <a:t>Annual Savings</a:t>
                      </a:r>
                    </a:p>
                  </a:txBody>
                  <a:tcPr marL="80385" marR="0" marT="0" marB="0" anchor="ctr">
                    <a:lnL>
                      <a:noFill/>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0" i="0" u="none" strike="noStrike" dirty="0">
                          <a:solidFill>
                            <a:srgbClr val="002060"/>
                          </a:solidFill>
                          <a:effectLst/>
                          <a:latin typeface="Avenir Next LT Pro" panose="020B0504020202020204" pitchFamily="34" charset="0"/>
                        </a:rPr>
                        <a:t> </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algn="ctr" rtl="0" fontAlgn="ctr"/>
                      <a:r>
                        <a:rPr lang="en-US" sz="1200" b="1" i="0" u="none" strike="noStrike" dirty="0">
                          <a:solidFill>
                            <a:schemeClr val="bg1"/>
                          </a:solidFill>
                          <a:effectLst/>
                          <a:latin typeface="Avenir Next LT Pro" panose="020B0504020202020204" pitchFamily="34" charset="0"/>
                        </a:rPr>
                        <a:t>&lt;a3at%&gt;</a:t>
                      </a:r>
                    </a:p>
                  </a:txBody>
                  <a:tcPr marL="0" marR="0" marT="0" marB="0" anchor="ct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solidFill>
                      <a:srgbClr val="3B1A3D"/>
                    </a:solidFill>
                  </a:tcPr>
                </a:tc>
                <a:tc>
                  <a:txBody>
                    <a:bodyPr/>
                    <a:lstStyle/>
                    <a:p>
                      <a:pPr algn="ctr" rtl="0" fontAlgn="ctr"/>
                      <a:r>
                        <a:rPr lang="en-US" sz="1200" b="1" i="0" u="none" strike="noStrike">
                          <a:solidFill>
                            <a:schemeClr val="tx1"/>
                          </a:solidFill>
                          <a:effectLst/>
                          <a:latin typeface="Avenir Next LT Pro" panose="020B0504020202020204" pitchFamily="34" charset="0"/>
                        </a:rPr>
                        <a:t>&lt;a1at</a:t>
                      </a:r>
                      <a:r>
                        <a:rPr lang="en-US" sz="1200" b="1" i="0" u="none" strike="noStrike" dirty="0">
                          <a:solidFill>
                            <a:schemeClr val="tx1"/>
                          </a:solidFill>
                          <a:effectLst/>
                          <a:latin typeface="Avenir Next LT Pro" panose="020B0504020202020204" pitchFamily="34" charset="0"/>
                        </a:rPr>
                        <a:t>%&gt;</a:t>
                      </a:r>
                    </a:p>
                  </a:txBody>
                  <a:tcPr marL="0" marR="0" marT="0" marB="0" anchor="ct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tc>
                  <a:txBody>
                    <a:bodyPr/>
                    <a:lstStyle/>
                    <a:p>
                      <a:pPr marL="0" algn="ctr" defTabSz="914400" rtl="0" eaLnBrk="1" fontAlgn="ctr" latinLnBrk="0" hangingPunct="1"/>
                      <a:r>
                        <a:rPr lang="en-US" sz="1200" b="1" i="0" u="none" strike="noStrike" kern="1200" dirty="0">
                          <a:solidFill>
                            <a:schemeClr val="tx1"/>
                          </a:solidFill>
                          <a:effectLst/>
                          <a:latin typeface="Avenir Next LT Pro" panose="020B0504020202020204" pitchFamily="34" charset="0"/>
                          <a:ea typeface="+mn-ea"/>
                          <a:cs typeface="+mn-cs"/>
                        </a:rPr>
                        <a:t>&lt;</a:t>
                      </a:r>
                      <a:r>
                        <a:rPr lang="en-US" sz="1200" b="1" i="0" u="none" strike="noStrike" kern="1200" dirty="0" err="1">
                          <a:solidFill>
                            <a:schemeClr val="tx1"/>
                          </a:solidFill>
                          <a:effectLst/>
                          <a:latin typeface="Avenir Next LT Pro" panose="020B0504020202020204" pitchFamily="34" charset="0"/>
                          <a:ea typeface="+mn-ea"/>
                          <a:cs typeface="+mn-cs"/>
                        </a:rPr>
                        <a:t>aodt</a:t>
                      </a:r>
                      <a:r>
                        <a:rPr lang="en-US" sz="1200" b="1" i="0" u="none" strike="noStrike" kern="1200" dirty="0">
                          <a:solidFill>
                            <a:schemeClr val="tx1"/>
                          </a:solidFill>
                          <a:effectLst/>
                          <a:latin typeface="Avenir Next LT Pro" panose="020B0504020202020204" pitchFamily="34" charset="0"/>
                          <a:ea typeface="+mn-ea"/>
                          <a:cs typeface="+mn-cs"/>
                        </a:rPr>
                        <a:t>%&gt;</a:t>
                      </a:r>
                    </a:p>
                  </a:txBody>
                  <a:tcPr marL="0" marR="0" marT="0" marB="0" anchor="ctr">
                    <a:lnL>
                      <a:noFill/>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noFill/>
                  </a:tcPr>
                </a:tc>
                <a:extLst>
                  <a:ext uri="{0D108BD9-81ED-4DB2-BD59-A6C34878D82A}">
                    <a16:rowId xmlns:a16="http://schemas.microsoft.com/office/drawing/2014/main" val="460189714"/>
                  </a:ext>
                </a:extLst>
              </a:tr>
            </a:tbl>
          </a:graphicData>
        </a:graphic>
      </p:graphicFrame>
      <p:sp>
        <p:nvSpPr>
          <p:cNvPr id="6" name="TextBox 5">
            <a:extLst>
              <a:ext uri="{FF2B5EF4-FFF2-40B4-BE49-F238E27FC236}">
                <a16:creationId xmlns:a16="http://schemas.microsoft.com/office/drawing/2014/main" id="{5BA4101E-933F-AECE-FB2F-99035669E005}"/>
              </a:ext>
            </a:extLst>
          </p:cNvPr>
          <p:cNvSpPr txBox="1"/>
          <p:nvPr/>
        </p:nvSpPr>
        <p:spPr>
          <a:xfrm>
            <a:off x="909232" y="4628291"/>
            <a:ext cx="3082323" cy="584775"/>
          </a:xfrm>
          <a:prstGeom prst="rect">
            <a:avLst/>
          </a:prstGeom>
          <a:noFill/>
        </p:spPr>
        <p:txBody>
          <a:bodyPr wrap="square" rtlCol="0">
            <a:spAutoFit/>
          </a:bodyPr>
          <a:lstStyle/>
          <a:p>
            <a:r>
              <a:rPr lang="en-GB" sz="2000" dirty="0">
                <a:solidFill>
                  <a:srgbClr val="472566"/>
                </a:solidFill>
                <a:latin typeface="Avenir Next LT Pro Demi" panose="020B0704020202020204" pitchFamily="34" charset="0"/>
              </a:rPr>
              <a:t>Adjustments:</a:t>
            </a:r>
          </a:p>
          <a:p>
            <a:endParaRPr lang="en-GB" sz="1200" dirty="0"/>
          </a:p>
        </p:txBody>
      </p:sp>
      <p:graphicFrame>
        <p:nvGraphicFramePr>
          <p:cNvPr id="11" name="Table 10">
            <a:extLst>
              <a:ext uri="{FF2B5EF4-FFF2-40B4-BE49-F238E27FC236}">
                <a16:creationId xmlns:a16="http://schemas.microsoft.com/office/drawing/2014/main" id="{C3DE169F-D32E-1ACF-0411-7CAFF8D103CD}"/>
              </a:ext>
            </a:extLst>
          </p:cNvPr>
          <p:cNvGraphicFramePr>
            <a:graphicFrameLocks noGrp="1"/>
          </p:cNvGraphicFramePr>
          <p:nvPr/>
        </p:nvGraphicFramePr>
        <p:xfrm>
          <a:off x="909232" y="4972128"/>
          <a:ext cx="3082323" cy="1219200"/>
        </p:xfrm>
        <a:graphic>
          <a:graphicData uri="http://schemas.openxmlformats.org/drawingml/2006/table">
            <a:tbl>
              <a:tblPr firstRow="1" bandRow="1">
                <a:tableStyleId>{2D5ABB26-0587-4C30-8999-92F81FD0307C}</a:tableStyleId>
              </a:tblPr>
              <a:tblGrid>
                <a:gridCol w="1181472">
                  <a:extLst>
                    <a:ext uri="{9D8B030D-6E8A-4147-A177-3AD203B41FA5}">
                      <a16:colId xmlns:a16="http://schemas.microsoft.com/office/drawing/2014/main" val="2209916037"/>
                    </a:ext>
                  </a:extLst>
                </a:gridCol>
                <a:gridCol w="795620">
                  <a:extLst>
                    <a:ext uri="{9D8B030D-6E8A-4147-A177-3AD203B41FA5}">
                      <a16:colId xmlns:a16="http://schemas.microsoft.com/office/drawing/2014/main" val="4045962877"/>
                    </a:ext>
                  </a:extLst>
                </a:gridCol>
                <a:gridCol w="1105231">
                  <a:extLst>
                    <a:ext uri="{9D8B030D-6E8A-4147-A177-3AD203B41FA5}">
                      <a16:colId xmlns:a16="http://schemas.microsoft.com/office/drawing/2014/main" val="2745941609"/>
                    </a:ext>
                  </a:extLst>
                </a:gridCol>
              </a:tblGrid>
              <a:tr h="216851">
                <a:tc>
                  <a:txBody>
                    <a:bodyPr/>
                    <a:lstStyle/>
                    <a:p>
                      <a:r>
                        <a:rPr lang="en-GB" sz="1400" dirty="0"/>
                        <a:t>t3a.medium</a:t>
                      </a:r>
                    </a:p>
                  </a:txBody>
                  <a:tcPr/>
                </a:tc>
                <a:tc>
                  <a:txBody>
                    <a:bodyPr/>
                    <a:lstStyle/>
                    <a:p>
                      <a:endParaRPr lang="en-GB" sz="1400" dirty="0"/>
                    </a:p>
                  </a:txBody>
                  <a:tcPr/>
                </a:tc>
                <a:tc>
                  <a:txBody>
                    <a:bodyPr/>
                    <a:lstStyle/>
                    <a:p>
                      <a:r>
                        <a:rPr lang="en-GB" sz="1400" dirty="0"/>
                        <a:t>c6a.large</a:t>
                      </a:r>
                    </a:p>
                  </a:txBody>
                  <a:tcPr/>
                </a:tc>
                <a:extLst>
                  <a:ext uri="{0D108BD9-81ED-4DB2-BD59-A6C34878D82A}">
                    <a16:rowId xmlns:a16="http://schemas.microsoft.com/office/drawing/2014/main" val="1724069812"/>
                  </a:ext>
                </a:extLst>
              </a:tr>
              <a:tr h="0">
                <a:tc>
                  <a:txBody>
                    <a:bodyPr/>
                    <a:lstStyle/>
                    <a:p>
                      <a:r>
                        <a:rPr lang="en-GB" sz="1400" dirty="0"/>
                        <a:t>t3a.large</a:t>
                      </a:r>
                    </a:p>
                  </a:txBody>
                  <a:tcPr/>
                </a:tc>
                <a:tc>
                  <a:txBody>
                    <a:bodyPr/>
                    <a:lstStyle/>
                    <a:p>
                      <a:endParaRPr lang="en-GB" sz="1400" dirty="0"/>
                    </a:p>
                  </a:txBody>
                  <a:tcPr/>
                </a:tc>
                <a:tc>
                  <a:txBody>
                    <a:bodyPr/>
                    <a:lstStyle/>
                    <a:p>
                      <a:r>
                        <a:rPr lang="en-GB" sz="1400" dirty="0"/>
                        <a:t>m6a.large</a:t>
                      </a:r>
                    </a:p>
                  </a:txBody>
                  <a:tcPr/>
                </a:tc>
                <a:extLst>
                  <a:ext uri="{0D108BD9-81ED-4DB2-BD59-A6C34878D82A}">
                    <a16:rowId xmlns:a16="http://schemas.microsoft.com/office/drawing/2014/main" val="1057126517"/>
                  </a:ext>
                </a:extLst>
              </a:tr>
              <a:tr h="0">
                <a:tc>
                  <a:txBody>
                    <a:bodyPr/>
                    <a:lstStyle/>
                    <a:p>
                      <a:r>
                        <a:rPr lang="en-GB" sz="1400" dirty="0"/>
                        <a:t>t3a.small</a:t>
                      </a:r>
                    </a:p>
                  </a:txBody>
                  <a:tcPr/>
                </a:tc>
                <a:tc>
                  <a:txBody>
                    <a:bodyPr/>
                    <a:lstStyle/>
                    <a:p>
                      <a:endParaRPr lang="en-GB" sz="1400" dirty="0"/>
                    </a:p>
                  </a:txBody>
                  <a:tcPr/>
                </a:tc>
                <a:tc>
                  <a:txBody>
                    <a:bodyPr/>
                    <a:lstStyle/>
                    <a:p>
                      <a:r>
                        <a:rPr lang="en-GB" sz="1400" dirty="0"/>
                        <a:t>c6a.large</a:t>
                      </a:r>
                    </a:p>
                  </a:txBody>
                  <a:tcPr/>
                </a:tc>
                <a:extLst>
                  <a:ext uri="{0D108BD9-81ED-4DB2-BD59-A6C34878D82A}">
                    <a16:rowId xmlns:a16="http://schemas.microsoft.com/office/drawing/2014/main" val="3349648708"/>
                  </a:ext>
                </a:extLst>
              </a:tr>
              <a:tr h="0">
                <a:tc>
                  <a:txBody>
                    <a:bodyPr/>
                    <a:lstStyle/>
                    <a:p>
                      <a:r>
                        <a:rPr lang="en-GB" sz="1400" dirty="0"/>
                        <a:t>t3a.xlarge</a:t>
                      </a:r>
                    </a:p>
                  </a:txBody>
                  <a:tcPr/>
                </a:tc>
                <a:tc>
                  <a:txBody>
                    <a:bodyPr/>
                    <a:lstStyle/>
                    <a:p>
                      <a:endParaRPr lang="en-GB" sz="1400" dirty="0"/>
                    </a:p>
                  </a:txBody>
                  <a:tcPr/>
                </a:tc>
                <a:tc>
                  <a:txBody>
                    <a:bodyPr/>
                    <a:lstStyle/>
                    <a:p>
                      <a:r>
                        <a:rPr lang="en-GB" sz="1400" dirty="0"/>
                        <a:t>m6a.xlarge</a:t>
                      </a:r>
                    </a:p>
                  </a:txBody>
                  <a:tcPr/>
                </a:tc>
                <a:extLst>
                  <a:ext uri="{0D108BD9-81ED-4DB2-BD59-A6C34878D82A}">
                    <a16:rowId xmlns:a16="http://schemas.microsoft.com/office/drawing/2014/main" val="2535201958"/>
                  </a:ext>
                </a:extLst>
              </a:tr>
            </a:tbl>
          </a:graphicData>
        </a:graphic>
      </p:graphicFrame>
      <p:sp>
        <p:nvSpPr>
          <p:cNvPr id="12" name="Arrow: Right 11">
            <a:extLst>
              <a:ext uri="{FF2B5EF4-FFF2-40B4-BE49-F238E27FC236}">
                <a16:creationId xmlns:a16="http://schemas.microsoft.com/office/drawing/2014/main" id="{EE139498-7C1E-40DF-E7DF-CBA7D5414524}"/>
              </a:ext>
            </a:extLst>
          </p:cNvPr>
          <p:cNvSpPr/>
          <p:nvPr/>
        </p:nvSpPr>
        <p:spPr>
          <a:xfrm>
            <a:off x="2067340" y="5057029"/>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A7BEA218-DD1F-152F-68F7-A0CB72E998B0}"/>
              </a:ext>
            </a:extLst>
          </p:cNvPr>
          <p:cNvSpPr/>
          <p:nvPr/>
        </p:nvSpPr>
        <p:spPr>
          <a:xfrm>
            <a:off x="2067339" y="5366099"/>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7327BBB3-AC84-EB84-7841-06015CD4AE85}"/>
              </a:ext>
            </a:extLst>
          </p:cNvPr>
          <p:cNvSpPr/>
          <p:nvPr/>
        </p:nvSpPr>
        <p:spPr>
          <a:xfrm>
            <a:off x="2067339" y="5668286"/>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2213C3DF-703B-B549-9583-AF910EA9AEED}"/>
              </a:ext>
            </a:extLst>
          </p:cNvPr>
          <p:cNvSpPr/>
          <p:nvPr/>
        </p:nvSpPr>
        <p:spPr>
          <a:xfrm>
            <a:off x="2067339" y="5970473"/>
            <a:ext cx="699715" cy="149154"/>
          </a:xfrm>
          <a:prstGeom prst="rightArrow">
            <a:avLst/>
          </a:prstGeom>
          <a:solidFill>
            <a:srgbClr val="3B1A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8E934E80-EF94-B534-C76B-E8F9F5E48B43}"/>
              </a:ext>
            </a:extLst>
          </p:cNvPr>
          <p:cNvSpPr txBox="1"/>
          <p:nvPr/>
        </p:nvSpPr>
        <p:spPr>
          <a:xfrm>
            <a:off x="4913907" y="4975788"/>
            <a:ext cx="3705308" cy="1384995"/>
          </a:xfrm>
          <a:prstGeom prst="rect">
            <a:avLst/>
          </a:prstGeom>
          <a:noFill/>
        </p:spPr>
        <p:txBody>
          <a:bodyPr wrap="square" rtlCol="0">
            <a:spAutoFit/>
          </a:bodyPr>
          <a:lstStyle/>
          <a:p>
            <a:r>
              <a:rPr lang="en-GB" sz="1400" dirty="0"/>
              <a:t>Where predicted CPU utilisation is more than 30%, instance is right-sized according to adjustments listed.</a:t>
            </a:r>
          </a:p>
          <a:p>
            <a:endParaRPr lang="en-GB" sz="1400" dirty="0"/>
          </a:p>
          <a:p>
            <a:r>
              <a:rPr lang="en-GB" sz="1400" dirty="0"/>
              <a:t>Where less than 30%, t instance family is retained.</a:t>
            </a:r>
          </a:p>
        </p:txBody>
      </p:sp>
      <p:sp>
        <p:nvSpPr>
          <p:cNvPr id="17" name="TextBox 16">
            <a:extLst>
              <a:ext uri="{FF2B5EF4-FFF2-40B4-BE49-F238E27FC236}">
                <a16:creationId xmlns:a16="http://schemas.microsoft.com/office/drawing/2014/main" id="{37260965-565D-3FE8-05F4-62DF169EF0D6}"/>
              </a:ext>
            </a:extLst>
          </p:cNvPr>
          <p:cNvSpPr txBox="1"/>
          <p:nvPr/>
        </p:nvSpPr>
        <p:spPr>
          <a:xfrm>
            <a:off x="4913907" y="4628291"/>
            <a:ext cx="3082323" cy="584775"/>
          </a:xfrm>
          <a:prstGeom prst="rect">
            <a:avLst/>
          </a:prstGeom>
          <a:noFill/>
        </p:spPr>
        <p:txBody>
          <a:bodyPr wrap="square" rtlCol="0">
            <a:spAutoFit/>
          </a:bodyPr>
          <a:lstStyle/>
          <a:p>
            <a:r>
              <a:rPr lang="en-GB" sz="2000" dirty="0">
                <a:solidFill>
                  <a:srgbClr val="472566"/>
                </a:solidFill>
                <a:latin typeface="Avenir Next LT Pro Demi" panose="020B0704020202020204" pitchFamily="34" charset="0"/>
              </a:rPr>
              <a:t>Assumptions:</a:t>
            </a:r>
          </a:p>
          <a:p>
            <a:endParaRPr lang="en-GB" sz="1200" dirty="0"/>
          </a:p>
        </p:txBody>
      </p:sp>
    </p:spTree>
    <p:extLst>
      <p:ext uri="{BB962C8B-B14F-4D97-AF65-F5344CB8AC3E}">
        <p14:creationId xmlns:p14="http://schemas.microsoft.com/office/powerpoint/2010/main" val="1250470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9BD96-C2C4-1EAD-5312-7BFF8966921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9BEF-0D4A-BF82-1674-335C0B7F374F}"/>
              </a:ext>
            </a:extLst>
          </p:cNvPr>
          <p:cNvSpPr>
            <a:spLocks noGrp="1"/>
          </p:cNvSpPr>
          <p:nvPr>
            <p:ph type="body" sz="quarter" idx="10"/>
          </p:nvPr>
        </p:nvSpPr>
        <p:spPr/>
        <p:txBody>
          <a:bodyPr/>
          <a:lstStyle/>
          <a:p>
            <a:r>
              <a:rPr lang="en-GB" dirty="0"/>
              <a:t>Licensing considerations</a:t>
            </a:r>
          </a:p>
        </p:txBody>
      </p:sp>
    </p:spTree>
    <p:custDataLst>
      <p:custData r:id="rId1"/>
      <p:custData r:id="rId2"/>
    </p:custDataLst>
    <p:extLst>
      <p:ext uri="{BB962C8B-B14F-4D97-AF65-F5344CB8AC3E}">
        <p14:creationId xmlns:p14="http://schemas.microsoft.com/office/powerpoint/2010/main" val="2944516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06BCB0E9-0F81-E489-B493-7949C8F19373}"/>
              </a:ext>
            </a:extLst>
          </p:cNvPr>
          <p:cNvSpPr txBox="1">
            <a:spLocks/>
          </p:cNvSpPr>
          <p:nvPr/>
        </p:nvSpPr>
        <p:spPr>
          <a:xfrm>
            <a:off x="291158" y="530830"/>
            <a:ext cx="10859442" cy="11767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R="0" lvl="0" fontAlgn="auto">
              <a:spcBef>
                <a:spcPts val="1000"/>
              </a:spcBef>
              <a:spcAft>
                <a:spcPts val="0"/>
              </a:spcAft>
              <a:buClrTx/>
              <a:buSzTx/>
              <a:tabLst/>
              <a:defRPr/>
            </a:pPr>
            <a:r>
              <a:rPr lang="en-GB" sz="2800" dirty="0">
                <a:solidFill>
                  <a:srgbClr val="472566"/>
                </a:solidFill>
                <a:latin typeface="Avenir Next LT Pro Demi" panose="020B0704020202020204" pitchFamily="34" charset="0"/>
                <a:ea typeface="+mn-ea"/>
                <a:cs typeface="+mn-cs"/>
              </a:rPr>
              <a:t>MS Licensing on AWS - Key Questions</a:t>
            </a:r>
            <a:endParaRPr lang="en-US" sz="2800" dirty="0">
              <a:solidFill>
                <a:srgbClr val="472566"/>
              </a:solidFill>
              <a:latin typeface="Avenir Next LT Pro Demi" panose="020B0704020202020204" pitchFamily="34" charset="0"/>
              <a:ea typeface="+mn-ea"/>
              <a:cs typeface="+mn-cs"/>
            </a:endParaRPr>
          </a:p>
        </p:txBody>
      </p:sp>
      <p:graphicFrame>
        <p:nvGraphicFramePr>
          <p:cNvPr id="12" name="Table 12">
            <a:extLst>
              <a:ext uri="{FF2B5EF4-FFF2-40B4-BE49-F238E27FC236}">
                <a16:creationId xmlns:a16="http://schemas.microsoft.com/office/drawing/2014/main" id="{4701C083-3A67-FBE2-D4A6-1EEEF4FBE700}"/>
              </a:ext>
            </a:extLst>
          </p:cNvPr>
          <p:cNvGraphicFramePr>
            <a:graphicFrameLocks noGrp="1"/>
          </p:cNvGraphicFramePr>
          <p:nvPr>
            <p:extLst>
              <p:ext uri="{D42A27DB-BD31-4B8C-83A1-F6EECF244321}">
                <p14:modId xmlns:p14="http://schemas.microsoft.com/office/powerpoint/2010/main" val="2520248736"/>
              </p:ext>
            </p:extLst>
          </p:nvPr>
        </p:nvGraphicFramePr>
        <p:xfrm>
          <a:off x="291158" y="1324046"/>
          <a:ext cx="11609684" cy="3159054"/>
        </p:xfrm>
        <a:graphic>
          <a:graphicData uri="http://schemas.openxmlformats.org/drawingml/2006/table">
            <a:tbl>
              <a:tblPr firstRow="1" bandRow="1">
                <a:tableStyleId>{5C22544A-7EE6-4342-B048-85BDC9FD1C3A}</a:tableStyleId>
              </a:tblPr>
              <a:tblGrid>
                <a:gridCol w="2902421">
                  <a:extLst>
                    <a:ext uri="{9D8B030D-6E8A-4147-A177-3AD203B41FA5}">
                      <a16:colId xmlns:a16="http://schemas.microsoft.com/office/drawing/2014/main" val="2267936598"/>
                    </a:ext>
                  </a:extLst>
                </a:gridCol>
                <a:gridCol w="2902421">
                  <a:extLst>
                    <a:ext uri="{9D8B030D-6E8A-4147-A177-3AD203B41FA5}">
                      <a16:colId xmlns:a16="http://schemas.microsoft.com/office/drawing/2014/main" val="559819831"/>
                    </a:ext>
                  </a:extLst>
                </a:gridCol>
                <a:gridCol w="2902421">
                  <a:extLst>
                    <a:ext uri="{9D8B030D-6E8A-4147-A177-3AD203B41FA5}">
                      <a16:colId xmlns:a16="http://schemas.microsoft.com/office/drawing/2014/main" val="2036158315"/>
                    </a:ext>
                  </a:extLst>
                </a:gridCol>
                <a:gridCol w="2902421">
                  <a:extLst>
                    <a:ext uri="{9D8B030D-6E8A-4147-A177-3AD203B41FA5}">
                      <a16:colId xmlns:a16="http://schemas.microsoft.com/office/drawing/2014/main" val="3570137173"/>
                    </a:ext>
                  </a:extLst>
                </a:gridCol>
              </a:tblGrid>
              <a:tr h="1050854">
                <a:tc>
                  <a:txBody>
                    <a:bodyPr/>
                    <a:lstStyle/>
                    <a:p>
                      <a:pPr algn="ctr"/>
                      <a:r>
                        <a:rPr lang="en-GB" sz="1400" dirty="0">
                          <a:latin typeface="Avenir Next LT Pro" panose="020B0504020202020204" pitchFamily="34" charset="0"/>
                        </a:rPr>
                        <a:t>Can I reuse my existing MS</a:t>
                      </a:r>
                    </a:p>
                    <a:p>
                      <a:pPr algn="ctr"/>
                      <a:r>
                        <a:rPr lang="en-GB" sz="1400" dirty="0">
                          <a:latin typeface="Avenir Next LT Pro" panose="020B0504020202020204" pitchFamily="34" charset="0"/>
                        </a:rPr>
                        <a:t>Licenses on AWS?</a:t>
                      </a:r>
                    </a:p>
                  </a:txBody>
                  <a:tcPr>
                    <a:lnL w="12700" cmpd="sng">
                      <a:noFill/>
                    </a:lnL>
                    <a:lnR w="12700" cap="flat" cmpd="sng" algn="ctr">
                      <a:solidFill>
                        <a:srgbClr val="3B1A3D"/>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3B1A3D"/>
                    </a:solidFill>
                  </a:tcPr>
                </a:tc>
                <a:tc>
                  <a:txBody>
                    <a:bodyPr/>
                    <a:lstStyle/>
                    <a:p>
                      <a:pPr algn="ctr"/>
                      <a:r>
                        <a:rPr lang="en-GB" sz="1400" dirty="0">
                          <a:latin typeface="Avenir Next LT Pro" panose="020B0504020202020204" pitchFamily="34" charset="0"/>
                        </a:rPr>
                        <a:t>Can I optimize my systems to get the most out of my</a:t>
                      </a:r>
                    </a:p>
                    <a:p>
                      <a:pPr algn="ctr"/>
                      <a:r>
                        <a:rPr lang="en-GB" sz="1400" dirty="0">
                          <a:latin typeface="Avenir Next LT Pro" panose="020B0504020202020204" pitchFamily="34" charset="0"/>
                        </a:rPr>
                        <a:t>existing licensing?</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3B1A3D"/>
                    </a:solidFill>
                  </a:tcPr>
                </a:tc>
                <a:tc>
                  <a:txBody>
                    <a:bodyPr/>
                    <a:lstStyle/>
                    <a:p>
                      <a:pPr algn="ctr"/>
                      <a:r>
                        <a:rPr lang="en-GB" sz="1400" dirty="0">
                          <a:latin typeface="Avenir Next LT Pro" panose="020B0504020202020204" pitchFamily="34" charset="0"/>
                        </a:rPr>
                        <a:t>Can moving to AWS help me</a:t>
                      </a:r>
                    </a:p>
                    <a:p>
                      <a:pPr algn="ctr"/>
                      <a:r>
                        <a:rPr lang="en-GB" sz="1400" dirty="0">
                          <a:latin typeface="Avenir Next LT Pro" panose="020B0504020202020204" pitchFamily="34" charset="0"/>
                        </a:rPr>
                        <a:t>to reduce my MS licensing</a:t>
                      </a:r>
                    </a:p>
                    <a:p>
                      <a:pPr algn="ctr"/>
                      <a:r>
                        <a:rPr lang="en-GB" sz="1400" dirty="0">
                          <a:latin typeface="Avenir Next LT Pro" panose="020B0504020202020204" pitchFamily="34" charset="0"/>
                        </a:rPr>
                        <a:t>costs going forward?</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3B1A3D"/>
                    </a:solidFill>
                  </a:tcPr>
                </a:tc>
                <a:tc>
                  <a:txBody>
                    <a:bodyPr/>
                    <a:lstStyle/>
                    <a:p>
                      <a:pPr algn="ctr"/>
                      <a:r>
                        <a:rPr lang="en-GB" sz="1400" dirty="0">
                          <a:latin typeface="Avenir Next LT Pro" panose="020B0504020202020204" pitchFamily="34" charset="0"/>
                        </a:rPr>
                        <a:t>Can AWS help me maintain</a:t>
                      </a:r>
                    </a:p>
                    <a:p>
                      <a:pPr algn="ctr"/>
                      <a:r>
                        <a:rPr lang="en-GB" sz="1400" dirty="0">
                          <a:latin typeface="Avenir Next LT Pro" panose="020B0504020202020204" pitchFamily="34" charset="0"/>
                        </a:rPr>
                        <a:t>license compliance?</a:t>
                      </a:r>
                    </a:p>
                  </a:txBody>
                  <a:tcPr>
                    <a:lnL w="12700" cap="flat" cmpd="sng" algn="ctr">
                      <a:solidFill>
                        <a:srgbClr val="3B1A3D"/>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3B1A3D"/>
                    </a:solidFill>
                  </a:tcPr>
                </a:tc>
                <a:extLst>
                  <a:ext uri="{0D108BD9-81ED-4DB2-BD59-A6C34878D82A}">
                    <a16:rowId xmlns:a16="http://schemas.microsoft.com/office/drawing/2014/main" val="436784384"/>
                  </a:ext>
                </a:extLst>
              </a:tr>
              <a:tr h="2108200">
                <a:tc>
                  <a:txBody>
                    <a:bodyPr/>
                    <a:lstStyle/>
                    <a:p>
                      <a:pPr algn="ctr"/>
                      <a:r>
                        <a:rPr lang="en-GB" sz="1200" dirty="0">
                          <a:solidFill>
                            <a:schemeClr val="tx1"/>
                          </a:solidFill>
                          <a:latin typeface="Avenir Next LT Pro" panose="020B0504020202020204" pitchFamily="34" charset="0"/>
                        </a:rPr>
                        <a:t>Yes, certain Microsoft</a:t>
                      </a:r>
                    </a:p>
                    <a:p>
                      <a:pPr algn="ctr"/>
                      <a:r>
                        <a:rPr lang="en-GB" sz="1200" dirty="0">
                          <a:solidFill>
                            <a:schemeClr val="tx1"/>
                          </a:solidFill>
                          <a:latin typeface="Avenir Next LT Pro" panose="020B0504020202020204" pitchFamily="34" charset="0"/>
                        </a:rPr>
                        <a:t>licenses can be reused in</a:t>
                      </a:r>
                    </a:p>
                    <a:p>
                      <a:pPr algn="ctr"/>
                      <a:r>
                        <a:rPr lang="en-GB" sz="1200" dirty="0">
                          <a:solidFill>
                            <a:schemeClr val="tx1"/>
                          </a:solidFill>
                          <a:latin typeface="Avenir Next LT Pro" panose="020B0504020202020204" pitchFamily="34" charset="0"/>
                        </a:rPr>
                        <a:t>AWS, which brings down your</a:t>
                      </a:r>
                    </a:p>
                    <a:p>
                      <a:pPr algn="ctr"/>
                      <a:r>
                        <a:rPr lang="en-GB" sz="1200" dirty="0">
                          <a:solidFill>
                            <a:schemeClr val="tx1"/>
                          </a:solidFill>
                          <a:latin typeface="Avenir Next LT Pro" panose="020B0504020202020204" pitchFamily="34" charset="0"/>
                        </a:rPr>
                        <a:t>monthly AWS spend by</a:t>
                      </a:r>
                    </a:p>
                    <a:p>
                      <a:pPr algn="ctr"/>
                      <a:r>
                        <a:rPr lang="en-GB" sz="1200" dirty="0">
                          <a:solidFill>
                            <a:schemeClr val="tx1"/>
                          </a:solidFill>
                          <a:latin typeface="Avenir Next LT Pro" panose="020B0504020202020204" pitchFamily="34" charset="0"/>
                        </a:rPr>
                        <a:t>taking advantage of your</a:t>
                      </a:r>
                    </a:p>
                    <a:p>
                      <a:pPr algn="ctr"/>
                      <a:r>
                        <a:rPr lang="en-GB" sz="1200" dirty="0">
                          <a:solidFill>
                            <a:schemeClr val="tx1"/>
                          </a:solidFill>
                          <a:latin typeface="Avenir Next LT Pro" panose="020B0504020202020204" pitchFamily="34" charset="0"/>
                        </a:rPr>
                        <a:t>existing license investments.</a:t>
                      </a:r>
                      <a:r>
                        <a:rPr lang="en-GB" sz="1200" baseline="30000" dirty="0">
                          <a:solidFill>
                            <a:schemeClr val="tx1"/>
                          </a:solidFill>
                          <a:latin typeface="Avenir Next LT Pro" panose="020B0504020202020204" pitchFamily="34" charset="0"/>
                        </a:rPr>
                        <a:t>1</a:t>
                      </a:r>
                    </a:p>
                  </a:txBody>
                  <a:tcPr>
                    <a:lnL w="12700" cmpd="sng">
                      <a:noFill/>
                    </a:lnL>
                    <a:lnR w="12700" cap="flat" cmpd="sng" algn="ctr">
                      <a:solidFill>
                        <a:srgbClr val="3B1A3D"/>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dirty="0">
                          <a:solidFill>
                            <a:schemeClr val="tx1"/>
                          </a:solidFill>
                          <a:latin typeface="Avenir Next LT Pro" panose="020B0504020202020204" pitchFamily="34" charset="0"/>
                        </a:rPr>
                        <a:t>Yes, when planning a</a:t>
                      </a:r>
                    </a:p>
                    <a:p>
                      <a:pPr algn="ctr"/>
                      <a:r>
                        <a:rPr lang="en-GB" sz="1200" dirty="0">
                          <a:solidFill>
                            <a:schemeClr val="tx1"/>
                          </a:solidFill>
                          <a:latin typeface="Avenir Next LT Pro" panose="020B0504020202020204" pitchFamily="34" charset="0"/>
                        </a:rPr>
                        <a:t>migration, we want to ensure</a:t>
                      </a:r>
                    </a:p>
                    <a:p>
                      <a:pPr algn="ctr"/>
                      <a:r>
                        <a:rPr lang="en-GB" sz="1200" dirty="0">
                          <a:solidFill>
                            <a:schemeClr val="tx1"/>
                          </a:solidFill>
                          <a:latin typeface="Avenir Next LT Pro" panose="020B0504020202020204" pitchFamily="34" charset="0"/>
                        </a:rPr>
                        <a:t>you’re choosing the ec2</a:t>
                      </a:r>
                    </a:p>
                    <a:p>
                      <a:pPr algn="ctr"/>
                      <a:r>
                        <a:rPr lang="en-GB" sz="1200" dirty="0">
                          <a:solidFill>
                            <a:schemeClr val="tx1"/>
                          </a:solidFill>
                          <a:latin typeface="Avenir Next LT Pro" panose="020B0504020202020204" pitchFamily="34" charset="0"/>
                        </a:rPr>
                        <a:t>instance that is the best fit</a:t>
                      </a:r>
                    </a:p>
                    <a:p>
                      <a:pPr algn="ctr"/>
                      <a:r>
                        <a:rPr lang="en-GB" sz="1200" dirty="0">
                          <a:solidFill>
                            <a:schemeClr val="tx1"/>
                          </a:solidFill>
                          <a:latin typeface="Avenir Next LT Pro" panose="020B0504020202020204" pitchFamily="34" charset="0"/>
                        </a:rPr>
                        <a:t>for you needs, and that has</a:t>
                      </a:r>
                    </a:p>
                    <a:p>
                      <a:pPr algn="ctr"/>
                      <a:r>
                        <a:rPr lang="en-GB" sz="1200" dirty="0">
                          <a:solidFill>
                            <a:schemeClr val="tx1"/>
                          </a:solidFill>
                          <a:latin typeface="Avenir Next LT Pro" panose="020B0504020202020204" pitchFamily="34" charset="0"/>
                        </a:rPr>
                        <a:t>the best overall cost for</a:t>
                      </a:r>
                    </a:p>
                    <a:p>
                      <a:pPr algn="ctr"/>
                      <a:r>
                        <a:rPr lang="en-GB" sz="1200" dirty="0">
                          <a:solidFill>
                            <a:schemeClr val="tx1"/>
                          </a:solidFill>
                          <a:latin typeface="Avenir Next LT Pro" panose="020B0504020202020204" pitchFamily="34" charset="0"/>
                        </a:rPr>
                        <a:t>ec2 and Microsoft licensing.</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dirty="0">
                          <a:solidFill>
                            <a:schemeClr val="tx1"/>
                          </a:solidFill>
                          <a:latin typeface="Avenir Next LT Pro" panose="020B0504020202020204" pitchFamily="34" charset="0"/>
                        </a:rPr>
                        <a:t>Once migration is complete,</a:t>
                      </a:r>
                    </a:p>
                    <a:p>
                      <a:pPr algn="ctr"/>
                      <a:r>
                        <a:rPr lang="en-GB" sz="1200" dirty="0">
                          <a:solidFill>
                            <a:schemeClr val="tx1"/>
                          </a:solidFill>
                          <a:latin typeface="Avenir Next LT Pro" panose="020B0504020202020204" pitchFamily="34" charset="0"/>
                        </a:rPr>
                        <a:t>AWS Cost Explorer provides</a:t>
                      </a:r>
                    </a:p>
                    <a:p>
                      <a:pPr algn="ctr"/>
                      <a:r>
                        <a:rPr lang="en-GB" sz="1200" dirty="0">
                          <a:solidFill>
                            <a:schemeClr val="tx1"/>
                          </a:solidFill>
                          <a:latin typeface="Avenir Next LT Pro" panose="020B0504020202020204" pitchFamily="34" charset="0"/>
                        </a:rPr>
                        <a:t>recommendations for ongoing</a:t>
                      </a:r>
                    </a:p>
                    <a:p>
                      <a:pPr algn="ctr"/>
                      <a:r>
                        <a:rPr lang="en-GB" sz="1200" dirty="0">
                          <a:solidFill>
                            <a:schemeClr val="tx1"/>
                          </a:solidFill>
                          <a:latin typeface="Avenir Next LT Pro" panose="020B0504020202020204" pitchFamily="34" charset="0"/>
                        </a:rPr>
                        <a:t>optimization of your VMs, to</a:t>
                      </a:r>
                    </a:p>
                    <a:p>
                      <a:pPr algn="ctr"/>
                      <a:r>
                        <a:rPr lang="en-GB" sz="1200" dirty="0">
                          <a:solidFill>
                            <a:schemeClr val="tx1"/>
                          </a:solidFill>
                          <a:latin typeface="Avenir Next LT Pro" panose="020B0504020202020204" pitchFamily="34" charset="0"/>
                        </a:rPr>
                        <a:t>help keep your core count</a:t>
                      </a:r>
                    </a:p>
                    <a:p>
                      <a:pPr algn="ctr"/>
                      <a:r>
                        <a:rPr lang="en-GB" sz="1200" dirty="0">
                          <a:solidFill>
                            <a:schemeClr val="tx1"/>
                          </a:solidFill>
                          <a:latin typeface="Avenir Next LT Pro" panose="020B0504020202020204" pitchFamily="34" charset="0"/>
                        </a:rPr>
                        <a:t>under control.</a:t>
                      </a:r>
                      <a:r>
                        <a:rPr lang="en-GB" sz="1200" baseline="30000" dirty="0">
                          <a:solidFill>
                            <a:schemeClr val="tx1"/>
                          </a:solidFill>
                          <a:latin typeface="Avenir Next LT Pro" panose="020B0504020202020204" pitchFamily="34" charset="0"/>
                        </a:rPr>
                        <a:t>2</a:t>
                      </a:r>
                      <a:r>
                        <a:rPr lang="en-GB" sz="1200" dirty="0">
                          <a:solidFill>
                            <a:schemeClr val="tx1"/>
                          </a:solidFill>
                          <a:latin typeface="Avenir Next LT Pro" panose="020B0504020202020204" pitchFamily="34" charset="0"/>
                        </a:rPr>
                        <a:t> We can also</a:t>
                      </a:r>
                    </a:p>
                    <a:p>
                      <a:pPr algn="ctr"/>
                      <a:r>
                        <a:rPr lang="en-GB" sz="1200" dirty="0">
                          <a:solidFill>
                            <a:schemeClr val="tx1"/>
                          </a:solidFill>
                          <a:latin typeface="Avenir Next LT Pro" panose="020B0504020202020204" pitchFamily="34" charset="0"/>
                        </a:rPr>
                        <a:t>explore modernization to</a:t>
                      </a:r>
                    </a:p>
                    <a:p>
                      <a:pPr algn="ctr"/>
                      <a:r>
                        <a:rPr lang="en-GB" sz="1200" dirty="0">
                          <a:solidFill>
                            <a:schemeClr val="tx1"/>
                          </a:solidFill>
                          <a:latin typeface="Avenir Next LT Pro" panose="020B0504020202020204" pitchFamily="34" charset="0"/>
                        </a:rPr>
                        <a:t>AWS native solutions, such as</a:t>
                      </a:r>
                    </a:p>
                    <a:p>
                      <a:pPr algn="ctr"/>
                      <a:r>
                        <a:rPr lang="en-GB" sz="1200" dirty="0">
                          <a:solidFill>
                            <a:schemeClr val="tx1"/>
                          </a:solidFill>
                          <a:latin typeface="Avenir Next LT Pro" panose="020B0504020202020204" pitchFamily="34" charset="0"/>
                        </a:rPr>
                        <a:t>fully managed SQL via</a:t>
                      </a:r>
                    </a:p>
                    <a:p>
                      <a:pPr algn="ctr"/>
                      <a:r>
                        <a:rPr lang="en-GB" sz="1200" dirty="0">
                          <a:solidFill>
                            <a:schemeClr val="tx1"/>
                          </a:solidFill>
                          <a:latin typeface="Avenir Next LT Pro" panose="020B0504020202020204" pitchFamily="34" charset="0"/>
                        </a:rPr>
                        <a:t>Amazon RDS or AWS Aurora.</a:t>
                      </a:r>
                      <a:r>
                        <a:rPr lang="en-GB" sz="1200" baseline="30000" dirty="0">
                          <a:solidFill>
                            <a:schemeClr val="tx1"/>
                          </a:solidFill>
                          <a:latin typeface="Avenir Next LT Pro" panose="020B0504020202020204" pitchFamily="34" charset="0"/>
                        </a:rPr>
                        <a:t>3</a:t>
                      </a:r>
                      <a:endParaRPr lang="en-GB" sz="1200" baseline="30000" dirty="0">
                        <a:solidFill>
                          <a:schemeClr val="tx1"/>
                        </a:solidFill>
                        <a:effectLst>
                          <a:outerShdw blurRad="38100" dist="38100" dir="2700000" algn="tl">
                            <a:srgbClr val="000000">
                              <a:alpha val="43137"/>
                            </a:srgbClr>
                          </a:outerShdw>
                        </a:effectLst>
                        <a:latin typeface="Avenir Next LT Pro" panose="020B0504020202020204" pitchFamily="34" charset="0"/>
                      </a:endParaRP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dirty="0">
                          <a:solidFill>
                            <a:schemeClr val="tx1"/>
                          </a:solidFill>
                          <a:latin typeface="Avenir Next LT Pro" panose="020B0504020202020204" pitchFamily="34" charset="0"/>
                        </a:rPr>
                        <a:t>Yes,</a:t>
                      </a:r>
                    </a:p>
                    <a:p>
                      <a:pPr algn="ctr"/>
                      <a:r>
                        <a:rPr lang="en-GB" sz="1200" dirty="0">
                          <a:solidFill>
                            <a:schemeClr val="tx1"/>
                          </a:solidFill>
                          <a:latin typeface="Avenir Next LT Pro" panose="020B0504020202020204" pitchFamily="34" charset="0"/>
                        </a:rPr>
                        <a:t>AWS License Manager</a:t>
                      </a:r>
                    </a:p>
                    <a:p>
                      <a:pPr algn="ctr"/>
                      <a:r>
                        <a:rPr lang="en-GB" sz="1200" dirty="0">
                          <a:solidFill>
                            <a:schemeClr val="tx1"/>
                          </a:solidFill>
                          <a:latin typeface="Avenir Next LT Pro" panose="020B0504020202020204" pitchFamily="34" charset="0"/>
                        </a:rPr>
                        <a:t>tracks Windows and SQL</a:t>
                      </a:r>
                    </a:p>
                    <a:p>
                      <a:pPr algn="ctr"/>
                      <a:r>
                        <a:rPr lang="en-GB" sz="1200" dirty="0">
                          <a:solidFill>
                            <a:schemeClr val="tx1"/>
                          </a:solidFill>
                          <a:latin typeface="Avenir Next LT Pro" panose="020B0504020202020204" pitchFamily="34" charset="0"/>
                        </a:rPr>
                        <a:t>licensing, and even tracks</a:t>
                      </a:r>
                    </a:p>
                    <a:p>
                      <a:pPr algn="ctr"/>
                      <a:r>
                        <a:rPr lang="en-GB" sz="1200" dirty="0">
                          <a:solidFill>
                            <a:schemeClr val="tx1"/>
                          </a:solidFill>
                          <a:latin typeface="Avenir Next LT Pro" panose="020B0504020202020204" pitchFamily="34" charset="0"/>
                        </a:rPr>
                        <a:t>movement of VMs between</a:t>
                      </a:r>
                    </a:p>
                    <a:p>
                      <a:pPr algn="ctr"/>
                      <a:r>
                        <a:rPr lang="en-GB" sz="1200" dirty="0">
                          <a:solidFill>
                            <a:schemeClr val="tx1"/>
                          </a:solidFill>
                          <a:latin typeface="Avenir Next LT Pro" panose="020B0504020202020204" pitchFamily="34" charset="0"/>
                        </a:rPr>
                        <a:t>hosts to help ensure you</a:t>
                      </a:r>
                    </a:p>
                    <a:p>
                      <a:pPr algn="ctr"/>
                      <a:r>
                        <a:rPr lang="en-GB" sz="1200" dirty="0">
                          <a:solidFill>
                            <a:schemeClr val="tx1"/>
                          </a:solidFill>
                          <a:latin typeface="Avenir Next LT Pro" panose="020B0504020202020204" pitchFamily="34" charset="0"/>
                        </a:rPr>
                        <a:t>meet the 90 day license</a:t>
                      </a:r>
                    </a:p>
                    <a:p>
                      <a:pPr algn="ctr"/>
                      <a:r>
                        <a:rPr lang="en-GB" sz="1200" dirty="0">
                          <a:solidFill>
                            <a:schemeClr val="tx1"/>
                          </a:solidFill>
                          <a:latin typeface="Avenir Next LT Pro" panose="020B0504020202020204" pitchFamily="34" charset="0"/>
                        </a:rPr>
                        <a:t>movement rules for non SA</a:t>
                      </a:r>
                    </a:p>
                    <a:p>
                      <a:pPr algn="ctr"/>
                      <a:r>
                        <a:rPr lang="en-GB" sz="1200" dirty="0">
                          <a:solidFill>
                            <a:schemeClr val="tx1"/>
                          </a:solidFill>
                          <a:latin typeface="Avenir Next LT Pro" panose="020B0504020202020204" pitchFamily="34" charset="0"/>
                        </a:rPr>
                        <a:t>licenses. </a:t>
                      </a:r>
                      <a:r>
                        <a:rPr lang="en-GB" sz="1200" baseline="30000" dirty="0">
                          <a:solidFill>
                            <a:schemeClr val="tx1"/>
                          </a:solidFill>
                          <a:latin typeface="Avenir Next LT Pro" panose="020B0504020202020204" pitchFamily="34" charset="0"/>
                        </a:rPr>
                        <a:t>4</a:t>
                      </a:r>
                    </a:p>
                  </a:txBody>
                  <a:tcPr>
                    <a:lnL w="12700" cap="flat" cmpd="sng" algn="ctr">
                      <a:solidFill>
                        <a:srgbClr val="3B1A3D"/>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5569766"/>
                  </a:ext>
                </a:extLst>
              </a:tr>
            </a:tbl>
          </a:graphicData>
        </a:graphic>
      </p:graphicFrame>
      <p:sp>
        <p:nvSpPr>
          <p:cNvPr id="13" name="TextBox 12">
            <a:extLst>
              <a:ext uri="{FF2B5EF4-FFF2-40B4-BE49-F238E27FC236}">
                <a16:creationId xmlns:a16="http://schemas.microsoft.com/office/drawing/2014/main" id="{142F8909-C66A-0C9F-4E11-AA07A16A8954}"/>
              </a:ext>
            </a:extLst>
          </p:cNvPr>
          <p:cNvSpPr txBox="1"/>
          <p:nvPr/>
        </p:nvSpPr>
        <p:spPr>
          <a:xfrm>
            <a:off x="546100" y="4702957"/>
            <a:ext cx="10058400" cy="830997"/>
          </a:xfrm>
          <a:prstGeom prst="rect">
            <a:avLst/>
          </a:prstGeom>
          <a:noFill/>
        </p:spPr>
        <p:txBody>
          <a:bodyPr wrap="square" rtlCol="0">
            <a:spAutoFit/>
          </a:bodyPr>
          <a:lstStyle/>
          <a:p>
            <a:r>
              <a:rPr lang="en-GB" sz="1200" dirty="0">
                <a:solidFill>
                  <a:srgbClr val="002060"/>
                </a:solidFill>
                <a:latin typeface="Avenir Next LT Pro" panose="020B0504020202020204" pitchFamily="34" charset="0"/>
              </a:rPr>
              <a:t>1.	</a:t>
            </a:r>
            <a:r>
              <a:rPr lang="en-GB" sz="1200" dirty="0">
                <a:latin typeface="Avenir Next LT Pro" panose="020B0504020202020204" pitchFamily="34" charset="0"/>
              </a:rPr>
              <a:t>Visit</a:t>
            </a:r>
            <a:r>
              <a:rPr lang="en-GB" sz="1200" dirty="0">
                <a:solidFill>
                  <a:srgbClr val="002060"/>
                </a:solidFill>
                <a:latin typeface="Avenir Next LT Pro" panose="020B0504020202020204" pitchFamily="34" charset="0"/>
              </a:rPr>
              <a:t> </a:t>
            </a:r>
            <a:r>
              <a:rPr lang="en-GB" sz="1200" dirty="0">
                <a:solidFill>
                  <a:srgbClr val="002060"/>
                </a:solidFill>
                <a:latin typeface="Avenir Next LT Pro" panose="020B0504020202020204" pitchFamily="34" charset="0"/>
                <a:hlinkClick r:id="rId6"/>
              </a:rPr>
              <a:t>Microsoft Licensing on AWS </a:t>
            </a:r>
            <a:r>
              <a:rPr lang="en-GB" sz="1200" dirty="0">
                <a:latin typeface="Avenir Next LT Pro" panose="020B0504020202020204" pitchFamily="34" charset="0"/>
              </a:rPr>
              <a:t>and the </a:t>
            </a:r>
            <a:r>
              <a:rPr lang="en-GB" sz="1200" dirty="0">
                <a:solidFill>
                  <a:srgbClr val="002060"/>
                </a:solidFill>
                <a:latin typeface="Avenir Next LT Pro" panose="020B0504020202020204" pitchFamily="34" charset="0"/>
                <a:hlinkClick r:id="rId7"/>
              </a:rPr>
              <a:t>FAQ</a:t>
            </a:r>
            <a:r>
              <a:rPr lang="en-GB" sz="1200" dirty="0">
                <a:solidFill>
                  <a:srgbClr val="002060"/>
                </a:solidFill>
                <a:latin typeface="Avenir Next LT Pro" panose="020B0504020202020204" pitchFamily="34" charset="0"/>
              </a:rPr>
              <a:t> </a:t>
            </a:r>
            <a:r>
              <a:rPr lang="en-GB" sz="1200" dirty="0">
                <a:latin typeface="Avenir Next LT Pro" panose="020B0504020202020204" pitchFamily="34" charset="0"/>
              </a:rPr>
              <a:t>for more information</a:t>
            </a:r>
            <a:r>
              <a:rPr lang="en-GB" sz="1200" dirty="0">
                <a:solidFill>
                  <a:srgbClr val="002060"/>
                </a:solidFill>
                <a:latin typeface="Avenir Next LT Pro" panose="020B0504020202020204" pitchFamily="34" charset="0"/>
              </a:rPr>
              <a:t>.</a:t>
            </a:r>
          </a:p>
          <a:p>
            <a:r>
              <a:rPr lang="en-GB" sz="1200" dirty="0">
                <a:solidFill>
                  <a:srgbClr val="002060"/>
                </a:solidFill>
                <a:latin typeface="Avenir Next LT Pro" panose="020B0504020202020204" pitchFamily="34" charset="0"/>
              </a:rPr>
              <a:t>2.	</a:t>
            </a:r>
            <a:r>
              <a:rPr lang="en-GB" sz="1200" dirty="0">
                <a:solidFill>
                  <a:srgbClr val="002060"/>
                </a:solidFill>
                <a:latin typeface="Avenir Next LT Pro" panose="020B0504020202020204" pitchFamily="34" charset="0"/>
                <a:hlinkClick r:id="rId8"/>
              </a:rPr>
              <a:t>https://aws.amazon.com/aws cost management/</a:t>
            </a:r>
            <a:r>
              <a:rPr lang="en-GB" sz="1200" dirty="0" err="1">
                <a:solidFill>
                  <a:srgbClr val="002060"/>
                </a:solidFill>
                <a:latin typeface="Avenir Next LT Pro" panose="020B0504020202020204" pitchFamily="34" charset="0"/>
                <a:hlinkClick r:id="rId8"/>
              </a:rPr>
              <a:t>aws</a:t>
            </a:r>
            <a:r>
              <a:rPr lang="en-GB" sz="1200" dirty="0">
                <a:solidFill>
                  <a:srgbClr val="002060"/>
                </a:solidFill>
                <a:latin typeface="Avenir Next LT Pro" panose="020B0504020202020204" pitchFamily="34" charset="0"/>
                <a:hlinkClick r:id="rId8"/>
              </a:rPr>
              <a:t> cost explorer/</a:t>
            </a:r>
            <a:endParaRPr lang="en-GB" sz="1200" dirty="0">
              <a:solidFill>
                <a:srgbClr val="002060"/>
              </a:solidFill>
              <a:latin typeface="Avenir Next LT Pro" panose="020B0504020202020204" pitchFamily="34" charset="0"/>
            </a:endParaRPr>
          </a:p>
          <a:p>
            <a:r>
              <a:rPr lang="en-GB" sz="1200" dirty="0">
                <a:solidFill>
                  <a:srgbClr val="002060"/>
                </a:solidFill>
                <a:latin typeface="Avenir Next LT Pro" panose="020B0504020202020204" pitchFamily="34" charset="0"/>
              </a:rPr>
              <a:t>3.	</a:t>
            </a:r>
            <a:r>
              <a:rPr lang="en-GB" sz="1200" dirty="0">
                <a:solidFill>
                  <a:srgbClr val="002060"/>
                </a:solidFill>
                <a:latin typeface="Avenir Next LT Pro" panose="020B0504020202020204" pitchFamily="34" charset="0"/>
                <a:hlinkClick r:id="rId9"/>
              </a:rPr>
              <a:t>https://aws.amazon.com/blogs/modernizing with </a:t>
            </a:r>
            <a:r>
              <a:rPr lang="en-GB" sz="1200" dirty="0" err="1">
                <a:solidFill>
                  <a:srgbClr val="002060"/>
                </a:solidFill>
                <a:latin typeface="Avenir Next LT Pro" panose="020B0504020202020204" pitchFamily="34" charset="0"/>
                <a:hlinkClick r:id="rId9"/>
              </a:rPr>
              <a:t>aws</a:t>
            </a:r>
            <a:r>
              <a:rPr lang="en-GB" sz="1200" dirty="0">
                <a:solidFill>
                  <a:srgbClr val="002060"/>
                </a:solidFill>
                <a:latin typeface="Avenir Next LT Pro" panose="020B0504020202020204" pitchFamily="34" charset="0"/>
                <a:hlinkClick r:id="rId9"/>
              </a:rPr>
              <a:t>/three ways to run </a:t>
            </a:r>
            <a:r>
              <a:rPr lang="en-GB" sz="1200" dirty="0" err="1">
                <a:solidFill>
                  <a:srgbClr val="002060"/>
                </a:solidFill>
                <a:latin typeface="Avenir Next LT Pro" panose="020B0504020202020204" pitchFamily="34" charset="0"/>
                <a:hlinkClick r:id="rId9"/>
              </a:rPr>
              <a:t>sql</a:t>
            </a:r>
            <a:r>
              <a:rPr lang="en-GB" sz="1200" dirty="0">
                <a:solidFill>
                  <a:srgbClr val="002060"/>
                </a:solidFill>
                <a:latin typeface="Avenir Next LT Pro" panose="020B0504020202020204" pitchFamily="34" charset="0"/>
                <a:hlinkClick r:id="rId9"/>
              </a:rPr>
              <a:t> server on </a:t>
            </a:r>
            <a:r>
              <a:rPr lang="en-GB" sz="1200" dirty="0" err="1">
                <a:solidFill>
                  <a:srgbClr val="002060"/>
                </a:solidFill>
                <a:latin typeface="Avenir Next LT Pro" panose="020B0504020202020204" pitchFamily="34" charset="0"/>
                <a:hlinkClick r:id="rId9"/>
              </a:rPr>
              <a:t>aws</a:t>
            </a:r>
            <a:r>
              <a:rPr lang="en-GB" sz="1200" dirty="0">
                <a:solidFill>
                  <a:srgbClr val="002060"/>
                </a:solidFill>
                <a:latin typeface="Avenir Next LT Pro" panose="020B0504020202020204" pitchFamily="34" charset="0"/>
                <a:hlinkClick r:id="rId9"/>
              </a:rPr>
              <a:t>/</a:t>
            </a:r>
            <a:endParaRPr lang="en-GB" sz="1200" dirty="0">
              <a:solidFill>
                <a:srgbClr val="002060"/>
              </a:solidFill>
              <a:latin typeface="Avenir Next LT Pro" panose="020B0504020202020204" pitchFamily="34" charset="0"/>
            </a:endParaRPr>
          </a:p>
          <a:p>
            <a:r>
              <a:rPr lang="en-GB" sz="1200" dirty="0">
                <a:solidFill>
                  <a:srgbClr val="002060"/>
                </a:solidFill>
                <a:latin typeface="Avenir Next LT Pro" panose="020B0504020202020204" pitchFamily="34" charset="0"/>
              </a:rPr>
              <a:t>4.	</a:t>
            </a:r>
            <a:r>
              <a:rPr lang="en-GB" sz="1200" dirty="0">
                <a:solidFill>
                  <a:srgbClr val="002060"/>
                </a:solidFill>
                <a:latin typeface="Avenir Next LT Pro" panose="020B0504020202020204" pitchFamily="34" charset="0"/>
                <a:hlinkClick r:id="rId10"/>
              </a:rPr>
              <a:t>https://aws.amazon.com/license manager/</a:t>
            </a:r>
            <a:endParaRPr lang="en-GB" sz="1200" dirty="0">
              <a:solidFill>
                <a:srgbClr val="002060"/>
              </a:solidFill>
              <a:latin typeface="Avenir Next LT Pro" panose="020B0504020202020204" pitchFamily="34" charset="0"/>
            </a:endParaRPr>
          </a:p>
        </p:txBody>
      </p:sp>
      <p:cxnSp>
        <p:nvCxnSpPr>
          <p:cNvPr id="17" name="Straight Connector 16">
            <a:extLst>
              <a:ext uri="{FF2B5EF4-FFF2-40B4-BE49-F238E27FC236}">
                <a16:creationId xmlns:a16="http://schemas.microsoft.com/office/drawing/2014/main" id="{206CDA91-622F-B65E-344D-BD1292E58F93}"/>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1AD8DCE-B212-3609-774F-A7AE49EFAA2E}"/>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SOFTCAT PLC</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2" name="Picture 4">
            <a:extLst>
              <a:ext uri="{FF2B5EF4-FFF2-40B4-BE49-F238E27FC236}">
                <a16:creationId xmlns:a16="http://schemas.microsoft.com/office/drawing/2014/main" id="{CC5E1351-ADE9-E0B4-37F1-20CDD13CC499}"/>
              </a:ext>
            </a:extLst>
          </p:cNvPr>
          <p:cNvPicPr>
            <a:picLocks noChangeAspect="1"/>
          </p:cNvPicPr>
          <p:nvPr>
            <p:custDataLst>
              <p:tags r:id="rId3"/>
            </p:custDataLst>
          </p:nvPr>
        </p:nvPicPr>
        <p:blipFill rotWithShape="1">
          <a:blip r:embed="rId11">
            <a:extLst>
              <a:ext uri="{28A0092B-C50C-407E-A947-70E740481C1C}">
                <a14:useLocalDpi xmlns:a14="http://schemas.microsoft.com/office/drawing/2010/main" val="0"/>
              </a:ext>
            </a:extLst>
          </a:blip>
          <a:srcRect l="-2496" t="-4622" r="-7667" b="-12332"/>
          <a:stretch>
            <a:fillRect/>
          </a:stretch>
        </p:blipFill>
        <p:spPr>
          <a:xfrm>
            <a:off x="9545951" y="5594469"/>
            <a:ext cx="2179885" cy="720000"/>
          </a:xfrm>
          <a:prstGeom prst="rect">
            <a:avLst/>
          </a:prstGeom>
        </p:spPr>
      </p:pic>
    </p:spTree>
    <p:custDataLst>
      <p:custData r:id="rId1"/>
      <p:custData r:id="rId2"/>
    </p:custDataLst>
    <p:extLst>
      <p:ext uri="{BB962C8B-B14F-4D97-AF65-F5344CB8AC3E}">
        <p14:creationId xmlns:p14="http://schemas.microsoft.com/office/powerpoint/2010/main" val="1922076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073EEE8-F049-422F-9EBE-38E63AB98888}"/>
              </a:ext>
            </a:extLst>
          </p:cNvPr>
          <p:cNvSpPr>
            <a:spLocks noGrp="1"/>
          </p:cNvSpPr>
          <p:nvPr>
            <p:ph type="title"/>
          </p:nvPr>
        </p:nvSpPr>
        <p:spPr>
          <a:xfrm>
            <a:off x="566745" y="350305"/>
            <a:ext cx="11058510" cy="553934"/>
          </a:xfrm>
        </p:spPr>
        <p:txBody>
          <a:bodyPr/>
          <a:lstStyle/>
          <a:p>
            <a:pPr>
              <a:spcBef>
                <a:spcPts val="1000"/>
              </a:spcBef>
            </a:pPr>
            <a:r>
              <a:rPr lang="en-GB" sz="2800" dirty="0">
                <a:solidFill>
                  <a:srgbClr val="472566"/>
                </a:solidFill>
                <a:latin typeface="Avenir Next LT Pro Demi" panose="020B0704020202020204" pitchFamily="34" charset="0"/>
                <a:ea typeface="+mn-ea"/>
                <a:cs typeface="+mn-cs"/>
              </a:rPr>
              <a:t>BYOL Options for Windows Server and SQL Server</a:t>
            </a:r>
            <a:endParaRPr lang="en-US" sz="2800" dirty="0">
              <a:solidFill>
                <a:srgbClr val="472566"/>
              </a:solidFill>
              <a:latin typeface="Avenir Next LT Pro Demi" panose="020B0704020202020204" pitchFamily="34" charset="0"/>
              <a:ea typeface="+mn-ea"/>
              <a:cs typeface="+mn-cs"/>
            </a:endParaRPr>
          </a:p>
        </p:txBody>
      </p:sp>
      <p:sp>
        <p:nvSpPr>
          <p:cNvPr id="21" name="Content Placeholder 4">
            <a:extLst>
              <a:ext uri="{FF2B5EF4-FFF2-40B4-BE49-F238E27FC236}">
                <a16:creationId xmlns:a16="http://schemas.microsoft.com/office/drawing/2014/main" id="{C51FF1B3-345B-4F45-B953-67CB3FF4F6E1}"/>
              </a:ext>
            </a:extLst>
          </p:cNvPr>
          <p:cNvSpPr txBox="1">
            <a:spLocks/>
          </p:cNvSpPr>
          <p:nvPr/>
        </p:nvSpPr>
        <p:spPr>
          <a:xfrm>
            <a:off x="566744" y="959418"/>
            <a:ext cx="5173656" cy="1410669"/>
          </a:xfrm>
          <a:prstGeom prst="rect">
            <a:avLst/>
          </a:prstGeom>
        </p:spPr>
        <p:txBody>
          <a:bodyPr lIns="0" tIns="0" rIns="0" bIns="0" anchor="t"/>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defTabSz="609536">
              <a:lnSpc>
                <a:spcPct val="110000"/>
              </a:lnSpc>
              <a:spcBef>
                <a:spcPts val="601"/>
              </a:spcBef>
              <a:buClr>
                <a:srgbClr val="FCB64C"/>
              </a:buClr>
              <a:buNone/>
              <a:defRPr/>
            </a:pPr>
            <a:r>
              <a:rPr lang="en-US" sz="2133" dirty="0">
                <a:solidFill>
                  <a:schemeClr val="bg1"/>
                </a:solidFill>
                <a:latin typeface="Avenir Next LT Pro" panose="020B0504020202020204" pitchFamily="34" charset="0"/>
              </a:rPr>
              <a:t>Summary</a:t>
            </a:r>
          </a:p>
          <a:p>
            <a:pPr defTabSz="609536">
              <a:lnSpc>
                <a:spcPct val="110000"/>
              </a:lnSpc>
              <a:spcBef>
                <a:spcPts val="601"/>
              </a:spcBef>
              <a:buClr>
                <a:srgbClr val="7030A0"/>
              </a:buClr>
              <a:defRPr/>
            </a:pPr>
            <a:r>
              <a:rPr lang="en-GB" sz="1100" dirty="0">
                <a:solidFill>
                  <a:schemeClr val="bg1"/>
                </a:solidFill>
                <a:latin typeface="Avenir Next LT Pro" panose="020B0504020202020204" pitchFamily="34" charset="0"/>
              </a:rPr>
              <a:t>The table below lists the options for utilizing existing SQL Server and Windows Server licenses in AWS</a:t>
            </a:r>
            <a:endParaRPr lang="en-US" sz="1100" dirty="0">
              <a:solidFill>
                <a:schemeClr val="bg1"/>
              </a:solidFill>
              <a:latin typeface="Avenir Next LT Pro" panose="020B0504020202020204" pitchFamily="34" charset="0"/>
            </a:endParaRPr>
          </a:p>
          <a:p>
            <a:pPr defTabSz="609536">
              <a:lnSpc>
                <a:spcPct val="110000"/>
              </a:lnSpc>
              <a:spcBef>
                <a:spcPts val="601"/>
              </a:spcBef>
              <a:buClr>
                <a:srgbClr val="7030A0"/>
              </a:buClr>
              <a:defRPr/>
            </a:pPr>
            <a:r>
              <a:rPr lang="en-GB" sz="1100" dirty="0">
                <a:solidFill>
                  <a:schemeClr val="bg1"/>
                </a:solidFill>
                <a:latin typeface="Avenir Next LT Pro" panose="020B0504020202020204" pitchFamily="34" charset="0"/>
              </a:rPr>
              <a:t>Purchase date and Software Assurance benefits both impact how the licenses can be used.</a:t>
            </a:r>
            <a:endParaRPr lang="en-US" sz="1100" dirty="0">
              <a:solidFill>
                <a:schemeClr val="bg1"/>
              </a:solidFill>
              <a:latin typeface="Avenir Next LT Pro" panose="020B0504020202020204" pitchFamily="34" charset="0"/>
            </a:endParaRPr>
          </a:p>
        </p:txBody>
      </p:sp>
      <p:sp>
        <p:nvSpPr>
          <p:cNvPr id="29" name="Content Placeholder 4">
            <a:extLst>
              <a:ext uri="{FF2B5EF4-FFF2-40B4-BE49-F238E27FC236}">
                <a16:creationId xmlns:a16="http://schemas.microsoft.com/office/drawing/2014/main" id="{2353E9B5-CA17-4AA9-9DA7-C2429D64A980}"/>
              </a:ext>
            </a:extLst>
          </p:cNvPr>
          <p:cNvSpPr txBox="1">
            <a:spLocks/>
          </p:cNvSpPr>
          <p:nvPr/>
        </p:nvSpPr>
        <p:spPr>
          <a:xfrm>
            <a:off x="6412533" y="1002252"/>
            <a:ext cx="4784691" cy="5011253"/>
          </a:xfrm>
          <a:prstGeom prst="rect">
            <a:avLst/>
          </a:prstGeom>
        </p:spPr>
        <p:txBody>
          <a:bodyPr lIns="0" tIns="0" rIns="0" bIns="0" anchor="t"/>
          <a:lstStyle>
            <a:lvl1pPr marL="309026" indent="-309026" algn="l" defTabSz="609585" rtl="0" eaLnBrk="1" latinLnBrk="0" hangingPunct="1">
              <a:spcBef>
                <a:spcPct val="20000"/>
              </a:spcBef>
              <a:buClr>
                <a:schemeClr val="accent1"/>
              </a:buClr>
              <a:buFont typeface="Wingdings" panose="05000000000000000000" pitchFamily="2" charset="2"/>
              <a:buChar char="§"/>
              <a:defRPr sz="2667" b="0" i="0" kern="1200">
                <a:solidFill>
                  <a:schemeClr val="tx1"/>
                </a:solidFill>
                <a:latin typeface="+mn-lt"/>
                <a:ea typeface="+mn-ea"/>
                <a:cs typeface="Arial"/>
              </a:defRPr>
            </a:lvl1pPr>
            <a:lvl2pPr marL="609585" indent="-300559" algn="l" defTabSz="609585" rtl="0" eaLnBrk="1" latinLnBrk="0" hangingPunct="1">
              <a:spcBef>
                <a:spcPct val="20000"/>
              </a:spcBef>
              <a:buClr>
                <a:schemeClr val="accent1"/>
              </a:buClr>
              <a:buFont typeface="Arial"/>
              <a:buChar char="–"/>
              <a:defRPr sz="2400" b="0" i="0" kern="1200">
                <a:solidFill>
                  <a:schemeClr val="tx1"/>
                </a:solidFill>
                <a:latin typeface="+mn-lt"/>
                <a:ea typeface="+mn-ea"/>
                <a:cs typeface="Arial"/>
              </a:defRPr>
            </a:lvl2pPr>
            <a:lvl3pPr marL="918610" indent="-309026" algn="l" defTabSz="609585" rtl="0" eaLnBrk="1" latinLnBrk="0" hangingPunct="1">
              <a:spcBef>
                <a:spcPct val="20000"/>
              </a:spcBef>
              <a:buClr>
                <a:schemeClr val="accent1"/>
              </a:buClr>
              <a:buFont typeface="Wingdings" panose="05000000000000000000" pitchFamily="2" charset="2"/>
              <a:buChar char="§"/>
              <a:tabLst/>
              <a:defRPr sz="2133" b="0" i="0" kern="1200">
                <a:solidFill>
                  <a:schemeClr val="tx1"/>
                </a:solidFill>
                <a:latin typeface="+mn-lt"/>
                <a:ea typeface="+mn-ea"/>
                <a:cs typeface="Arial"/>
              </a:defRPr>
            </a:lvl3pPr>
            <a:lvl4pPr marL="1219170" indent="-300559" algn="l" defTabSz="609585" rtl="0" eaLnBrk="1" latinLnBrk="0" hangingPunct="1">
              <a:spcBef>
                <a:spcPct val="20000"/>
              </a:spcBef>
              <a:buClr>
                <a:schemeClr val="accent1"/>
              </a:buClr>
              <a:buFont typeface="Arial"/>
              <a:buChar char="–"/>
              <a:defRPr sz="1867" b="0" i="0" kern="1200">
                <a:solidFill>
                  <a:schemeClr val="tx1"/>
                </a:solidFill>
                <a:latin typeface="+mn-lt"/>
                <a:ea typeface="+mn-ea"/>
                <a:cs typeface="Arial"/>
              </a:defRPr>
            </a:lvl4pPr>
            <a:lvl5pPr marL="1528195" indent="-309026" algn="l" defTabSz="609585" rtl="0" eaLnBrk="1" latinLnBrk="0" hangingPunct="1">
              <a:spcBef>
                <a:spcPct val="20000"/>
              </a:spcBef>
              <a:buClr>
                <a:schemeClr val="accent1"/>
              </a:buClr>
              <a:buFont typeface="Arial"/>
              <a:buChar char="»"/>
              <a:defRPr sz="1600" b="0" i="0" kern="1200">
                <a:solidFill>
                  <a:schemeClr val="tx1"/>
                </a:solidFill>
                <a:latin typeface="+mn-lt"/>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defTabSz="609536">
              <a:lnSpc>
                <a:spcPct val="110000"/>
              </a:lnSpc>
              <a:spcBef>
                <a:spcPts val="601"/>
              </a:spcBef>
              <a:buClr>
                <a:srgbClr val="FCB64C"/>
              </a:buClr>
              <a:buNone/>
              <a:defRPr/>
            </a:pPr>
            <a:r>
              <a:rPr lang="en-US" sz="2133" dirty="0">
                <a:solidFill>
                  <a:schemeClr val="bg1"/>
                </a:solidFill>
                <a:latin typeface="Avenir Next LT Pro" panose="020B0504020202020204" pitchFamily="34" charset="0"/>
              </a:rPr>
              <a:t>Why it matters</a:t>
            </a:r>
            <a:endParaRPr lang="en-GB" sz="2133" dirty="0">
              <a:solidFill>
                <a:schemeClr val="bg1"/>
              </a:solidFill>
              <a:latin typeface="Avenir Next LT Pro" panose="020B0504020202020204" pitchFamily="34" charset="0"/>
            </a:endParaRPr>
          </a:p>
          <a:p>
            <a:pPr>
              <a:buClr>
                <a:srgbClr val="7030A0"/>
              </a:buClr>
            </a:pPr>
            <a:r>
              <a:rPr lang="en-GB" sz="1100" dirty="0">
                <a:solidFill>
                  <a:schemeClr val="bg1"/>
                </a:solidFill>
                <a:latin typeface="Avenir Next LT Pro" panose="020B0504020202020204" pitchFamily="34" charset="0"/>
              </a:rPr>
              <a:t>Re-using your Windows Server and SQL Server licenses in AWS can result in significant savings, but specific rules must be followed.</a:t>
            </a:r>
          </a:p>
          <a:p>
            <a:pPr>
              <a:buClr>
                <a:srgbClr val="7030A0"/>
              </a:buClr>
            </a:pPr>
            <a:endParaRPr lang="en-GB" sz="1100" dirty="0">
              <a:solidFill>
                <a:schemeClr val="bg1"/>
              </a:solidFill>
              <a:latin typeface="Avenir Next LT Pro" panose="020B0504020202020204" pitchFamily="34" charset="0"/>
            </a:endParaRPr>
          </a:p>
          <a:p>
            <a:pPr>
              <a:buClr>
                <a:srgbClr val="7030A0"/>
              </a:buClr>
            </a:pPr>
            <a:endParaRPr lang="en-GB" sz="1100" dirty="0">
              <a:solidFill>
                <a:schemeClr val="bg1"/>
              </a:solidFill>
              <a:latin typeface="Avenir Next LT Pro" panose="020B0504020202020204" pitchFamily="34" charset="0"/>
            </a:endParaRPr>
          </a:p>
          <a:p>
            <a:pPr marL="0" indent="0" defTabSz="609536">
              <a:lnSpc>
                <a:spcPct val="110000"/>
              </a:lnSpc>
              <a:spcBef>
                <a:spcPts val="601"/>
              </a:spcBef>
              <a:buClr>
                <a:srgbClr val="FCB64C"/>
              </a:buClr>
              <a:buNone/>
              <a:defRPr/>
            </a:pPr>
            <a:r>
              <a:rPr lang="en-GB" sz="2133" dirty="0">
                <a:solidFill>
                  <a:schemeClr val="bg1"/>
                </a:solidFill>
                <a:latin typeface="Avenir Next LT Pro" panose="020B0504020202020204" pitchFamily="34" charset="0"/>
              </a:rPr>
              <a:t>Key takeaways</a:t>
            </a:r>
          </a:p>
          <a:p>
            <a:pPr>
              <a:buClr>
                <a:srgbClr val="7030A0"/>
              </a:buClr>
            </a:pPr>
            <a:r>
              <a:rPr lang="en-GB" sz="1100" dirty="0">
                <a:solidFill>
                  <a:schemeClr val="bg1"/>
                </a:solidFill>
                <a:latin typeface="Avenir Next LT Pro" panose="020B0504020202020204" pitchFamily="34" charset="0"/>
              </a:rPr>
              <a:t>If an EA was signed before 01/10/2019 AND the product was on the original EA, then the ‘Before 01/10/2019’ rules apply. </a:t>
            </a:r>
            <a:r>
              <a:rPr lang="en-GB" sz="1100" dirty="0" err="1">
                <a:solidFill>
                  <a:schemeClr val="bg1"/>
                </a:solidFill>
                <a:latin typeface="Avenir Next LT Pro" panose="020B0504020202020204" pitchFamily="34" charset="0"/>
              </a:rPr>
              <a:t>TrueUp</a:t>
            </a:r>
            <a:r>
              <a:rPr lang="en-GB" sz="1100" dirty="0">
                <a:solidFill>
                  <a:schemeClr val="bg1"/>
                </a:solidFill>
                <a:latin typeface="Avenir Next LT Pro" panose="020B0504020202020204" pitchFamily="34" charset="0"/>
              </a:rPr>
              <a:t> quantities to these products still fall under the ‘Before 01/10/2019’ rule during the entire 3 years of the agreement.</a:t>
            </a:r>
          </a:p>
          <a:p>
            <a:pPr>
              <a:buClr>
                <a:srgbClr val="7030A0"/>
              </a:buClr>
            </a:pPr>
            <a:r>
              <a:rPr lang="en-GB" sz="1100" dirty="0">
                <a:solidFill>
                  <a:schemeClr val="bg1"/>
                </a:solidFill>
                <a:latin typeface="Avenir Next LT Pro" panose="020B0504020202020204" pitchFamily="34" charset="0"/>
              </a:rPr>
              <a:t>SA can be renewed on these products after 01/10/2019 and since the original license was purchased prior to 01/10/2019 they still fall under the ‘Before 01/10/2019’ rule However…</a:t>
            </a:r>
          </a:p>
          <a:p>
            <a:pPr>
              <a:buClr>
                <a:srgbClr val="7030A0"/>
              </a:buClr>
            </a:pPr>
            <a:r>
              <a:rPr lang="en-GB" sz="1100" dirty="0">
                <a:solidFill>
                  <a:schemeClr val="bg1"/>
                </a:solidFill>
                <a:latin typeface="Avenir Next LT Pro" panose="020B0504020202020204" pitchFamily="34" charset="0"/>
              </a:rPr>
              <a:t>If you deploy a version of the software that was released after 01/10/2019 then you need to follow the ‘After 01/10/2019’ rules.</a:t>
            </a:r>
          </a:p>
          <a:p>
            <a:pPr>
              <a:buClr>
                <a:srgbClr val="7030A0"/>
              </a:buClr>
            </a:pPr>
            <a:r>
              <a:rPr lang="en-GB" sz="1100" dirty="0">
                <a:solidFill>
                  <a:schemeClr val="bg1"/>
                </a:solidFill>
                <a:latin typeface="Avenir Next LT Pro" panose="020B0504020202020204" pitchFamily="34" charset="0"/>
              </a:rPr>
              <a:t>SA benefits for SQL server includes passive-cluster members, among other features, so consider features that may be lost when dropping SA.</a:t>
            </a:r>
          </a:p>
          <a:p>
            <a:pPr>
              <a:buClr>
                <a:srgbClr val="7030A0"/>
              </a:buClr>
            </a:pPr>
            <a:r>
              <a:rPr lang="en-GB" sz="1100" dirty="0">
                <a:solidFill>
                  <a:schemeClr val="bg1"/>
                </a:solidFill>
                <a:latin typeface="Avenir Next LT Pro" panose="020B0504020202020204" pitchFamily="34" charset="0"/>
              </a:rPr>
              <a:t>With an EA Subscription, at renewal you are forced onto the ‘After 01/10/2019’ rules (buyout option at agreement expiration lets them stay under the pre-01/10/2019 rules).</a:t>
            </a:r>
          </a:p>
          <a:p>
            <a:pPr>
              <a:buClr>
                <a:srgbClr val="7030A0"/>
              </a:buClr>
            </a:pPr>
            <a:endParaRPr lang="en-GB" sz="1100" dirty="0">
              <a:solidFill>
                <a:srgbClr val="002060"/>
              </a:solidFill>
              <a:latin typeface="Avenir Next LT Pro" panose="020B0504020202020204" pitchFamily="34" charset="0"/>
            </a:endParaRPr>
          </a:p>
          <a:p>
            <a:pPr marL="0" indent="0">
              <a:buClr>
                <a:srgbClr val="7030A0"/>
              </a:buClr>
              <a:buNone/>
            </a:pPr>
            <a:r>
              <a:rPr lang="en-GB" sz="1100" dirty="0">
                <a:solidFill>
                  <a:srgbClr val="002060"/>
                </a:solidFill>
                <a:latin typeface="Avenir Next LT Pro" panose="020B0504020202020204" pitchFamily="34" charset="0"/>
              </a:rPr>
              <a:t>* </a:t>
            </a:r>
            <a:r>
              <a:rPr lang="en-GB" sz="900" b="0" i="0" dirty="0">
                <a:solidFill>
                  <a:srgbClr val="16191F"/>
                </a:solidFill>
                <a:effectLst/>
                <a:latin typeface="Avenir Next LT Pro" panose="020B0504020202020204" pitchFamily="34" charset="0"/>
              </a:rPr>
              <a:t>Microsoft requires that you </a:t>
            </a:r>
            <a:r>
              <a:rPr lang="en-GB" sz="900" b="0" i="0" dirty="0">
                <a:solidFill>
                  <a:schemeClr val="bg1"/>
                </a:solidFill>
                <a:effectLst/>
                <a:latin typeface="Avenir Next LT Pro" panose="020B0504020202020204" pitchFamily="34" charset="0"/>
              </a:rPr>
              <a:t>complete and </a:t>
            </a:r>
            <a:r>
              <a:rPr lang="en-GB" sz="900" b="0" i="0" dirty="0">
                <a:solidFill>
                  <a:srgbClr val="16191F"/>
                </a:solidFill>
                <a:effectLst/>
                <a:latin typeface="Avenir Next LT Pro" panose="020B0504020202020204" pitchFamily="34" charset="0"/>
              </a:rPr>
              <a:t>send a License Mobility verification form which can be downloaded </a:t>
            </a:r>
            <a:r>
              <a:rPr lang="en-GB" sz="900" b="0" i="0" u="none" strike="noStrike" dirty="0">
                <a:effectLst/>
                <a:latin typeface="Avenir Next LT Pro" panose="020B0504020202020204" pitchFamily="34" charset="0"/>
                <a:hlinkClick r:id="rId3"/>
              </a:rPr>
              <a:t>here</a:t>
            </a:r>
            <a:r>
              <a:rPr lang="en-GB" sz="900" b="0" i="0" dirty="0">
                <a:solidFill>
                  <a:srgbClr val="16191F"/>
                </a:solidFill>
                <a:effectLst/>
                <a:latin typeface="Avenir Next LT Pro" panose="020B0504020202020204" pitchFamily="34" charset="0"/>
              </a:rPr>
              <a:t>. For more information, see </a:t>
            </a:r>
            <a:r>
              <a:rPr lang="en-GB" sz="900" b="0" i="0" u="none" strike="noStrike" dirty="0">
                <a:effectLst/>
                <a:latin typeface="Avenir Next LT Pro" panose="020B0504020202020204" pitchFamily="34" charset="0"/>
                <a:hlinkClick r:id="rId4"/>
              </a:rPr>
              <a:t>License Mobility</a:t>
            </a:r>
            <a:r>
              <a:rPr lang="en-GB" sz="900" b="0" i="0" dirty="0">
                <a:solidFill>
                  <a:srgbClr val="16191F"/>
                </a:solidFill>
                <a:effectLst/>
                <a:latin typeface="Avenir Next LT Pro" panose="020B0504020202020204" pitchFamily="34" charset="0"/>
              </a:rPr>
              <a:t>.</a:t>
            </a:r>
            <a:endParaRPr lang="en-GB" sz="1100" dirty="0">
              <a:solidFill>
                <a:srgbClr val="002060"/>
              </a:solidFill>
              <a:latin typeface="Avenir Next LT Pro" panose="020B0504020202020204" pitchFamily="34" charset="0"/>
            </a:endParaRPr>
          </a:p>
          <a:p>
            <a:pPr marL="0" indent="0">
              <a:buClr>
                <a:srgbClr val="7030A0"/>
              </a:buClr>
              <a:buNone/>
            </a:pPr>
            <a:endParaRPr lang="en-GB" sz="1100" dirty="0">
              <a:solidFill>
                <a:srgbClr val="002060"/>
              </a:solidFill>
              <a:latin typeface="Avenir Next LT Pro" panose="020B0504020202020204" pitchFamily="34" charset="0"/>
            </a:endParaRPr>
          </a:p>
          <a:p>
            <a:pPr marL="0" indent="0" defTabSz="609536">
              <a:lnSpc>
                <a:spcPct val="110000"/>
              </a:lnSpc>
              <a:spcBef>
                <a:spcPts val="601"/>
              </a:spcBef>
              <a:buClr>
                <a:srgbClr val="FCB64C"/>
              </a:buClr>
              <a:buNone/>
              <a:defRPr/>
            </a:pPr>
            <a:endParaRPr lang="en-US" sz="2133" dirty="0">
              <a:solidFill>
                <a:srgbClr val="002060"/>
              </a:solidFill>
              <a:latin typeface="Avenir Next LT Pro" panose="020B0504020202020204" pitchFamily="34" charset="0"/>
            </a:endParaRPr>
          </a:p>
          <a:p>
            <a:pPr marL="0" indent="0" defTabSz="609536">
              <a:lnSpc>
                <a:spcPct val="110000"/>
              </a:lnSpc>
              <a:spcBef>
                <a:spcPts val="601"/>
              </a:spcBef>
              <a:buClr>
                <a:srgbClr val="FCB64C"/>
              </a:buClr>
              <a:buNone/>
              <a:defRPr/>
            </a:pPr>
            <a:endParaRPr lang="en-US" sz="2133" dirty="0">
              <a:solidFill>
                <a:srgbClr val="002060"/>
              </a:solidFill>
              <a:latin typeface="Avenir Next LT Pro" panose="020B0504020202020204" pitchFamily="34" charset="0"/>
            </a:endParaRPr>
          </a:p>
        </p:txBody>
      </p:sp>
      <p:cxnSp>
        <p:nvCxnSpPr>
          <p:cNvPr id="39" name="Straight Connector 38">
            <a:extLst>
              <a:ext uri="{FF2B5EF4-FFF2-40B4-BE49-F238E27FC236}">
                <a16:creationId xmlns:a16="http://schemas.microsoft.com/office/drawing/2014/main" id="{EDC48708-D6B4-4CFD-A26E-87B1D705D191}"/>
              </a:ext>
            </a:extLst>
          </p:cNvPr>
          <p:cNvCxnSpPr>
            <a:cxnSpLocks/>
          </p:cNvCxnSpPr>
          <p:nvPr/>
        </p:nvCxnSpPr>
        <p:spPr>
          <a:xfrm>
            <a:off x="6023569" y="1220213"/>
            <a:ext cx="13361" cy="4575333"/>
          </a:xfrm>
          <a:prstGeom prst="line">
            <a:avLst/>
          </a:prstGeom>
          <a:ln w="6350">
            <a:solidFill>
              <a:srgbClr val="905D9F"/>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Table 2">
            <a:extLst>
              <a:ext uri="{FF2B5EF4-FFF2-40B4-BE49-F238E27FC236}">
                <a16:creationId xmlns:a16="http://schemas.microsoft.com/office/drawing/2014/main" id="{813AE218-4EC6-36B4-8DCB-C008C8573FEE}"/>
              </a:ext>
            </a:extLst>
          </p:cNvPr>
          <p:cNvGraphicFramePr>
            <a:graphicFrameLocks noGrp="1"/>
          </p:cNvGraphicFramePr>
          <p:nvPr>
            <p:extLst>
              <p:ext uri="{D42A27DB-BD31-4B8C-83A1-F6EECF244321}">
                <p14:modId xmlns:p14="http://schemas.microsoft.com/office/powerpoint/2010/main" val="2296362329"/>
              </p:ext>
            </p:extLst>
          </p:nvPr>
        </p:nvGraphicFramePr>
        <p:xfrm>
          <a:off x="474310" y="2425266"/>
          <a:ext cx="5067521" cy="3951679"/>
        </p:xfrm>
        <a:graphic>
          <a:graphicData uri="http://schemas.openxmlformats.org/drawingml/2006/table">
            <a:tbl>
              <a:tblPr firstRow="1" bandRow="1">
                <a:tableStyleId>{2D5ABB26-0587-4C30-8999-92F81FD0307C}</a:tableStyleId>
              </a:tblPr>
              <a:tblGrid>
                <a:gridCol w="1142123">
                  <a:extLst>
                    <a:ext uri="{9D8B030D-6E8A-4147-A177-3AD203B41FA5}">
                      <a16:colId xmlns:a16="http://schemas.microsoft.com/office/drawing/2014/main" val="4006182644"/>
                    </a:ext>
                  </a:extLst>
                </a:gridCol>
                <a:gridCol w="863318">
                  <a:extLst>
                    <a:ext uri="{9D8B030D-6E8A-4147-A177-3AD203B41FA5}">
                      <a16:colId xmlns:a16="http://schemas.microsoft.com/office/drawing/2014/main" val="3202673570"/>
                    </a:ext>
                  </a:extLst>
                </a:gridCol>
                <a:gridCol w="1065658">
                  <a:extLst>
                    <a:ext uri="{9D8B030D-6E8A-4147-A177-3AD203B41FA5}">
                      <a16:colId xmlns:a16="http://schemas.microsoft.com/office/drawing/2014/main" val="1993876813"/>
                    </a:ext>
                  </a:extLst>
                </a:gridCol>
                <a:gridCol w="957743">
                  <a:extLst>
                    <a:ext uri="{9D8B030D-6E8A-4147-A177-3AD203B41FA5}">
                      <a16:colId xmlns:a16="http://schemas.microsoft.com/office/drawing/2014/main" val="1506034658"/>
                    </a:ext>
                  </a:extLst>
                </a:gridCol>
                <a:gridCol w="1038679">
                  <a:extLst>
                    <a:ext uri="{9D8B030D-6E8A-4147-A177-3AD203B41FA5}">
                      <a16:colId xmlns:a16="http://schemas.microsoft.com/office/drawing/2014/main" val="3314460810"/>
                    </a:ext>
                  </a:extLst>
                </a:gridCol>
              </a:tblGrid>
              <a:tr h="749726">
                <a:tc>
                  <a:txBody>
                    <a:bodyPr/>
                    <a:lstStyle/>
                    <a:p>
                      <a:r>
                        <a:rPr lang="en-GB" sz="1400" dirty="0">
                          <a:solidFill>
                            <a:schemeClr val="tx1"/>
                          </a:solidFill>
                          <a:latin typeface="Avenir Next LT Pro" panose="020B0504020202020204" pitchFamily="34" charset="0"/>
                        </a:rPr>
                        <a:t>License purchased:</a:t>
                      </a:r>
                    </a:p>
                  </a:txBody>
                  <a:tcP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3B1A3D"/>
                    </a:solidFill>
                  </a:tcPr>
                </a:tc>
                <a:tc gridSpan="2">
                  <a:txBody>
                    <a:bodyPr/>
                    <a:lstStyle/>
                    <a:p>
                      <a:r>
                        <a:rPr lang="en-GB" sz="1400" dirty="0">
                          <a:solidFill>
                            <a:schemeClr val="tx1"/>
                          </a:solidFill>
                          <a:latin typeface="Avenir Next LT Pro" panose="020B0504020202020204" pitchFamily="34" charset="0"/>
                        </a:rPr>
                        <a:t>Before 01/10/2019</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3B1A3D"/>
                    </a:solidFill>
                  </a:tcPr>
                </a:tc>
                <a:tc hMerge="1">
                  <a:txBody>
                    <a:bodyPr/>
                    <a:lstStyle/>
                    <a:p>
                      <a:endParaRPr lang="en-GB" dirty="0"/>
                    </a:p>
                  </a:txBody>
                  <a:tcPr/>
                </a:tc>
                <a:tc gridSpan="2">
                  <a:txBody>
                    <a:bodyPr/>
                    <a:lstStyle/>
                    <a:p>
                      <a:r>
                        <a:rPr lang="en-GB" sz="1400" dirty="0">
                          <a:solidFill>
                            <a:schemeClr val="tx1"/>
                          </a:solidFill>
                          <a:latin typeface="Avenir Next LT Pro" panose="020B0504020202020204" pitchFamily="34" charset="0"/>
                        </a:rPr>
                        <a:t>After 01/10/2019</a:t>
                      </a:r>
                    </a:p>
                  </a:txBody>
                  <a:tcPr>
                    <a:lnL w="12700" cap="flat" cmpd="sng" algn="ctr">
                      <a:solidFill>
                        <a:srgbClr val="3B1A3D"/>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3B1A3D"/>
                    </a:solidFill>
                  </a:tcPr>
                </a:tc>
                <a:tc hMerge="1">
                  <a:txBody>
                    <a:bodyPr/>
                    <a:lstStyle/>
                    <a:p>
                      <a:endParaRPr lang="en-GB" dirty="0"/>
                    </a:p>
                  </a:txBody>
                  <a:tcPr/>
                </a:tc>
                <a:extLst>
                  <a:ext uri="{0D108BD9-81ED-4DB2-BD59-A6C34878D82A}">
                    <a16:rowId xmlns:a16="http://schemas.microsoft.com/office/drawing/2014/main" val="2045923233"/>
                  </a:ext>
                </a:extLst>
              </a:tr>
              <a:tr h="749726">
                <a:tc>
                  <a:txBody>
                    <a:bodyPr/>
                    <a:lstStyle/>
                    <a:p>
                      <a:endParaRPr lang="en-GB" sz="1400" dirty="0">
                        <a:solidFill>
                          <a:schemeClr val="bg1"/>
                        </a:solidFill>
                        <a:latin typeface="Avenir Next LT Pro" panose="020B0504020202020204" pitchFamily="34" charset="0"/>
                      </a:endParaRPr>
                    </a:p>
                  </a:txBody>
                  <a:tcP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Shared Tenancy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Dedicated Host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Shared Tenancy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Dedicated Host</a:t>
                      </a:r>
                    </a:p>
                  </a:txBody>
                  <a:tcPr>
                    <a:lnL w="12700" cap="flat" cmpd="sng" algn="ctr">
                      <a:solidFill>
                        <a:srgbClr val="3B1A3D"/>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23725454"/>
                  </a:ext>
                </a:extLst>
              </a:tr>
              <a:tr h="380069">
                <a:tc gridSpan="5">
                  <a:txBody>
                    <a:bodyPr/>
                    <a:lstStyle/>
                    <a:p>
                      <a:r>
                        <a:rPr lang="en-GB" sz="1400" dirty="0">
                          <a:solidFill>
                            <a:schemeClr val="tx1"/>
                          </a:solidFill>
                          <a:latin typeface="Avenir Next LT Pro" panose="020B0504020202020204" pitchFamily="34" charset="0"/>
                        </a:rPr>
                        <a:t>Windows</a:t>
                      </a:r>
                    </a:p>
                  </a:txBody>
                  <a:tcP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solidFill>
                      <a:srgbClr val="3B1A3D"/>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extLst>
                  <a:ext uri="{0D108BD9-81ED-4DB2-BD59-A6C34878D82A}">
                    <a16:rowId xmlns:a16="http://schemas.microsoft.com/office/drawing/2014/main" val="468808878"/>
                  </a:ext>
                </a:extLst>
              </a:tr>
              <a:tr h="437340">
                <a:tc>
                  <a:txBody>
                    <a:bodyPr/>
                    <a:lstStyle/>
                    <a:p>
                      <a:pPr algn="ctr"/>
                      <a:r>
                        <a:rPr lang="en-GB" sz="1400" dirty="0">
                          <a:solidFill>
                            <a:schemeClr val="bg1"/>
                          </a:solidFill>
                          <a:latin typeface="Avenir Next LT Pro" panose="020B0504020202020204" pitchFamily="34" charset="0"/>
                        </a:rPr>
                        <a:t>With SA</a:t>
                      </a:r>
                    </a:p>
                  </a:txBody>
                  <a:tcP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Y</a:t>
                      </a:r>
                      <a:br>
                        <a:rPr lang="en-GB" sz="1400" dirty="0">
                          <a:solidFill>
                            <a:schemeClr val="bg1"/>
                          </a:solidFill>
                          <a:latin typeface="Avenir Next LT Pro" panose="020B0504020202020204" pitchFamily="34" charset="0"/>
                        </a:rPr>
                      </a:br>
                      <a:r>
                        <a:rPr lang="en-GB" sz="800" dirty="0">
                          <a:solidFill>
                            <a:schemeClr val="bg1"/>
                          </a:solidFill>
                          <a:latin typeface="Avenir Next LT Pro" panose="020B0504020202020204" pitchFamily="34" charset="0"/>
                        </a:rPr>
                        <a:t>(Up to v2019)</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57312434"/>
                  </a:ext>
                </a:extLst>
              </a:tr>
              <a:tr h="437340">
                <a:tc>
                  <a:txBody>
                    <a:bodyPr/>
                    <a:lstStyle/>
                    <a:p>
                      <a:pPr algn="ctr"/>
                      <a:r>
                        <a:rPr lang="en-GB" sz="1400" dirty="0">
                          <a:solidFill>
                            <a:schemeClr val="bg1"/>
                          </a:solidFill>
                          <a:latin typeface="Avenir Next LT Pro" panose="020B0504020202020204" pitchFamily="34" charset="0"/>
                        </a:rPr>
                        <a:t>No SA</a:t>
                      </a:r>
                    </a:p>
                  </a:txBody>
                  <a:tcP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kern="1200" dirty="0">
                          <a:solidFill>
                            <a:schemeClr val="bg1"/>
                          </a:solidFill>
                          <a:latin typeface="Avenir Next LT Pro" panose="020B0504020202020204" pitchFamily="34" charset="0"/>
                          <a:ea typeface="+mn-ea"/>
                          <a:cs typeface="+mn-cs"/>
                        </a:rPr>
                        <a:t>Y</a:t>
                      </a:r>
                      <a:br>
                        <a:rPr lang="en-GB" sz="2400" dirty="0">
                          <a:solidFill>
                            <a:schemeClr val="bg1"/>
                          </a:solidFill>
                          <a:latin typeface="Avenir Next LT Pro" panose="020B0504020202020204" pitchFamily="34" charset="0"/>
                        </a:rPr>
                      </a:br>
                      <a:r>
                        <a:rPr lang="en-GB" sz="800" dirty="0">
                          <a:solidFill>
                            <a:schemeClr val="bg1"/>
                          </a:solidFill>
                          <a:latin typeface="Avenir Next LT Pro" panose="020B0504020202020204" pitchFamily="34" charset="0"/>
                        </a:rPr>
                        <a:t>(Up to v2019)</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128744047"/>
                  </a:ext>
                </a:extLst>
              </a:tr>
              <a:tr h="380069">
                <a:tc gridSpan="5">
                  <a:txBody>
                    <a:bodyPr/>
                    <a:lstStyle/>
                    <a:p>
                      <a:r>
                        <a:rPr lang="en-GB" sz="1400" dirty="0">
                          <a:solidFill>
                            <a:schemeClr val="tx1"/>
                          </a:solidFill>
                          <a:latin typeface="Avenir Next LT Pro" panose="020B0504020202020204" pitchFamily="34" charset="0"/>
                        </a:rPr>
                        <a:t>SQL</a:t>
                      </a:r>
                    </a:p>
                  </a:txBody>
                  <a:tcPr>
                    <a:lnL w="12700" cap="flat" cmpd="sng" algn="ctr">
                      <a:solidFill>
                        <a:srgbClr val="3B1A3D"/>
                      </a:solidFill>
                      <a:prstDash val="solid"/>
                      <a:round/>
                      <a:headEnd type="none" w="med" len="med"/>
                      <a:tailEnd type="none" w="med" len="med"/>
                    </a:lnL>
                    <a:lnR>
                      <a:noFill/>
                    </a:lnR>
                    <a:lnT w="12700" cap="flat" cmpd="sng" algn="ctr">
                      <a:solidFill>
                        <a:srgbClr val="3B1A3D"/>
                      </a:solidFill>
                      <a:prstDash val="solid"/>
                      <a:round/>
                      <a:headEnd type="none" w="med" len="med"/>
                      <a:tailEnd type="none" w="med" len="med"/>
                    </a:lnT>
                    <a:lnB w="12700" cap="flat" cmpd="sng" algn="ctr">
                      <a:solidFill>
                        <a:srgbClr val="3B1A3D"/>
                      </a:solidFill>
                      <a:prstDash val="solid"/>
                      <a:round/>
                      <a:headEnd type="none" w="med" len="med"/>
                      <a:tailEnd type="none" w="med" len="med"/>
                    </a:lnB>
                    <a:lnTlToBr w="12700" cmpd="sng">
                      <a:noFill/>
                      <a:prstDash val="solid"/>
                    </a:lnTlToBr>
                    <a:lnBlToTr w="12700" cmpd="sng">
                      <a:noFill/>
                      <a:prstDash val="solid"/>
                    </a:lnBlToTr>
                    <a:solidFill>
                      <a:srgbClr val="3B1A3D"/>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tc hMerge="1">
                  <a:txBody>
                    <a:bodyPr/>
                    <a:lstStyle/>
                    <a:p>
                      <a:endParaRPr lang="en-GB" sz="1400" dirty="0">
                        <a:solidFill>
                          <a:schemeClr val="tx1"/>
                        </a:solidFill>
                      </a:endParaRPr>
                    </a:p>
                  </a:txBody>
                  <a:tcPr>
                    <a:lnL>
                      <a:noFill/>
                    </a:lnL>
                    <a:lnR>
                      <a:noFill/>
                    </a:lnR>
                    <a:lnT>
                      <a:noFill/>
                    </a:lnT>
                    <a:lnB>
                      <a:noFill/>
                    </a:lnB>
                    <a:lnTlToBr w="12700" cmpd="sng">
                      <a:noFill/>
                      <a:prstDash val="solid"/>
                    </a:lnTlToBr>
                    <a:lnBlToTr w="12700" cmpd="sng">
                      <a:noFill/>
                      <a:prstDash val="solid"/>
                    </a:lnBlToTr>
                    <a:solidFill>
                      <a:srgbClr val="BF95DF"/>
                    </a:solidFill>
                  </a:tcPr>
                </a:tc>
                <a:extLst>
                  <a:ext uri="{0D108BD9-81ED-4DB2-BD59-A6C34878D82A}">
                    <a16:rowId xmlns:a16="http://schemas.microsoft.com/office/drawing/2014/main" val="4045223747"/>
                  </a:ext>
                </a:extLst>
              </a:tr>
              <a:tr h="380069">
                <a:tc>
                  <a:txBody>
                    <a:bodyPr/>
                    <a:lstStyle/>
                    <a:p>
                      <a:pPr algn="ctr"/>
                      <a:r>
                        <a:rPr lang="en-GB" sz="1400" dirty="0">
                          <a:solidFill>
                            <a:schemeClr val="bg1"/>
                          </a:solidFill>
                          <a:latin typeface="Avenir Next LT Pro" panose="020B0504020202020204" pitchFamily="34" charset="0"/>
                        </a:rPr>
                        <a:t>With SA</a:t>
                      </a:r>
                    </a:p>
                  </a:txBody>
                  <a:tcP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w="12700" cap="flat" cmpd="sng" algn="ctr">
                      <a:solidFill>
                        <a:srgbClr val="3B1A3D"/>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Y*</a:t>
                      </a:r>
                    </a:p>
                  </a:txBody>
                  <a:tcPr>
                    <a:lnL w="12700" cap="flat" cmpd="sng" algn="ctr">
                      <a:solidFill>
                        <a:srgbClr val="3B1A3D"/>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54290901"/>
                  </a:ext>
                </a:extLst>
              </a:tr>
              <a:tr h="437340">
                <a:tc>
                  <a:txBody>
                    <a:bodyPr/>
                    <a:lstStyle/>
                    <a:p>
                      <a:pPr algn="ctr"/>
                      <a:r>
                        <a:rPr lang="en-GB" sz="1400" dirty="0">
                          <a:solidFill>
                            <a:schemeClr val="bg1"/>
                          </a:solidFill>
                          <a:latin typeface="Avenir Next LT Pro" panose="020B0504020202020204" pitchFamily="34" charset="0"/>
                        </a:rPr>
                        <a:t>No SA</a:t>
                      </a:r>
                    </a:p>
                  </a:txBody>
                  <a:tcPr>
                    <a:lnL w="12700" cap="flat" cmpd="sng" algn="ctr">
                      <a:no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kern="1200" dirty="0">
                          <a:solidFill>
                            <a:schemeClr val="bg1"/>
                          </a:solidFill>
                          <a:latin typeface="Avenir Next LT Pro" panose="020B0504020202020204" pitchFamily="34" charset="0"/>
                          <a:ea typeface="+mn-ea"/>
                          <a:cs typeface="+mn-cs"/>
                        </a:rPr>
                        <a:t>Y</a:t>
                      </a:r>
                      <a:br>
                        <a:rPr lang="en-GB" sz="2400" dirty="0">
                          <a:solidFill>
                            <a:schemeClr val="bg1"/>
                          </a:solidFill>
                          <a:latin typeface="Avenir Next LT Pro" panose="020B0504020202020204" pitchFamily="34" charset="0"/>
                        </a:rPr>
                      </a:br>
                      <a:r>
                        <a:rPr lang="en-GB" sz="800" dirty="0">
                          <a:solidFill>
                            <a:schemeClr val="bg1"/>
                          </a:solidFill>
                          <a:latin typeface="Avenir Next LT Pro" panose="020B0504020202020204" pitchFamily="34" charset="0"/>
                        </a:rPr>
                        <a:t>(Up to v2017)</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GB" sz="1400" dirty="0">
                          <a:solidFill>
                            <a:schemeClr val="bg1"/>
                          </a:solidFill>
                          <a:latin typeface="Avenir Next LT Pro" panose="020B0504020202020204" pitchFamily="34" charset="0"/>
                        </a:rPr>
                        <a:t>N</a:t>
                      </a:r>
                    </a:p>
                  </a:txBody>
                  <a:tcPr>
                    <a:lnL w="12700" cap="flat" cmpd="sng" algn="ctr">
                      <a:solidFill>
                        <a:srgbClr val="3B1A3D"/>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57127580"/>
                  </a:ext>
                </a:extLst>
              </a:tr>
            </a:tbl>
          </a:graphicData>
        </a:graphic>
      </p:graphicFrame>
    </p:spTree>
    <p:extLst>
      <p:ext uri="{BB962C8B-B14F-4D97-AF65-F5344CB8AC3E}">
        <p14:creationId xmlns:p14="http://schemas.microsoft.com/office/powerpoint/2010/main" val="4191521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CA2CE-6235-F8B7-EBF5-A48395F672B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481E493-116A-0035-DB39-0C09149834F8}"/>
              </a:ext>
            </a:extLst>
          </p:cNvPr>
          <p:cNvSpPr>
            <a:spLocks noGrp="1"/>
          </p:cNvSpPr>
          <p:nvPr>
            <p:ph type="body" sz="quarter" idx="10"/>
          </p:nvPr>
        </p:nvSpPr>
        <p:spPr/>
        <p:txBody>
          <a:bodyPr/>
          <a:lstStyle/>
          <a:p>
            <a:r>
              <a:rPr lang="en-GB" dirty="0"/>
              <a:t>Support considerations</a:t>
            </a:r>
          </a:p>
        </p:txBody>
      </p:sp>
    </p:spTree>
    <p:custDataLst>
      <p:custData r:id="rId1"/>
      <p:custData r:id="rId2"/>
    </p:custDataLst>
    <p:extLst>
      <p:ext uri="{BB962C8B-B14F-4D97-AF65-F5344CB8AC3E}">
        <p14:creationId xmlns:p14="http://schemas.microsoft.com/office/powerpoint/2010/main" val="4002283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06BCB0E9-0F81-E489-B493-7949C8F19373}"/>
              </a:ext>
            </a:extLst>
          </p:cNvPr>
          <p:cNvSpPr txBox="1">
            <a:spLocks/>
          </p:cNvSpPr>
          <p:nvPr/>
        </p:nvSpPr>
        <p:spPr>
          <a:xfrm>
            <a:off x="382776" y="413101"/>
            <a:ext cx="8440092" cy="6734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R="0" lvl="0" fontAlgn="auto">
              <a:spcBef>
                <a:spcPts val="1000"/>
              </a:spcBef>
              <a:spcAft>
                <a:spcPts val="0"/>
              </a:spcAft>
              <a:buClrTx/>
              <a:buSzTx/>
              <a:tabLst/>
              <a:defRPr/>
            </a:pPr>
            <a:r>
              <a:rPr lang="en-US" sz="2800" dirty="0">
                <a:solidFill>
                  <a:srgbClr val="472566"/>
                </a:solidFill>
                <a:latin typeface="Avenir Next LT Pro Demi" panose="020B0704020202020204" pitchFamily="34" charset="0"/>
                <a:ea typeface="+mn-ea"/>
                <a:cs typeface="+mn-cs"/>
              </a:rPr>
              <a:t>End of Support for Windows</a:t>
            </a:r>
          </a:p>
        </p:txBody>
      </p:sp>
      <p:graphicFrame>
        <p:nvGraphicFramePr>
          <p:cNvPr id="2" name="Table 2">
            <a:extLst>
              <a:ext uri="{FF2B5EF4-FFF2-40B4-BE49-F238E27FC236}">
                <a16:creationId xmlns:a16="http://schemas.microsoft.com/office/drawing/2014/main" id="{9442DE29-1B6A-4F0E-2809-EC2D6ED5B626}"/>
              </a:ext>
            </a:extLst>
          </p:cNvPr>
          <p:cNvGraphicFramePr>
            <a:graphicFrameLocks noGrp="1"/>
          </p:cNvGraphicFramePr>
          <p:nvPr>
            <p:extLst>
              <p:ext uri="{D42A27DB-BD31-4B8C-83A1-F6EECF244321}">
                <p14:modId xmlns:p14="http://schemas.microsoft.com/office/powerpoint/2010/main" val="1108910459"/>
              </p:ext>
            </p:extLst>
          </p:nvPr>
        </p:nvGraphicFramePr>
        <p:xfrm>
          <a:off x="472611" y="1475455"/>
          <a:ext cx="5244554" cy="2595880"/>
        </p:xfrm>
        <a:graphic>
          <a:graphicData uri="http://schemas.openxmlformats.org/drawingml/2006/table">
            <a:tbl>
              <a:tblPr firstRow="1" bandRow="1">
                <a:tableStyleId>{91EBBBCC-DAD2-459C-BE2E-F6DE35CF9A28}</a:tableStyleId>
              </a:tblPr>
              <a:tblGrid>
                <a:gridCol w="1462405">
                  <a:extLst>
                    <a:ext uri="{9D8B030D-6E8A-4147-A177-3AD203B41FA5}">
                      <a16:colId xmlns:a16="http://schemas.microsoft.com/office/drawing/2014/main" val="3400732662"/>
                    </a:ext>
                  </a:extLst>
                </a:gridCol>
                <a:gridCol w="1785769">
                  <a:extLst>
                    <a:ext uri="{9D8B030D-6E8A-4147-A177-3AD203B41FA5}">
                      <a16:colId xmlns:a16="http://schemas.microsoft.com/office/drawing/2014/main" val="1047066068"/>
                    </a:ext>
                  </a:extLst>
                </a:gridCol>
                <a:gridCol w="1996380">
                  <a:extLst>
                    <a:ext uri="{9D8B030D-6E8A-4147-A177-3AD203B41FA5}">
                      <a16:colId xmlns:a16="http://schemas.microsoft.com/office/drawing/2014/main" val="1444961571"/>
                    </a:ext>
                  </a:extLst>
                </a:gridCol>
              </a:tblGrid>
              <a:tr h="370840">
                <a:tc>
                  <a:txBody>
                    <a:bodyPr/>
                    <a:lstStyle/>
                    <a:p>
                      <a:r>
                        <a:rPr lang="en-GB" dirty="0"/>
                        <a:t>Version</a:t>
                      </a:r>
                    </a:p>
                  </a:txBody>
                  <a:tcPr>
                    <a:lnR w="12700" cap="flat" cmpd="sng" algn="ctr">
                      <a:solidFill>
                        <a:srgbClr val="3B1A3D"/>
                      </a:solidFill>
                      <a:prstDash val="solid"/>
                      <a:round/>
                      <a:headEnd type="none" w="med" len="med"/>
                      <a:tailEnd type="none" w="med" len="med"/>
                    </a:lnR>
                    <a:solidFill>
                      <a:srgbClr val="3B1A3D"/>
                    </a:solidFill>
                  </a:tcPr>
                </a:tc>
                <a:tc>
                  <a:txBody>
                    <a:bodyPr/>
                    <a:lstStyle/>
                    <a:p>
                      <a:pPr algn="ctr"/>
                      <a:r>
                        <a:rPr lang="en-GB" dirty="0"/>
                        <a:t>Quantity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solidFill>
                      <a:srgbClr val="3B1A3D"/>
                    </a:solidFill>
                  </a:tcPr>
                </a:tc>
                <a:tc>
                  <a:txBody>
                    <a:bodyPr/>
                    <a:lstStyle/>
                    <a:p>
                      <a:pPr algn="ctr"/>
                      <a:r>
                        <a:rPr lang="en-GB" dirty="0"/>
                        <a:t>EOS Date</a:t>
                      </a:r>
                    </a:p>
                  </a:txBody>
                  <a:tcPr>
                    <a:lnL w="12700" cap="flat" cmpd="sng" algn="ctr">
                      <a:solidFill>
                        <a:srgbClr val="3B1A3D"/>
                      </a:solidFill>
                      <a:prstDash val="solid"/>
                      <a:round/>
                      <a:headEnd type="none" w="med" len="med"/>
                      <a:tailEnd type="none" w="med" len="med"/>
                    </a:lnL>
                    <a:solidFill>
                      <a:srgbClr val="3B1A3D"/>
                    </a:solidFill>
                  </a:tcPr>
                </a:tc>
                <a:extLst>
                  <a:ext uri="{0D108BD9-81ED-4DB2-BD59-A6C34878D82A}">
                    <a16:rowId xmlns:a16="http://schemas.microsoft.com/office/drawing/2014/main" val="1432596796"/>
                  </a:ext>
                </a:extLst>
              </a:tr>
              <a:tr h="370840">
                <a:tc>
                  <a:txBody>
                    <a:bodyPr/>
                    <a:lstStyle/>
                    <a:p>
                      <a:pPr algn="l"/>
                      <a:r>
                        <a:rPr lang="en-GB" b="0" dirty="0">
                          <a:solidFill>
                            <a:srgbClr val="FF0000"/>
                          </a:solidFill>
                          <a:latin typeface="Avenir Next LT Pro" panose="020B0504020202020204" pitchFamily="34" charset="0"/>
                        </a:rPr>
                        <a:t>&lt;= 2008 R2</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0000"/>
                          </a:solidFill>
                          <a:latin typeface="Avenir Next LT Pro" panose="020B0504020202020204" pitchFamily="34" charset="0"/>
                        </a:rPr>
                        <a:t>&lt;win08qty&gt;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0000"/>
                          </a:solidFill>
                          <a:latin typeface="Avenir Next LT Pro" panose="020B0504020202020204" pitchFamily="34" charset="0"/>
                        </a:rPr>
                        <a:t>14/01/2020</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1891249529"/>
                  </a:ext>
                </a:extLst>
              </a:tr>
              <a:tr h="370840">
                <a:tc>
                  <a:txBody>
                    <a:bodyPr/>
                    <a:lstStyle/>
                    <a:p>
                      <a:pPr marL="0" algn="l" defTabSz="914400" rtl="0" eaLnBrk="1" latinLnBrk="0" hangingPunct="1"/>
                      <a:r>
                        <a:rPr lang="en-GB" sz="1800" b="0" kern="1200" dirty="0">
                          <a:solidFill>
                            <a:srgbClr val="FF0000"/>
                          </a:solidFill>
                          <a:latin typeface="Avenir Next LT Pro" panose="020B0504020202020204" pitchFamily="34" charset="0"/>
                          <a:ea typeface="+mn-ea"/>
                          <a:cs typeface="+mn-cs"/>
                        </a:rPr>
                        <a:t>2012 R2</a:t>
                      </a:r>
                    </a:p>
                  </a:txBody>
                  <a:tcPr>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0000"/>
                          </a:solidFill>
                          <a:latin typeface="Avenir Next LT Pro" panose="020B0504020202020204" pitchFamily="34" charset="0"/>
                          <a:ea typeface="+mn-ea"/>
                          <a:cs typeface="+mn-cs"/>
                        </a:rPr>
                        <a:t>&lt;win12qty&gt;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0000"/>
                          </a:solidFill>
                          <a:latin typeface="Avenir Next LT Pro" panose="020B0504020202020204" pitchFamily="34" charset="0"/>
                          <a:ea typeface="+mn-ea"/>
                          <a:cs typeface="+mn-cs"/>
                        </a:rPr>
                        <a:t>10/10/2023</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989038028"/>
                  </a:ext>
                </a:extLst>
              </a:tr>
              <a:tr h="370840">
                <a:tc>
                  <a:txBody>
                    <a:bodyPr/>
                    <a:lstStyle/>
                    <a:p>
                      <a:pPr marL="0" algn="l" defTabSz="914400" rtl="0" eaLnBrk="1" latinLnBrk="0" hangingPunct="1"/>
                      <a:r>
                        <a:rPr lang="en-GB" sz="1800" b="0" kern="1200" dirty="0">
                          <a:solidFill>
                            <a:srgbClr val="FFC000"/>
                          </a:solidFill>
                          <a:latin typeface="Avenir Next LT Pro" panose="020B0504020202020204" pitchFamily="34" charset="0"/>
                          <a:ea typeface="+mn-ea"/>
                          <a:cs typeface="+mn-cs"/>
                        </a:rPr>
                        <a:t>2016</a:t>
                      </a:r>
                    </a:p>
                  </a:txBody>
                  <a:tcPr>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C000"/>
                          </a:solidFill>
                          <a:latin typeface="Avenir Next LT Pro" panose="020B0504020202020204" pitchFamily="34" charset="0"/>
                          <a:ea typeface="+mn-ea"/>
                          <a:cs typeface="+mn-cs"/>
                        </a:rPr>
                        <a:t>&lt;win16qty&gt;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C000"/>
                          </a:solidFill>
                          <a:latin typeface="Avenir Next LT Pro" panose="020B0504020202020204" pitchFamily="34" charset="0"/>
                          <a:ea typeface="+mn-ea"/>
                          <a:cs typeface="+mn-cs"/>
                        </a:rPr>
                        <a:t>12/01/2027</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2918383562"/>
                  </a:ext>
                </a:extLst>
              </a:tr>
              <a:tr h="370840">
                <a:tc>
                  <a:txBody>
                    <a:bodyPr/>
                    <a:lstStyle/>
                    <a:p>
                      <a:pPr algn="l"/>
                      <a:r>
                        <a:rPr lang="en-GB" b="0" dirty="0">
                          <a:solidFill>
                            <a:srgbClr val="00B050"/>
                          </a:solidFill>
                          <a:latin typeface="Avenir Next LT Pro" panose="020B0504020202020204" pitchFamily="34" charset="0"/>
                        </a:rPr>
                        <a:t>2019</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&lt;win19qty&gt;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09/01/2029</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2502798343"/>
                  </a:ext>
                </a:extLst>
              </a:tr>
              <a:tr h="370840">
                <a:tc>
                  <a:txBody>
                    <a:bodyPr/>
                    <a:lstStyle/>
                    <a:p>
                      <a:pPr algn="l"/>
                      <a:r>
                        <a:rPr lang="en-GB" b="0" dirty="0">
                          <a:solidFill>
                            <a:srgbClr val="00B050"/>
                          </a:solidFill>
                          <a:latin typeface="Avenir Next LT Pro" panose="020B0504020202020204" pitchFamily="34" charset="0"/>
                        </a:rPr>
                        <a:t>2022</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&lt;win22qty&gt;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13/10/2031</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1401431322"/>
                  </a:ext>
                </a:extLst>
              </a:tr>
              <a:tr h="370840">
                <a:tc>
                  <a:txBody>
                    <a:bodyPr/>
                    <a:lstStyle/>
                    <a:p>
                      <a:pPr algn="l"/>
                      <a:r>
                        <a:rPr lang="en-GB" b="0" dirty="0">
                          <a:solidFill>
                            <a:srgbClr val="00B050"/>
                          </a:solidFill>
                          <a:latin typeface="Avenir Next LT Pro" panose="020B0504020202020204" pitchFamily="34" charset="0"/>
                        </a:rPr>
                        <a:t>2025</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&lt;win25qty&gt;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10/10/2034</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3523736106"/>
                  </a:ext>
                </a:extLst>
              </a:tr>
            </a:tbl>
          </a:graphicData>
        </a:graphic>
      </p:graphicFrame>
      <p:sp>
        <p:nvSpPr>
          <p:cNvPr id="6" name="TextBox 5">
            <a:extLst>
              <a:ext uri="{FF2B5EF4-FFF2-40B4-BE49-F238E27FC236}">
                <a16:creationId xmlns:a16="http://schemas.microsoft.com/office/drawing/2014/main" id="{3BD9670D-BAEC-619E-A487-2EA595A29167}"/>
              </a:ext>
            </a:extLst>
          </p:cNvPr>
          <p:cNvSpPr txBox="1"/>
          <p:nvPr/>
        </p:nvSpPr>
        <p:spPr>
          <a:xfrm>
            <a:off x="6339248" y="1299341"/>
            <a:ext cx="5287280" cy="3964483"/>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2800" dirty="0">
                <a:solidFill>
                  <a:srgbClr val="472566"/>
                </a:solidFill>
                <a:latin typeface="Avenir Next LT Pro" panose="020B0504020202020204" pitchFamily="34" charset="0"/>
              </a:rPr>
              <a:t>Summary</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sz="2000" dirty="0">
              <a:latin typeface="Avenir Next LT Pro" panose="020B05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en-US" dirty="0">
                <a:latin typeface="Avenir Next LT Pro" panose="020B0504020202020204" pitchFamily="34" charset="0"/>
              </a:rPr>
              <a:t>The table represents the end of support for each relevant version, based on the Microsoft Lifecycle Extended End Date. Depending on specific requirements and terms per version, support may end before this.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b="0" i="0" u="none" strike="noStrike" kern="1200" cap="none" spc="0" normalizeH="0" baseline="0" noProof="0" dirty="0">
              <a:ln>
                <a:noFill/>
              </a:ln>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en-US" dirty="0">
                <a:latin typeface="Avenir Next LT Pro" panose="020B0504020202020204" pitchFamily="34" charset="0"/>
              </a:rPr>
              <a:t>At minimum, those already out of support or close to it should be refactored during migration if possible.</a:t>
            </a:r>
            <a:endParaRPr kumimoji="0" lang="en-US" b="0" i="0" u="none" strike="noStrike" kern="1200" cap="none" spc="0" normalizeH="0" baseline="0" noProof="0" dirty="0">
              <a:ln>
                <a:noFill/>
              </a:ln>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cxnSp>
        <p:nvCxnSpPr>
          <p:cNvPr id="9" name="Straight Connector 8">
            <a:extLst>
              <a:ext uri="{FF2B5EF4-FFF2-40B4-BE49-F238E27FC236}">
                <a16:creationId xmlns:a16="http://schemas.microsoft.com/office/drawing/2014/main" id="{3AA729EB-6A02-DF1E-28EC-0F7375AC8464}"/>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8B72840-365A-EB4B-30AA-FCA56EF9E244}"/>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COSTS SUMMARY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3" name="Picture 4">
            <a:extLst>
              <a:ext uri="{FF2B5EF4-FFF2-40B4-BE49-F238E27FC236}">
                <a16:creationId xmlns:a16="http://schemas.microsoft.com/office/drawing/2014/main" id="{83F07F68-3CD0-FCD0-230D-BCD68FC40DEF}"/>
              </a:ext>
            </a:extLst>
          </p:cNvPr>
          <p:cNvPicPr>
            <a:picLocks noChangeAspect="1"/>
          </p:cNvPicPr>
          <p:nvPr>
            <p:custDataLst>
              <p:tags r:id="rId3"/>
            </p:custDataLst>
          </p:nvPr>
        </p:nvPicPr>
        <p:blipFill rotWithShape="1">
          <a:blip r:embed="rId6">
            <a:extLst>
              <a:ext uri="{28A0092B-C50C-407E-A947-70E740481C1C}">
                <a14:useLocalDpi xmlns:a14="http://schemas.microsoft.com/office/drawing/2010/main" val="0"/>
              </a:ext>
            </a:extLst>
          </a:blip>
          <a:srcRect l="-2496" t="-4622" r="-7667" b="-12332"/>
          <a:stretch>
            <a:fillRect/>
          </a:stretch>
        </p:blipFill>
        <p:spPr>
          <a:xfrm>
            <a:off x="9545951" y="5594469"/>
            <a:ext cx="2179885" cy="720000"/>
          </a:xfrm>
          <a:prstGeom prst="rect">
            <a:avLst/>
          </a:prstGeom>
        </p:spPr>
      </p:pic>
    </p:spTree>
    <p:custDataLst>
      <p:custData r:id="rId1"/>
      <p:custData r:id="rId2"/>
    </p:custDataLst>
    <p:extLst>
      <p:ext uri="{BB962C8B-B14F-4D97-AF65-F5344CB8AC3E}">
        <p14:creationId xmlns:p14="http://schemas.microsoft.com/office/powerpoint/2010/main" val="1713958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06BCB0E9-0F81-E489-B493-7949C8F19373}"/>
              </a:ext>
            </a:extLst>
          </p:cNvPr>
          <p:cNvSpPr txBox="1">
            <a:spLocks/>
          </p:cNvSpPr>
          <p:nvPr/>
        </p:nvSpPr>
        <p:spPr>
          <a:xfrm>
            <a:off x="382776" y="413101"/>
            <a:ext cx="8440092" cy="6734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R="0" lvl="0" fontAlgn="auto">
              <a:spcBef>
                <a:spcPts val="1000"/>
              </a:spcBef>
              <a:spcAft>
                <a:spcPts val="0"/>
              </a:spcAft>
              <a:buClrTx/>
              <a:buSzTx/>
              <a:tabLst/>
              <a:defRPr/>
            </a:pPr>
            <a:r>
              <a:rPr lang="en-US" sz="2800" dirty="0">
                <a:solidFill>
                  <a:srgbClr val="472566"/>
                </a:solidFill>
                <a:latin typeface="Avenir Next LT Pro Demi" panose="020B0704020202020204" pitchFamily="34" charset="0"/>
                <a:ea typeface="+mn-ea"/>
                <a:cs typeface="+mn-cs"/>
              </a:rPr>
              <a:t>End of Support for SQL</a:t>
            </a:r>
          </a:p>
        </p:txBody>
      </p:sp>
      <p:graphicFrame>
        <p:nvGraphicFramePr>
          <p:cNvPr id="2" name="Table 2">
            <a:extLst>
              <a:ext uri="{FF2B5EF4-FFF2-40B4-BE49-F238E27FC236}">
                <a16:creationId xmlns:a16="http://schemas.microsoft.com/office/drawing/2014/main" id="{9442DE29-1B6A-4F0E-2809-EC2D6ED5B626}"/>
              </a:ext>
            </a:extLst>
          </p:cNvPr>
          <p:cNvGraphicFramePr>
            <a:graphicFrameLocks noGrp="1"/>
          </p:cNvGraphicFramePr>
          <p:nvPr>
            <p:extLst>
              <p:ext uri="{D42A27DB-BD31-4B8C-83A1-F6EECF244321}">
                <p14:modId xmlns:p14="http://schemas.microsoft.com/office/powerpoint/2010/main" val="2252878158"/>
              </p:ext>
            </p:extLst>
          </p:nvPr>
        </p:nvGraphicFramePr>
        <p:xfrm>
          <a:off x="472611" y="1475455"/>
          <a:ext cx="5287280" cy="2966720"/>
        </p:xfrm>
        <a:graphic>
          <a:graphicData uri="http://schemas.openxmlformats.org/drawingml/2006/table">
            <a:tbl>
              <a:tblPr firstRow="1" bandRow="1">
                <a:tableStyleId>{91EBBBCC-DAD2-459C-BE2E-F6DE35CF9A28}</a:tableStyleId>
              </a:tblPr>
              <a:tblGrid>
                <a:gridCol w="1505131">
                  <a:extLst>
                    <a:ext uri="{9D8B030D-6E8A-4147-A177-3AD203B41FA5}">
                      <a16:colId xmlns:a16="http://schemas.microsoft.com/office/drawing/2014/main" val="3400732662"/>
                    </a:ext>
                  </a:extLst>
                </a:gridCol>
                <a:gridCol w="1785769">
                  <a:extLst>
                    <a:ext uri="{9D8B030D-6E8A-4147-A177-3AD203B41FA5}">
                      <a16:colId xmlns:a16="http://schemas.microsoft.com/office/drawing/2014/main" val="1047066068"/>
                    </a:ext>
                  </a:extLst>
                </a:gridCol>
                <a:gridCol w="1996380">
                  <a:extLst>
                    <a:ext uri="{9D8B030D-6E8A-4147-A177-3AD203B41FA5}">
                      <a16:colId xmlns:a16="http://schemas.microsoft.com/office/drawing/2014/main" val="1444961571"/>
                    </a:ext>
                  </a:extLst>
                </a:gridCol>
              </a:tblGrid>
              <a:tr h="370840">
                <a:tc>
                  <a:txBody>
                    <a:bodyPr/>
                    <a:lstStyle/>
                    <a:p>
                      <a:r>
                        <a:rPr lang="en-GB" dirty="0"/>
                        <a:t>Version</a:t>
                      </a:r>
                    </a:p>
                  </a:txBody>
                  <a:tcPr>
                    <a:lnR w="12700" cap="flat" cmpd="sng" algn="ctr">
                      <a:solidFill>
                        <a:srgbClr val="3B1A3D"/>
                      </a:solidFill>
                      <a:prstDash val="solid"/>
                      <a:round/>
                      <a:headEnd type="none" w="med" len="med"/>
                      <a:tailEnd type="none" w="med" len="med"/>
                    </a:lnR>
                    <a:solidFill>
                      <a:srgbClr val="3B1A3D"/>
                    </a:solidFill>
                  </a:tcPr>
                </a:tc>
                <a:tc>
                  <a:txBody>
                    <a:bodyPr/>
                    <a:lstStyle/>
                    <a:p>
                      <a:pPr algn="ctr"/>
                      <a:r>
                        <a:rPr lang="en-GB" dirty="0"/>
                        <a:t>Quantity</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solidFill>
                      <a:srgbClr val="3B1A3D"/>
                    </a:solidFill>
                  </a:tcPr>
                </a:tc>
                <a:tc>
                  <a:txBody>
                    <a:bodyPr/>
                    <a:lstStyle/>
                    <a:p>
                      <a:pPr algn="ctr"/>
                      <a:r>
                        <a:rPr lang="en-GB" dirty="0"/>
                        <a:t>EOS Date</a:t>
                      </a:r>
                    </a:p>
                  </a:txBody>
                  <a:tcPr>
                    <a:lnL w="12700" cap="flat" cmpd="sng" algn="ctr">
                      <a:solidFill>
                        <a:srgbClr val="3B1A3D"/>
                      </a:solidFill>
                      <a:prstDash val="solid"/>
                      <a:round/>
                      <a:headEnd type="none" w="med" len="med"/>
                      <a:tailEnd type="none" w="med" len="med"/>
                    </a:lnL>
                    <a:solidFill>
                      <a:srgbClr val="3B1A3D"/>
                    </a:solidFill>
                  </a:tcPr>
                </a:tc>
                <a:extLst>
                  <a:ext uri="{0D108BD9-81ED-4DB2-BD59-A6C34878D82A}">
                    <a16:rowId xmlns:a16="http://schemas.microsoft.com/office/drawing/2014/main" val="1432596796"/>
                  </a:ext>
                </a:extLst>
              </a:tr>
              <a:tr h="370840">
                <a:tc>
                  <a:txBody>
                    <a:bodyPr/>
                    <a:lstStyle/>
                    <a:p>
                      <a:pPr algn="l"/>
                      <a:r>
                        <a:rPr lang="en-GB" b="0" dirty="0">
                          <a:solidFill>
                            <a:srgbClr val="FF0000"/>
                          </a:solidFill>
                          <a:latin typeface="Avenir Next LT Pro" panose="020B0504020202020204" pitchFamily="34" charset="0"/>
                        </a:rPr>
                        <a:t>&lt;= 2008 R2</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0000"/>
                          </a:solidFill>
                          <a:latin typeface="Avenir Next LT Pro" panose="020B0504020202020204" pitchFamily="34" charset="0"/>
                        </a:rPr>
                        <a:t>&lt;sql08qty&gt;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0000"/>
                          </a:solidFill>
                          <a:latin typeface="Avenir Next LT Pro" panose="020B0504020202020204" pitchFamily="34" charset="0"/>
                        </a:rPr>
                        <a:t>09/07/2019</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1891249529"/>
                  </a:ext>
                </a:extLst>
              </a:tr>
              <a:tr h="370840">
                <a:tc>
                  <a:txBody>
                    <a:bodyPr/>
                    <a:lstStyle/>
                    <a:p>
                      <a:pPr algn="l"/>
                      <a:r>
                        <a:rPr lang="en-GB" b="0" dirty="0">
                          <a:solidFill>
                            <a:srgbClr val="FF0000"/>
                          </a:solidFill>
                          <a:latin typeface="Avenir Next LT Pro" panose="020B0504020202020204" pitchFamily="34" charset="0"/>
                        </a:rPr>
                        <a:t>2012 R2</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0000"/>
                          </a:solidFill>
                          <a:latin typeface="Avenir Next LT Pro" panose="020B0504020202020204" pitchFamily="34" charset="0"/>
                        </a:rPr>
                        <a:t>&lt;sql12qty&gt;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0000"/>
                          </a:solidFill>
                          <a:latin typeface="Avenir Next LT Pro" panose="020B0504020202020204" pitchFamily="34" charset="0"/>
                        </a:rPr>
                        <a:t>10/07/2022</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989038028"/>
                  </a:ext>
                </a:extLst>
              </a:tr>
              <a:tr h="370840">
                <a:tc>
                  <a:txBody>
                    <a:bodyPr/>
                    <a:lstStyle/>
                    <a:p>
                      <a:pPr marL="0" algn="l" defTabSz="914400" rtl="0" eaLnBrk="1" latinLnBrk="0" hangingPunct="1"/>
                      <a:r>
                        <a:rPr lang="en-GB" sz="1800" b="0" kern="1200" dirty="0">
                          <a:solidFill>
                            <a:srgbClr val="FF0000"/>
                          </a:solidFill>
                          <a:latin typeface="Avenir Next LT Pro" panose="020B0504020202020204" pitchFamily="34" charset="0"/>
                          <a:ea typeface="+mn-ea"/>
                          <a:cs typeface="+mn-cs"/>
                        </a:rPr>
                        <a:t>2014</a:t>
                      </a:r>
                    </a:p>
                  </a:txBody>
                  <a:tcPr>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0000"/>
                          </a:solidFill>
                          <a:latin typeface="Avenir Next LT Pro" panose="020B0504020202020204" pitchFamily="34" charset="0"/>
                          <a:ea typeface="+mn-ea"/>
                          <a:cs typeface="+mn-cs"/>
                        </a:rPr>
                        <a:t>&lt;sql14qty&gt;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0000"/>
                          </a:solidFill>
                          <a:latin typeface="Avenir Next LT Pro" panose="020B0504020202020204" pitchFamily="34" charset="0"/>
                          <a:ea typeface="+mn-ea"/>
                          <a:cs typeface="+mn-cs"/>
                        </a:rPr>
                        <a:t>09/07/2024</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2918383562"/>
                  </a:ext>
                </a:extLst>
              </a:tr>
              <a:tr h="370840">
                <a:tc>
                  <a:txBody>
                    <a:bodyPr/>
                    <a:lstStyle/>
                    <a:p>
                      <a:pPr algn="l"/>
                      <a:r>
                        <a:rPr lang="en-GB" b="0" dirty="0">
                          <a:solidFill>
                            <a:srgbClr val="FFC000"/>
                          </a:solidFill>
                          <a:latin typeface="Avenir Next LT Pro" panose="020B0504020202020204" pitchFamily="34" charset="0"/>
                        </a:rPr>
                        <a:t>2016</a:t>
                      </a:r>
                    </a:p>
                  </a:txBody>
                  <a:tcPr>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C000"/>
                          </a:solidFill>
                          <a:latin typeface="Avenir Next LT Pro" panose="020B0504020202020204" pitchFamily="34" charset="0"/>
                          <a:ea typeface="+mn-ea"/>
                          <a:cs typeface="+mn-cs"/>
                        </a:rPr>
                        <a:t>&lt;sql16qty&gt;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FFC000"/>
                          </a:solidFill>
                          <a:latin typeface="Avenir Next LT Pro" panose="020B0504020202020204" pitchFamily="34" charset="0"/>
                        </a:rPr>
                        <a:t>14/07/2026</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2502798343"/>
                  </a:ext>
                </a:extLst>
              </a:tr>
              <a:tr h="370840">
                <a:tc>
                  <a:txBody>
                    <a:bodyPr/>
                    <a:lstStyle/>
                    <a:p>
                      <a:pPr marL="0" algn="l" defTabSz="914400" rtl="0" eaLnBrk="1" latinLnBrk="0" hangingPunct="1"/>
                      <a:r>
                        <a:rPr lang="en-GB" sz="1800" b="0" kern="1200" dirty="0">
                          <a:solidFill>
                            <a:srgbClr val="FFC000"/>
                          </a:solidFill>
                          <a:latin typeface="Avenir Next LT Pro" panose="020B0504020202020204" pitchFamily="34" charset="0"/>
                          <a:ea typeface="+mn-ea"/>
                          <a:cs typeface="+mn-cs"/>
                        </a:rPr>
                        <a:t>2017</a:t>
                      </a:r>
                    </a:p>
                  </a:txBody>
                  <a:tcPr>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C000"/>
                          </a:solidFill>
                          <a:latin typeface="Avenir Next LT Pro" panose="020B0504020202020204" pitchFamily="34" charset="0"/>
                          <a:ea typeface="+mn-ea"/>
                          <a:cs typeface="+mn-cs"/>
                        </a:rPr>
                        <a:t>&lt;sql17qty&gt;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marL="0" algn="ctr" defTabSz="914400" rtl="0" eaLnBrk="1" latinLnBrk="0" hangingPunct="1"/>
                      <a:r>
                        <a:rPr lang="en-GB" sz="1800" b="0" kern="1200" dirty="0">
                          <a:solidFill>
                            <a:srgbClr val="FFC000"/>
                          </a:solidFill>
                          <a:latin typeface="Avenir Next LT Pro" panose="020B0504020202020204" pitchFamily="34" charset="0"/>
                          <a:ea typeface="+mn-ea"/>
                          <a:cs typeface="+mn-cs"/>
                        </a:rPr>
                        <a:t>12/10/2027</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1401431322"/>
                  </a:ext>
                </a:extLst>
              </a:tr>
              <a:tr h="370840">
                <a:tc>
                  <a:txBody>
                    <a:bodyPr/>
                    <a:lstStyle/>
                    <a:p>
                      <a:pPr algn="l"/>
                      <a:r>
                        <a:rPr lang="en-GB" b="0" dirty="0">
                          <a:solidFill>
                            <a:srgbClr val="00B050"/>
                          </a:solidFill>
                          <a:latin typeface="Avenir Next LT Pro" panose="020B0504020202020204" pitchFamily="34" charset="0"/>
                        </a:rPr>
                        <a:t>2019</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&lt;sql19qty&gt;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08/01/2030</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2686667258"/>
                  </a:ext>
                </a:extLst>
              </a:tr>
              <a:tr h="370840">
                <a:tc>
                  <a:txBody>
                    <a:bodyPr/>
                    <a:lstStyle/>
                    <a:p>
                      <a:pPr algn="l"/>
                      <a:r>
                        <a:rPr lang="en-GB" b="0" dirty="0">
                          <a:solidFill>
                            <a:srgbClr val="00B050"/>
                          </a:solidFill>
                          <a:latin typeface="Avenir Next LT Pro" panose="020B0504020202020204" pitchFamily="34" charset="0"/>
                        </a:rPr>
                        <a:t>2022</a:t>
                      </a:r>
                    </a:p>
                  </a:txBody>
                  <a:tcPr>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&lt;sql22qty&gt;</a:t>
                      </a:r>
                    </a:p>
                  </a:txBody>
                  <a:tcPr>
                    <a:lnL w="12700" cap="flat" cmpd="sng" algn="ctr">
                      <a:solidFill>
                        <a:srgbClr val="3B1A3D"/>
                      </a:solidFill>
                      <a:prstDash val="solid"/>
                      <a:round/>
                      <a:headEnd type="none" w="med" len="med"/>
                      <a:tailEnd type="none" w="med" len="med"/>
                    </a:lnL>
                    <a:lnR w="12700" cap="flat" cmpd="sng" algn="ctr">
                      <a:solidFill>
                        <a:srgbClr val="3B1A3D"/>
                      </a:solidFill>
                      <a:prstDash val="solid"/>
                      <a:round/>
                      <a:headEnd type="none" w="med" len="med"/>
                      <a:tailEnd type="none" w="med" len="med"/>
                    </a:lnR>
                    <a:noFill/>
                  </a:tcPr>
                </a:tc>
                <a:tc>
                  <a:txBody>
                    <a:bodyPr/>
                    <a:lstStyle/>
                    <a:p>
                      <a:pPr algn="ctr"/>
                      <a:r>
                        <a:rPr lang="en-GB" b="0" dirty="0">
                          <a:solidFill>
                            <a:srgbClr val="00B050"/>
                          </a:solidFill>
                          <a:latin typeface="Avenir Next LT Pro" panose="020B0504020202020204" pitchFamily="34" charset="0"/>
                        </a:rPr>
                        <a:t>11/10/2033</a:t>
                      </a:r>
                    </a:p>
                  </a:txBody>
                  <a:tcPr>
                    <a:lnL w="12700" cap="flat" cmpd="sng" algn="ctr">
                      <a:solidFill>
                        <a:srgbClr val="3B1A3D"/>
                      </a:solidFill>
                      <a:prstDash val="solid"/>
                      <a:round/>
                      <a:headEnd type="none" w="med" len="med"/>
                      <a:tailEnd type="none" w="med" len="med"/>
                    </a:lnL>
                    <a:noFill/>
                  </a:tcPr>
                </a:tc>
                <a:extLst>
                  <a:ext uri="{0D108BD9-81ED-4DB2-BD59-A6C34878D82A}">
                    <a16:rowId xmlns:a16="http://schemas.microsoft.com/office/drawing/2014/main" val="3137392880"/>
                  </a:ext>
                </a:extLst>
              </a:tr>
            </a:tbl>
          </a:graphicData>
        </a:graphic>
      </p:graphicFrame>
      <p:sp>
        <p:nvSpPr>
          <p:cNvPr id="6" name="TextBox 5">
            <a:extLst>
              <a:ext uri="{FF2B5EF4-FFF2-40B4-BE49-F238E27FC236}">
                <a16:creationId xmlns:a16="http://schemas.microsoft.com/office/drawing/2014/main" id="{3BD9670D-BAEC-619E-A487-2EA595A29167}"/>
              </a:ext>
            </a:extLst>
          </p:cNvPr>
          <p:cNvSpPr txBox="1"/>
          <p:nvPr/>
        </p:nvSpPr>
        <p:spPr>
          <a:xfrm>
            <a:off x="6339248" y="1299341"/>
            <a:ext cx="5287280" cy="3964483"/>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2800" dirty="0">
                <a:solidFill>
                  <a:srgbClr val="472566"/>
                </a:solidFill>
                <a:latin typeface="Avenir Next LT Pro" panose="020B0504020202020204" pitchFamily="34" charset="0"/>
              </a:rPr>
              <a:t>Summary</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sz="2000" dirty="0">
              <a:latin typeface="Avenir Next LT Pro" panose="020B05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en-US" dirty="0">
                <a:latin typeface="Avenir Next LT Pro" panose="020B0504020202020204" pitchFamily="34" charset="0"/>
              </a:rPr>
              <a:t>The table represents the end of support for each relevant version, based on the Microsoft Lifecycle Extended End Date. Depending on specific requirements and terms per version, support may end before this.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b="0" i="0" u="none" strike="noStrike" kern="1200" cap="none" spc="0" normalizeH="0" baseline="0" noProof="0" dirty="0">
              <a:ln>
                <a:noFill/>
              </a:ln>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en-US" dirty="0">
                <a:latin typeface="Avenir Next LT Pro" panose="020B0504020202020204" pitchFamily="34" charset="0"/>
              </a:rPr>
              <a:t>At minimum, those already out of support or close to it should be refactored during migration if possible.</a:t>
            </a:r>
            <a:endParaRPr kumimoji="0" lang="en-US" b="0" i="0" u="none" strike="noStrike" kern="1200" cap="none" spc="0" normalizeH="0" baseline="0" noProof="0" dirty="0">
              <a:ln>
                <a:noFill/>
              </a:ln>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cxnSp>
        <p:nvCxnSpPr>
          <p:cNvPr id="9" name="Straight Connector 8">
            <a:extLst>
              <a:ext uri="{FF2B5EF4-FFF2-40B4-BE49-F238E27FC236}">
                <a16:creationId xmlns:a16="http://schemas.microsoft.com/office/drawing/2014/main" id="{3AA729EB-6A02-DF1E-28EC-0F7375AC8464}"/>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8B72840-365A-EB4B-30AA-FCA56EF9E244}"/>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COSTS SUMMARY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3" name="Picture 4">
            <a:extLst>
              <a:ext uri="{FF2B5EF4-FFF2-40B4-BE49-F238E27FC236}">
                <a16:creationId xmlns:a16="http://schemas.microsoft.com/office/drawing/2014/main" id="{F8497285-038F-E04A-3E7F-64B6EB63B4DE}"/>
              </a:ext>
            </a:extLst>
          </p:cNvPr>
          <p:cNvPicPr>
            <a:picLocks noChangeAspect="1"/>
          </p:cNvPicPr>
          <p:nvPr>
            <p:custDataLst>
              <p:tags r:id="rId3"/>
            </p:custDataLst>
          </p:nvPr>
        </p:nvPicPr>
        <p:blipFill rotWithShape="1">
          <a:blip r:embed="rId6">
            <a:extLst>
              <a:ext uri="{28A0092B-C50C-407E-A947-70E740481C1C}">
                <a14:useLocalDpi xmlns:a14="http://schemas.microsoft.com/office/drawing/2010/main" val="0"/>
              </a:ext>
            </a:extLst>
          </a:blip>
          <a:srcRect l="-2496" t="-4622" r="-7667" b="-12332"/>
          <a:stretch>
            <a:fillRect/>
          </a:stretch>
        </p:blipFill>
        <p:spPr>
          <a:xfrm>
            <a:off x="9545952" y="5594469"/>
            <a:ext cx="2179884" cy="720000"/>
          </a:xfrm>
          <a:prstGeom prst="rect">
            <a:avLst/>
          </a:prstGeom>
        </p:spPr>
      </p:pic>
    </p:spTree>
    <p:custDataLst>
      <p:custData r:id="rId1"/>
      <p:custData r:id="rId2"/>
    </p:custDataLst>
    <p:extLst>
      <p:ext uri="{BB962C8B-B14F-4D97-AF65-F5344CB8AC3E}">
        <p14:creationId xmlns:p14="http://schemas.microsoft.com/office/powerpoint/2010/main" val="52021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BFE21E-BAAE-803A-73A4-0B2B33F45C01}"/>
              </a:ext>
            </a:extLst>
          </p:cNvPr>
          <p:cNvSpPr>
            <a:spLocks noGrp="1"/>
          </p:cNvSpPr>
          <p:nvPr>
            <p:ph type="body" sz="quarter" idx="10"/>
          </p:nvPr>
        </p:nvSpPr>
        <p:spPr/>
        <p:txBody>
          <a:bodyPr/>
          <a:lstStyle/>
          <a:p>
            <a:r>
              <a:rPr lang="en-GB" dirty="0"/>
              <a:t>Business Value</a:t>
            </a:r>
          </a:p>
        </p:txBody>
      </p:sp>
    </p:spTree>
    <p:custDataLst>
      <p:custData r:id="rId1"/>
      <p:custData r:id="rId2"/>
    </p:custDataLst>
    <p:extLst>
      <p:ext uri="{BB962C8B-B14F-4D97-AF65-F5344CB8AC3E}">
        <p14:creationId xmlns:p14="http://schemas.microsoft.com/office/powerpoint/2010/main" val="2489785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8B02E1-679A-35F7-D392-47DBC5995469}"/>
              </a:ext>
            </a:extLst>
          </p:cNvPr>
          <p:cNvSpPr>
            <a:spLocks noGrp="1"/>
          </p:cNvSpPr>
          <p:nvPr>
            <p:ph type="sldNum" sz="quarter" idx="15"/>
          </p:nvPr>
        </p:nvSpPr>
        <p:spPr/>
        <p:txBody>
          <a:bodyPr/>
          <a:lstStyle/>
          <a:p>
            <a:fld id="{41DAF538-693A-4E80-987F-3E9C27B38952}" type="slidenum">
              <a:rPr lang="en-GB"/>
              <a:pPr/>
              <a:t>25</a:t>
            </a:fld>
            <a:endParaRPr lang="en-GB"/>
          </a:p>
        </p:txBody>
      </p:sp>
      <p:sp>
        <p:nvSpPr>
          <p:cNvPr id="16" name="Slide Number Placeholder 2">
            <a:extLst>
              <a:ext uri="{FF2B5EF4-FFF2-40B4-BE49-F238E27FC236}">
                <a16:creationId xmlns:a16="http://schemas.microsoft.com/office/drawing/2014/main" id="{0A4D9A67-E95D-7186-13B3-3844AB5C1A34}"/>
              </a:ext>
            </a:extLst>
          </p:cNvPr>
          <p:cNvSpPr txBox="1">
            <a:spLocks/>
          </p:cNvSpPr>
          <p:nvPr/>
        </p:nvSpPr>
        <p:spPr>
          <a:xfrm>
            <a:off x="11064751" y="6289829"/>
            <a:ext cx="665922" cy="372440"/>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1DAF538-693A-4E80-987F-3E9C27B38952}" type="slidenum">
              <a:rPr lang="en-GB" smtClean="0"/>
              <a:pPr/>
              <a:t>25</a:t>
            </a:fld>
            <a:endParaRPr lang="en-GB"/>
          </a:p>
        </p:txBody>
      </p:sp>
      <p:sp>
        <p:nvSpPr>
          <p:cNvPr id="17" name="TextBox 28">
            <a:extLst>
              <a:ext uri="{FF2B5EF4-FFF2-40B4-BE49-F238E27FC236}">
                <a16:creationId xmlns:a16="http://schemas.microsoft.com/office/drawing/2014/main" id="{CDB5887F-1DBE-537C-87B0-9176ECBE2779}"/>
              </a:ext>
            </a:extLst>
          </p:cNvPr>
          <p:cNvSpPr txBox="1"/>
          <p:nvPr/>
        </p:nvSpPr>
        <p:spPr>
          <a:xfrm>
            <a:off x="5429793" y="2350094"/>
            <a:ext cx="1227143" cy="461665"/>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2400" b="1" dirty="0">
                <a:solidFill>
                  <a:srgbClr val="FF9900"/>
                </a:solidFill>
                <a:latin typeface="Avenir Next LT Pro" panose="020B0504020202020204" pitchFamily="34" charset="0"/>
              </a:rPr>
              <a:t>17</a:t>
            </a:r>
            <a:endParaRPr kumimoji="0" lang="en-US" altLang="en-US" sz="2400" b="1" i="0" u="none" strike="noStrike" kern="1200" cap="none" spc="0" normalizeH="0" baseline="0" noProof="0" dirty="0">
              <a:ln>
                <a:noFill/>
              </a:ln>
              <a:solidFill>
                <a:srgbClr val="FF9900"/>
              </a:solidFill>
              <a:effectLst/>
              <a:uLnTx/>
              <a:uFillTx/>
              <a:latin typeface="Avenir Next LT Pro" panose="020B0504020202020204" pitchFamily="34" charset="0"/>
            </a:endParaRPr>
          </a:p>
        </p:txBody>
      </p:sp>
      <p:sp>
        <p:nvSpPr>
          <p:cNvPr id="18" name="TextBox 29">
            <a:extLst>
              <a:ext uri="{FF2B5EF4-FFF2-40B4-BE49-F238E27FC236}">
                <a16:creationId xmlns:a16="http://schemas.microsoft.com/office/drawing/2014/main" id="{84DD251C-B243-0B58-14E8-38992A184F5E}"/>
              </a:ext>
            </a:extLst>
          </p:cNvPr>
          <p:cNvSpPr txBox="1">
            <a:spLocks/>
          </p:cNvSpPr>
          <p:nvPr/>
        </p:nvSpPr>
        <p:spPr>
          <a:xfrm>
            <a:off x="6903929" y="2353799"/>
            <a:ext cx="4458478" cy="461665"/>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effectLst/>
                <a:uLnTx/>
                <a:uFillTx/>
                <a:latin typeface="Avenir Next LT Pro" panose="020B0504020202020204" pitchFamily="34" charset="0"/>
              </a:rPr>
              <a:t>Carbon emission reduction</a:t>
            </a:r>
          </a:p>
        </p:txBody>
      </p:sp>
      <p:sp>
        <p:nvSpPr>
          <p:cNvPr id="19" name="TextBox 30">
            <a:extLst>
              <a:ext uri="{FF2B5EF4-FFF2-40B4-BE49-F238E27FC236}">
                <a16:creationId xmlns:a16="http://schemas.microsoft.com/office/drawing/2014/main" id="{8A64E8F2-EF01-5A75-3A09-4260AD4D7884}"/>
              </a:ext>
            </a:extLst>
          </p:cNvPr>
          <p:cNvSpPr txBox="1"/>
          <p:nvPr/>
        </p:nvSpPr>
        <p:spPr>
          <a:xfrm>
            <a:off x="8389694" y="2806934"/>
            <a:ext cx="2972714" cy="307777"/>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chemeClr val="tx1">
                    <a:alpha val="50000"/>
                  </a:schemeClr>
                </a:solidFill>
                <a:effectLst/>
                <a:uLnTx/>
                <a:uFillTx/>
                <a:latin typeface="Avenir Next LT Pro" panose="020B0504020202020204" pitchFamily="34" charset="0"/>
              </a:rPr>
              <a:t>vs. your on-premises environment</a:t>
            </a:r>
          </a:p>
        </p:txBody>
      </p:sp>
      <p:sp>
        <p:nvSpPr>
          <p:cNvPr id="20" name="TextBox 31">
            <a:extLst>
              <a:ext uri="{FF2B5EF4-FFF2-40B4-BE49-F238E27FC236}">
                <a16:creationId xmlns:a16="http://schemas.microsoft.com/office/drawing/2014/main" id="{C431B586-79BC-2B2A-F8ED-37E3D8908E22}"/>
              </a:ext>
            </a:extLst>
          </p:cNvPr>
          <p:cNvSpPr txBox="1"/>
          <p:nvPr/>
        </p:nvSpPr>
        <p:spPr>
          <a:xfrm>
            <a:off x="4836567" y="2578657"/>
            <a:ext cx="611805" cy="307777"/>
          </a:xfrm>
          <a:prstGeom prst="rect">
            <a:avLst/>
          </a:prstGeom>
          <a:noFill/>
        </p:spPr>
        <p:txBody>
          <a:bodyPr wrap="square" lIns="0" rIns="0" rtlCol="0">
            <a:spAutoFit/>
          </a:bodyPr>
          <a:lstStyle>
            <a:defPPr>
              <a:defRPr lang="en-US"/>
            </a:defPPr>
            <a:lvl1pPr marL="0" marR="0" lvl="0" algn="l" defTabSz="914400" rtl="0" eaLnBrk="1" fontAlgn="auto" latinLnBrk="0" hangingPunct="1">
              <a:spcBef>
                <a:spcPts val="0"/>
              </a:spcBef>
              <a:spcAft>
                <a:spcPts val="0"/>
              </a:spcAft>
              <a:buClrTx/>
              <a:buSzTx/>
              <a:buFontTx/>
              <a:buNone/>
              <a:tabLst/>
              <a:defRPr kumimoji="0" sz="1400" kern="1200" cap="none" spc="0" normalizeH="0" baseline="0">
                <a:ln>
                  <a:noFill/>
                </a:ln>
                <a:solidFill>
                  <a:prstClr val="white">
                    <a:alpha val="50000"/>
                  </a:prstClr>
                </a:solidFill>
                <a:effectLst/>
                <a:uLnTx/>
                <a:uFillTx/>
                <a:latin typeface="Amazon Ember"/>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chemeClr val="tx1"/>
                </a:solidFill>
                <a:effectLst/>
                <a:uLnTx/>
                <a:uFillTx/>
                <a:latin typeface="Avenir Next LT Pro" panose="020B0504020202020204" pitchFamily="34" charset="0"/>
              </a:rPr>
              <a:t>Up to</a:t>
            </a:r>
          </a:p>
        </p:txBody>
      </p:sp>
      <p:sp>
        <p:nvSpPr>
          <p:cNvPr id="21" name="TextBox 33">
            <a:extLst>
              <a:ext uri="{FF2B5EF4-FFF2-40B4-BE49-F238E27FC236}">
                <a16:creationId xmlns:a16="http://schemas.microsoft.com/office/drawing/2014/main" id="{E0A87DC1-786A-EA24-3B80-4AD9015D792D}"/>
              </a:ext>
            </a:extLst>
          </p:cNvPr>
          <p:cNvSpPr txBox="1"/>
          <p:nvPr/>
        </p:nvSpPr>
        <p:spPr>
          <a:xfrm>
            <a:off x="5571869" y="2762000"/>
            <a:ext cx="942990" cy="307777"/>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Avenir Next LT Pro" panose="020B0504020202020204" pitchFamily="34" charset="0"/>
              </a:rPr>
              <a:t>MTCO2e</a:t>
            </a:r>
          </a:p>
        </p:txBody>
      </p:sp>
      <p:sp>
        <p:nvSpPr>
          <p:cNvPr id="22" name="TextBox 21">
            <a:extLst>
              <a:ext uri="{FF2B5EF4-FFF2-40B4-BE49-F238E27FC236}">
                <a16:creationId xmlns:a16="http://schemas.microsoft.com/office/drawing/2014/main" id="{D6F7B4BB-213B-BA37-329B-E6CA2AC86439}"/>
              </a:ext>
            </a:extLst>
          </p:cNvPr>
          <p:cNvSpPr txBox="1"/>
          <p:nvPr/>
        </p:nvSpPr>
        <p:spPr>
          <a:xfrm>
            <a:off x="5360506" y="3433958"/>
            <a:ext cx="1365718" cy="892552"/>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38EF7D">
                    <a:lumMod val="75000"/>
                  </a:srgbClr>
                </a:solidFill>
                <a:effectLst/>
                <a:uLnTx/>
                <a:uFillTx/>
                <a:latin typeface="Avenir Next LT Pro" panose="020B0504020202020204" pitchFamily="34" charset="0"/>
              </a:rPr>
              <a:t>97%</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1" i="0" u="none" strike="noStrike" kern="1200" cap="none" spc="0" normalizeH="0" baseline="0" noProof="0" dirty="0">
              <a:ln>
                <a:noFill/>
              </a:ln>
              <a:solidFill>
                <a:srgbClr val="38EF7D">
                  <a:lumMod val="75000"/>
                </a:srgbClr>
              </a:solidFill>
              <a:effectLst/>
              <a:uLnTx/>
              <a:uFillTx/>
              <a:latin typeface="Amazon Ember"/>
              <a:ea typeface="+mn-ea"/>
              <a:cs typeface="+mn-cs"/>
            </a:endParaRPr>
          </a:p>
        </p:txBody>
      </p:sp>
      <p:grpSp>
        <p:nvGrpSpPr>
          <p:cNvPr id="23" name="Group 22">
            <a:extLst>
              <a:ext uri="{FF2B5EF4-FFF2-40B4-BE49-F238E27FC236}">
                <a16:creationId xmlns:a16="http://schemas.microsoft.com/office/drawing/2014/main" id="{DA82D841-E18A-96AA-4670-4EB8344D99C5}"/>
              </a:ext>
            </a:extLst>
          </p:cNvPr>
          <p:cNvGrpSpPr/>
          <p:nvPr/>
        </p:nvGrpSpPr>
        <p:grpSpPr>
          <a:xfrm>
            <a:off x="6903929" y="3381221"/>
            <a:ext cx="4458478" cy="762620"/>
            <a:chOff x="6401434" y="1789512"/>
            <a:chExt cx="4458478" cy="762620"/>
          </a:xfrm>
        </p:grpSpPr>
        <p:sp>
          <p:nvSpPr>
            <p:cNvPr id="24" name="TextBox 21">
              <a:extLst>
                <a:ext uri="{FF2B5EF4-FFF2-40B4-BE49-F238E27FC236}">
                  <a16:creationId xmlns:a16="http://schemas.microsoft.com/office/drawing/2014/main" id="{813ADD56-B5F6-5996-AA44-3783E2BCA513}"/>
                </a:ext>
              </a:extLst>
            </p:cNvPr>
            <p:cNvSpPr txBox="1"/>
            <p:nvPr/>
          </p:nvSpPr>
          <p:spPr>
            <a:xfrm>
              <a:off x="6401434" y="1789512"/>
              <a:ext cx="4458478" cy="461665"/>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effectLst/>
                  <a:uLnTx/>
                  <a:uFillTx/>
                  <a:latin typeface="Avenir Next LT Pro" panose="020B0504020202020204" pitchFamily="34" charset="0"/>
                </a:rPr>
                <a:t>Carbon emission reduction </a:t>
              </a:r>
            </a:p>
          </p:txBody>
        </p:sp>
        <p:sp>
          <p:nvSpPr>
            <p:cNvPr id="25" name="TextBox 23">
              <a:extLst>
                <a:ext uri="{FF2B5EF4-FFF2-40B4-BE49-F238E27FC236}">
                  <a16:creationId xmlns:a16="http://schemas.microsoft.com/office/drawing/2014/main" id="{CBF919FC-729C-361A-A957-93481D5B8B0C}"/>
                </a:ext>
              </a:extLst>
            </p:cNvPr>
            <p:cNvSpPr txBox="1"/>
            <p:nvPr/>
          </p:nvSpPr>
          <p:spPr>
            <a:xfrm>
              <a:off x="7889394" y="2244355"/>
              <a:ext cx="2970518" cy="307777"/>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chemeClr val="tx1">
                      <a:alpha val="50000"/>
                    </a:schemeClr>
                  </a:solidFill>
                  <a:effectLst/>
                  <a:uLnTx/>
                  <a:uFillTx/>
                  <a:latin typeface="Avenir Next LT Pro" panose="020B0504020202020204" pitchFamily="34" charset="0"/>
                </a:rPr>
                <a:t>vs. your on-premises environment</a:t>
              </a:r>
            </a:p>
          </p:txBody>
        </p:sp>
      </p:grpSp>
      <p:sp>
        <p:nvSpPr>
          <p:cNvPr id="26" name="TextBox 26">
            <a:extLst>
              <a:ext uri="{FF2B5EF4-FFF2-40B4-BE49-F238E27FC236}">
                <a16:creationId xmlns:a16="http://schemas.microsoft.com/office/drawing/2014/main" id="{BF2AB83B-F071-24A7-C607-9603C391A753}"/>
              </a:ext>
            </a:extLst>
          </p:cNvPr>
          <p:cNvSpPr txBox="1"/>
          <p:nvPr/>
        </p:nvSpPr>
        <p:spPr>
          <a:xfrm>
            <a:off x="4813702" y="3478596"/>
            <a:ext cx="616091" cy="307777"/>
          </a:xfrm>
          <a:prstGeom prst="rect">
            <a:avLst/>
          </a:prstGeom>
          <a:noFill/>
        </p:spPr>
        <p:txBody>
          <a:bodyPr wrap="square" lIns="0" rIns="0" rtlCol="0">
            <a:spAutoFit/>
          </a:bodyPr>
          <a:lstStyle>
            <a:defPPr>
              <a:defRPr lang="en-US"/>
            </a:defPPr>
            <a:lvl1pPr marL="0" marR="0" lvl="0" algn="l" defTabSz="914400" rtl="0" eaLnBrk="1" fontAlgn="auto" latinLnBrk="0" hangingPunct="1">
              <a:spcBef>
                <a:spcPts val="0"/>
              </a:spcBef>
              <a:spcAft>
                <a:spcPts val="0"/>
              </a:spcAft>
              <a:buClrTx/>
              <a:buSzTx/>
              <a:buFontTx/>
              <a:buNone/>
              <a:tabLst/>
              <a:defRPr kumimoji="0" sz="1400" kern="1200" cap="none" spc="0" normalizeH="0" baseline="0">
                <a:ln>
                  <a:noFill/>
                </a:ln>
                <a:solidFill>
                  <a:prstClr val="white">
                    <a:alpha val="50000"/>
                  </a:prstClr>
                </a:solidFill>
                <a:effectLst/>
                <a:uLnTx/>
                <a:uFillTx/>
                <a:latin typeface="Amazon Ember"/>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chemeClr val="tx1"/>
                </a:solidFill>
                <a:effectLst/>
                <a:uLnTx/>
                <a:uFillTx/>
                <a:latin typeface="Avenir Next LT Pro" panose="020B0504020202020204" pitchFamily="34" charset="0"/>
              </a:rPr>
              <a:t>Up to</a:t>
            </a:r>
          </a:p>
        </p:txBody>
      </p:sp>
      <p:graphicFrame>
        <p:nvGraphicFramePr>
          <p:cNvPr id="27" name="Chart 26">
            <a:extLst>
              <a:ext uri="{FF2B5EF4-FFF2-40B4-BE49-F238E27FC236}">
                <a16:creationId xmlns:a16="http://schemas.microsoft.com/office/drawing/2014/main" id="{C4018327-4C9D-F516-07B8-A3837A1BECEC}"/>
              </a:ext>
            </a:extLst>
          </p:cNvPr>
          <p:cNvGraphicFramePr/>
          <p:nvPr>
            <p:extLst>
              <p:ext uri="{D42A27DB-BD31-4B8C-83A1-F6EECF244321}">
                <p14:modId xmlns:p14="http://schemas.microsoft.com/office/powerpoint/2010/main" val="704979354"/>
              </p:ext>
            </p:extLst>
          </p:nvPr>
        </p:nvGraphicFramePr>
        <p:xfrm>
          <a:off x="466725" y="1825371"/>
          <a:ext cx="4028806" cy="3008812"/>
        </p:xfrm>
        <a:graphic>
          <a:graphicData uri="http://schemas.openxmlformats.org/drawingml/2006/chart">
            <c:chart xmlns:c="http://schemas.openxmlformats.org/drawingml/2006/chart" xmlns:r="http://schemas.openxmlformats.org/officeDocument/2006/relationships" r:id="rId5"/>
          </a:graphicData>
        </a:graphic>
      </p:graphicFrame>
      <p:sp>
        <p:nvSpPr>
          <p:cNvPr id="28" name="Title 1">
            <a:extLst>
              <a:ext uri="{FF2B5EF4-FFF2-40B4-BE49-F238E27FC236}">
                <a16:creationId xmlns:a16="http://schemas.microsoft.com/office/drawing/2014/main" id="{80521C91-5991-3D39-3E11-9DDCD7F99FB3}"/>
              </a:ext>
            </a:extLst>
          </p:cNvPr>
          <p:cNvSpPr txBox="1">
            <a:spLocks/>
          </p:cNvSpPr>
          <p:nvPr/>
        </p:nvSpPr>
        <p:spPr>
          <a:xfrm>
            <a:off x="466725" y="383013"/>
            <a:ext cx="11258550" cy="727655"/>
          </a:xfrm>
          <a:prstGeom prst="rect">
            <a:avLst/>
          </a:prstGeom>
        </p:spPr>
        <p:txBody>
          <a:bodyPr vert="horz" lIns="152400" tIns="121920" rIns="152400" bIns="121920" rtlCol="0" anchor="t">
            <a:noAutofit/>
          </a:bodyPr>
          <a:lstStyle>
            <a:defPPr>
              <a:defRPr lang="en-US"/>
            </a:defPPr>
            <a:lvl1pPr marL="0"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fontAlgn="auto">
              <a:lnSpc>
                <a:spcPct val="90000"/>
              </a:lnSpc>
              <a:spcBef>
                <a:spcPts val="1000"/>
              </a:spcBef>
              <a:spcAft>
                <a:spcPts val="0"/>
              </a:spcAft>
              <a:buClrTx/>
              <a:buSzTx/>
              <a:tabLst/>
              <a:defRPr/>
            </a:pPr>
            <a:r>
              <a:rPr lang="en-US" altLang="en-US" sz="2800" dirty="0">
                <a:solidFill>
                  <a:srgbClr val="472566"/>
                </a:solidFill>
                <a:latin typeface="Avenir Next LT Pro Demi" panose="020B0704020202020204" pitchFamily="34" charset="0"/>
                <a:ea typeface="+mn-ea"/>
                <a:cs typeface="+mn-cs"/>
              </a:rPr>
              <a:t>Sustainability: Directional Carbon Footprint</a:t>
            </a:r>
          </a:p>
        </p:txBody>
      </p:sp>
      <p:sp>
        <p:nvSpPr>
          <p:cNvPr id="29" name="TextBox 22">
            <a:extLst>
              <a:ext uri="{FF2B5EF4-FFF2-40B4-BE49-F238E27FC236}">
                <a16:creationId xmlns:a16="http://schemas.microsoft.com/office/drawing/2014/main" id="{00047885-3C4E-1DE5-75F2-D77E569AC67C}"/>
              </a:ext>
            </a:extLst>
          </p:cNvPr>
          <p:cNvSpPr txBox="1"/>
          <p:nvPr/>
        </p:nvSpPr>
        <p:spPr>
          <a:xfrm>
            <a:off x="466725" y="1097716"/>
            <a:ext cx="112585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effectLst/>
                <a:uLnTx/>
                <a:uFillTx/>
                <a:latin typeface="Avenir Next LT Pro" panose="020B0504020202020204" pitchFamily="34" charset="0"/>
                <a:ea typeface="Amazon Ember" panose="020B0603020204020204" pitchFamily="34" charset="0"/>
                <a:cs typeface="Amazon Ember" panose="020B0603020204020204" pitchFamily="34" charset="0"/>
              </a:rPr>
              <a:t>  AWS can help lower the carbon footprint of your average on-premises data center workload</a:t>
            </a:r>
          </a:p>
        </p:txBody>
      </p:sp>
      <p:sp>
        <p:nvSpPr>
          <p:cNvPr id="30" name="Rectangle 29">
            <a:extLst>
              <a:ext uri="{FF2B5EF4-FFF2-40B4-BE49-F238E27FC236}">
                <a16:creationId xmlns:a16="http://schemas.microsoft.com/office/drawing/2014/main" id="{1C70B1FB-AFF0-91FB-710F-A71433A8291D}"/>
              </a:ext>
            </a:extLst>
          </p:cNvPr>
          <p:cNvSpPr/>
          <p:nvPr/>
        </p:nvSpPr>
        <p:spPr>
          <a:xfrm>
            <a:off x="466725" y="6136433"/>
            <a:ext cx="11258550" cy="338554"/>
          </a:xfrm>
          <a:prstGeom prst="rect">
            <a:avLst/>
          </a:prstGeom>
          <a:noFill/>
        </p:spPr>
        <p:txBody>
          <a:bodyPr wrap="square" lIns="0" r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b="0" i="1" u="none" strike="noStrike" kern="1200" cap="none" spc="0" normalizeH="0" baseline="0" noProof="0" dirty="0">
                <a:ln>
                  <a:noFill/>
                </a:ln>
                <a:solidFill>
                  <a:schemeClr val="tx1">
                    <a:alpha val="50000"/>
                  </a:schemeClr>
                </a:solidFill>
                <a:effectLst/>
                <a:uLnTx/>
                <a:uFillTx/>
                <a:latin typeface="Avenir Next LT Pro" panose="020B0504020202020204" pitchFamily="34" charset="0"/>
              </a:rPr>
              <a:t>The unit of measurement for carbon emissions is metric tons of carbon dioxide-equivalent (MT CO2e), an industry-standard measure. This report covers AWS Scope 1 &amp; Scope 2 emissions. A comparable AWS region may supplement data in these calculations due to limited carbon emission information being available for new or GovCloud regions. </a:t>
            </a:r>
          </a:p>
        </p:txBody>
      </p:sp>
      <p:sp>
        <p:nvSpPr>
          <p:cNvPr id="31" name="Rectangle 30">
            <a:extLst>
              <a:ext uri="{FF2B5EF4-FFF2-40B4-BE49-F238E27FC236}">
                <a16:creationId xmlns:a16="http://schemas.microsoft.com/office/drawing/2014/main" id="{E09A0B3B-E3D4-0749-41AB-76F98A19B600}"/>
              </a:ext>
            </a:extLst>
          </p:cNvPr>
          <p:cNvSpPr/>
          <p:nvPr/>
        </p:nvSpPr>
        <p:spPr>
          <a:xfrm>
            <a:off x="766374" y="4953063"/>
            <a:ext cx="3874160" cy="1015663"/>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altLang="en-US" sz="1200" b="1" u="none" strike="noStrike" kern="1200" cap="none" spc="0" normalizeH="0" baseline="0" noProof="0" dirty="0">
                <a:ln>
                  <a:noFill/>
                </a:ln>
                <a:effectLst/>
                <a:uLnTx/>
                <a:uFillTx/>
                <a:latin typeface="Avenir Next LT Pro" panose="020B0504020202020204" pitchFamily="34" charset="0"/>
                <a:ea typeface="Amazon Ember" panose="020B0603020204020204" pitchFamily="34" charset="0"/>
                <a:cs typeface="Amazon Ember" panose="020B0603020204020204" pitchFamily="34" charset="0"/>
              </a:rPr>
              <a:t>Projected carbon emissions of running workloads on AWS vs. your on-premises environment</a:t>
            </a:r>
            <a:br>
              <a:rPr kumimoji="0" lang="en-US" altLang="en-US" sz="1200" b="1" u="none" strike="noStrike" kern="1200" cap="none" spc="0" normalizeH="0" baseline="0" noProof="0" dirty="0">
                <a:ln>
                  <a:noFill/>
                </a:ln>
                <a:effectLst/>
                <a:uLnTx/>
                <a:uFillTx/>
                <a:latin typeface="Avenir Next LT Pro" panose="020B0504020202020204" pitchFamily="34" charset="0"/>
                <a:ea typeface="Amazon Ember" panose="020B0603020204020204" pitchFamily="34" charset="0"/>
                <a:cs typeface="Amazon Ember" panose="020B0603020204020204" pitchFamily="34" charset="0"/>
              </a:rPr>
            </a:br>
            <a:br>
              <a:rPr kumimoji="0" lang="en-US" altLang="en-US" sz="1200" b="1" u="none" strike="noStrike" kern="1200" cap="none" spc="0" normalizeH="0" baseline="0" noProof="0" dirty="0">
                <a:ln>
                  <a:noFill/>
                </a:ln>
                <a:effectLst/>
                <a:uLnTx/>
                <a:uFillTx/>
                <a:latin typeface="Avenir Next LT Pro" panose="020B0504020202020204" pitchFamily="34" charset="0"/>
                <a:ea typeface="Amazon Ember" panose="020B0603020204020204" pitchFamily="34" charset="0"/>
                <a:cs typeface="Amazon Ember" panose="020B0603020204020204" pitchFamily="34" charset="0"/>
              </a:rPr>
            </a:br>
            <a:r>
              <a:rPr kumimoji="0" lang="en-US" altLang="en-US" sz="1200" b="1" u="none" strike="noStrike" kern="1200" cap="none" spc="0" normalizeH="0" baseline="0" noProof="0" dirty="0">
                <a:ln>
                  <a:noFill/>
                </a:ln>
                <a:effectLst/>
                <a:uLnTx/>
                <a:uFillTx/>
                <a:latin typeface="Avenir Next LT Pro" panose="020B0504020202020204" pitchFamily="34" charset="0"/>
                <a:ea typeface="Amazon Ember" panose="020B0603020204020204" pitchFamily="34" charset="0"/>
                <a:cs typeface="Amazon Ember" panose="020B0603020204020204" pitchFamily="34" charset="0"/>
              </a:rPr>
              <a:t>On-Premises Data Centre Location: United Kingdom</a:t>
            </a:r>
          </a:p>
        </p:txBody>
      </p:sp>
    </p:spTree>
    <p:custDataLst>
      <p:custData r:id="rId1"/>
      <p:custData r:id="rId2"/>
    </p:custDataLst>
    <p:extLst>
      <p:ext uri="{BB962C8B-B14F-4D97-AF65-F5344CB8AC3E}">
        <p14:creationId xmlns:p14="http://schemas.microsoft.com/office/powerpoint/2010/main" val="342191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DB10F6-7804-CE7B-AD7C-394588806268}"/>
              </a:ext>
            </a:extLst>
          </p:cNvPr>
          <p:cNvSpPr>
            <a:spLocks noGrp="1"/>
          </p:cNvSpPr>
          <p:nvPr>
            <p:ph type="body" sz="quarter" idx="10"/>
          </p:nvPr>
        </p:nvSpPr>
        <p:spPr/>
        <p:txBody>
          <a:bodyPr/>
          <a:lstStyle/>
          <a:p>
            <a:r>
              <a:rPr lang="en-GB" dirty="0"/>
              <a:t>Business Value</a:t>
            </a:r>
          </a:p>
        </p:txBody>
      </p:sp>
      <p:sp>
        <p:nvSpPr>
          <p:cNvPr id="5" name="Text Placeholder 4">
            <a:extLst>
              <a:ext uri="{FF2B5EF4-FFF2-40B4-BE49-F238E27FC236}">
                <a16:creationId xmlns:a16="http://schemas.microsoft.com/office/drawing/2014/main" id="{8CBF8EC5-D117-E319-2FC2-8FA620E4A27B}"/>
              </a:ext>
            </a:extLst>
          </p:cNvPr>
          <p:cNvSpPr>
            <a:spLocks noGrp="1"/>
          </p:cNvSpPr>
          <p:nvPr>
            <p:ph type="body" sz="quarter" idx="21"/>
          </p:nvPr>
        </p:nvSpPr>
        <p:spPr/>
        <p:txBody>
          <a:bodyPr/>
          <a:lstStyle/>
          <a:p>
            <a:pPr marL="342900" lvl="0" indent="-342900">
              <a:lnSpc>
                <a:spcPct val="100000"/>
              </a:lnSpc>
              <a:spcBef>
                <a:spcPts val="0"/>
              </a:spcBef>
              <a:spcAft>
                <a:spcPts val="2400"/>
              </a:spcAft>
              <a:buFont typeface="Wingdings" panose="05000000000000000000" pitchFamily="2" charset="2"/>
              <a:buChar char=""/>
              <a:defRPr/>
            </a:pPr>
            <a:r>
              <a:rPr lang="en-US" dirty="0">
                <a:latin typeface="Avenir Next LT Pro" panose="020B0504020202020204" pitchFamily="34" charset="0"/>
              </a:rPr>
              <a:t>99% more Virtual Machines (VMs) managed by a VM Administrator at AWS</a:t>
            </a:r>
          </a:p>
          <a:p>
            <a:pPr marL="342900" lvl="0" indent="-342900">
              <a:lnSpc>
                <a:spcPct val="100000"/>
              </a:lnSpc>
              <a:spcBef>
                <a:spcPts val="0"/>
              </a:spcBef>
              <a:spcAft>
                <a:spcPts val="2400"/>
              </a:spcAft>
              <a:buFont typeface="Wingdings" panose="05000000000000000000" pitchFamily="2" charset="2"/>
              <a:buChar char=""/>
              <a:defRPr/>
            </a:pPr>
            <a:r>
              <a:rPr lang="en-US" dirty="0">
                <a:latin typeface="Avenir Next LT Pro" panose="020B0504020202020204" pitchFamily="34" charset="0"/>
              </a:rPr>
              <a:t>56% more TBs managed by a Storage Administrator at AWS</a:t>
            </a:r>
          </a:p>
        </p:txBody>
      </p:sp>
      <p:sp>
        <p:nvSpPr>
          <p:cNvPr id="6" name="Text Placeholder 5">
            <a:extLst>
              <a:ext uri="{FF2B5EF4-FFF2-40B4-BE49-F238E27FC236}">
                <a16:creationId xmlns:a16="http://schemas.microsoft.com/office/drawing/2014/main" id="{8B92FC2B-745C-CCA9-D14F-68FF81095A97}"/>
              </a:ext>
            </a:extLst>
          </p:cNvPr>
          <p:cNvSpPr>
            <a:spLocks noGrp="1"/>
          </p:cNvSpPr>
          <p:nvPr>
            <p:ph type="body" sz="quarter" idx="22"/>
          </p:nvPr>
        </p:nvSpPr>
        <p:spPr/>
        <p:txBody>
          <a:bodyPr/>
          <a:lstStyle/>
          <a:p>
            <a:pPr lvl="0">
              <a:lnSpc>
                <a:spcPct val="100000"/>
              </a:lnSpc>
              <a:spcBef>
                <a:spcPts val="0"/>
              </a:spcBef>
              <a:defRPr/>
            </a:pPr>
            <a:r>
              <a:rPr lang="en-US" dirty="0">
                <a:solidFill>
                  <a:schemeClr val="tx1"/>
                </a:solidFill>
                <a:latin typeface="Avenir Next LT Pro" panose="020B0504020202020204" pitchFamily="34" charset="0"/>
              </a:rPr>
              <a:t>Staff Productivity</a:t>
            </a:r>
          </a:p>
        </p:txBody>
      </p:sp>
      <p:sp>
        <p:nvSpPr>
          <p:cNvPr id="7" name="Text Placeholder 6">
            <a:extLst>
              <a:ext uri="{FF2B5EF4-FFF2-40B4-BE49-F238E27FC236}">
                <a16:creationId xmlns:a16="http://schemas.microsoft.com/office/drawing/2014/main" id="{CD832F3A-C11F-4C89-50EB-B93F7CBB55C2}"/>
              </a:ext>
            </a:extLst>
          </p:cNvPr>
          <p:cNvSpPr>
            <a:spLocks noGrp="1"/>
          </p:cNvSpPr>
          <p:nvPr>
            <p:ph type="body" sz="quarter" idx="23"/>
          </p:nvPr>
        </p:nvSpPr>
        <p:spPr/>
        <p:txBody>
          <a:bodyPr/>
          <a:lstStyle/>
          <a:p>
            <a:pPr marL="342900" lvl="0" indent="-342900">
              <a:lnSpc>
                <a:spcPct val="100000"/>
              </a:lnSpc>
              <a:spcBef>
                <a:spcPts val="0"/>
              </a:spcBef>
              <a:spcAft>
                <a:spcPts val="2400"/>
              </a:spcAft>
              <a:buFont typeface="Wingdings" panose="05000000000000000000" pitchFamily="2" charset="2"/>
              <a:buChar char=""/>
              <a:defRPr/>
            </a:pPr>
            <a:r>
              <a:rPr lang="en-US" dirty="0">
                <a:latin typeface="Avenir Next LT Pro" panose="020B0504020202020204" pitchFamily="34" charset="0"/>
              </a:rPr>
              <a:t>4% application developer efficiency allowing for increased innovation</a:t>
            </a:r>
          </a:p>
          <a:p>
            <a:pPr marL="342900" lvl="0" indent="-342900">
              <a:lnSpc>
                <a:spcPct val="100000"/>
              </a:lnSpc>
              <a:spcBef>
                <a:spcPts val="0"/>
              </a:spcBef>
              <a:spcAft>
                <a:spcPts val="2400"/>
              </a:spcAft>
              <a:buFont typeface="Wingdings" panose="05000000000000000000" pitchFamily="2" charset="2"/>
              <a:buChar char=""/>
              <a:defRPr/>
            </a:pPr>
            <a:r>
              <a:rPr lang="en-US" dirty="0">
                <a:latin typeface="Avenir Next LT Pro" panose="020B0504020202020204" pitchFamily="34" charset="0"/>
              </a:rPr>
              <a:t>42% reduction in time to market for feature releases</a:t>
            </a:r>
          </a:p>
        </p:txBody>
      </p:sp>
      <p:sp>
        <p:nvSpPr>
          <p:cNvPr id="8" name="Text Placeholder 7">
            <a:extLst>
              <a:ext uri="{FF2B5EF4-FFF2-40B4-BE49-F238E27FC236}">
                <a16:creationId xmlns:a16="http://schemas.microsoft.com/office/drawing/2014/main" id="{543BDC7C-58EC-9700-4ACF-3E7BC3AB5F13}"/>
              </a:ext>
            </a:extLst>
          </p:cNvPr>
          <p:cNvSpPr>
            <a:spLocks noGrp="1"/>
          </p:cNvSpPr>
          <p:nvPr>
            <p:ph type="body" sz="quarter" idx="24"/>
          </p:nvPr>
        </p:nvSpPr>
        <p:spPr/>
        <p:txBody>
          <a:bodyPr/>
          <a:lstStyle/>
          <a:p>
            <a:pPr lvl="0">
              <a:lnSpc>
                <a:spcPct val="100000"/>
              </a:lnSpc>
              <a:spcBef>
                <a:spcPts val="0"/>
              </a:spcBef>
              <a:defRPr/>
            </a:pPr>
            <a:r>
              <a:rPr lang="en-US" dirty="0">
                <a:solidFill>
                  <a:schemeClr val="tx1"/>
                </a:solidFill>
                <a:latin typeface="Avenir Next LT Pro" panose="020B0504020202020204" pitchFamily="34" charset="0"/>
              </a:rPr>
              <a:t>Business Agility</a:t>
            </a:r>
          </a:p>
        </p:txBody>
      </p:sp>
      <p:sp>
        <p:nvSpPr>
          <p:cNvPr id="9" name="Text Placeholder 8">
            <a:extLst>
              <a:ext uri="{FF2B5EF4-FFF2-40B4-BE49-F238E27FC236}">
                <a16:creationId xmlns:a16="http://schemas.microsoft.com/office/drawing/2014/main" id="{3AE7C385-33F5-7057-463B-7AB06E588909}"/>
              </a:ext>
            </a:extLst>
          </p:cNvPr>
          <p:cNvSpPr>
            <a:spLocks noGrp="1"/>
          </p:cNvSpPr>
          <p:nvPr>
            <p:ph type="body" sz="quarter" idx="25"/>
          </p:nvPr>
        </p:nvSpPr>
        <p:spPr/>
        <p:txBody>
          <a:bodyPr/>
          <a:lstStyle/>
          <a:p>
            <a:pPr marL="342900" lvl="0" indent="-342900">
              <a:lnSpc>
                <a:spcPct val="100000"/>
              </a:lnSpc>
              <a:spcBef>
                <a:spcPts val="0"/>
              </a:spcBef>
              <a:spcAft>
                <a:spcPts val="2400"/>
              </a:spcAft>
              <a:buFont typeface="Wingdings" panose="05000000000000000000" pitchFamily="2" charset="2"/>
              <a:buChar char=""/>
              <a:defRPr/>
            </a:pPr>
            <a:r>
              <a:rPr lang="en-US" dirty="0">
                <a:latin typeface="Avenir Next LT Pro" panose="020B0504020202020204" pitchFamily="34" charset="0"/>
              </a:rPr>
              <a:t>43% reduction in unplanned downtime</a:t>
            </a:r>
          </a:p>
          <a:p>
            <a:pPr marL="342900" lvl="0" indent="-342900">
              <a:lnSpc>
                <a:spcPct val="100000"/>
              </a:lnSpc>
              <a:spcBef>
                <a:spcPts val="0"/>
              </a:spcBef>
              <a:spcAft>
                <a:spcPts val="2400"/>
              </a:spcAft>
              <a:buFont typeface="Wingdings" panose="05000000000000000000" pitchFamily="2" charset="2"/>
              <a:buChar char=""/>
              <a:defRPr/>
            </a:pPr>
            <a:r>
              <a:rPr lang="en-US" dirty="0">
                <a:latin typeface="Avenir Next LT Pro" panose="020B0504020202020204" pitchFamily="34" charset="0"/>
              </a:rPr>
              <a:t>37% reduction in monthly critical incidents</a:t>
            </a:r>
          </a:p>
        </p:txBody>
      </p:sp>
      <p:sp>
        <p:nvSpPr>
          <p:cNvPr id="10" name="Text Placeholder 9">
            <a:extLst>
              <a:ext uri="{FF2B5EF4-FFF2-40B4-BE49-F238E27FC236}">
                <a16:creationId xmlns:a16="http://schemas.microsoft.com/office/drawing/2014/main" id="{8BB6BB57-A6C0-195F-5F17-137D9D999EAB}"/>
              </a:ext>
            </a:extLst>
          </p:cNvPr>
          <p:cNvSpPr>
            <a:spLocks noGrp="1"/>
          </p:cNvSpPr>
          <p:nvPr>
            <p:ph type="body" sz="quarter" idx="26"/>
          </p:nvPr>
        </p:nvSpPr>
        <p:spPr/>
        <p:txBody>
          <a:bodyPr/>
          <a:lstStyle/>
          <a:p>
            <a:pPr lvl="0">
              <a:lnSpc>
                <a:spcPct val="100000"/>
              </a:lnSpc>
              <a:spcBef>
                <a:spcPts val="0"/>
              </a:spcBef>
              <a:defRPr/>
            </a:pPr>
            <a:r>
              <a:rPr lang="en-US" dirty="0">
                <a:solidFill>
                  <a:schemeClr val="tx1"/>
                </a:solidFill>
                <a:latin typeface="Avenir Next LT Pro" panose="020B0504020202020204" pitchFamily="34" charset="0"/>
              </a:rPr>
              <a:t>Operational Resilience</a:t>
            </a:r>
          </a:p>
        </p:txBody>
      </p:sp>
      <p:pic>
        <p:nvPicPr>
          <p:cNvPr id="11" name="Picture 10" descr="A purple tick with a drop of water&#10;&#10;Description automatically generated">
            <a:extLst>
              <a:ext uri="{FF2B5EF4-FFF2-40B4-BE49-F238E27FC236}">
                <a16:creationId xmlns:a16="http://schemas.microsoft.com/office/drawing/2014/main" id="{297B4F8B-2F67-8849-516D-8177CA7EA1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88645" y="1568082"/>
            <a:ext cx="808548" cy="676798"/>
          </a:xfrm>
          <a:prstGeom prst="rect">
            <a:avLst/>
          </a:prstGeom>
        </p:spPr>
      </p:pic>
      <p:pic>
        <p:nvPicPr>
          <p:cNvPr id="12" name="Picture 11" descr="A blue tick with a drop of water&#10;&#10;Description automatically generated">
            <a:extLst>
              <a:ext uri="{FF2B5EF4-FFF2-40B4-BE49-F238E27FC236}">
                <a16:creationId xmlns:a16="http://schemas.microsoft.com/office/drawing/2014/main" id="{ED150342-757F-2E4B-838E-2FA5D747EB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29270" y="1581922"/>
            <a:ext cx="818984" cy="684769"/>
          </a:xfrm>
          <a:prstGeom prst="rect">
            <a:avLst/>
          </a:prstGeom>
        </p:spPr>
      </p:pic>
      <p:pic>
        <p:nvPicPr>
          <p:cNvPr id="13" name="Picture 12" descr="A purple tick with a drop of water&#10;&#10;Description automatically generated">
            <a:extLst>
              <a:ext uri="{FF2B5EF4-FFF2-40B4-BE49-F238E27FC236}">
                <a16:creationId xmlns:a16="http://schemas.microsoft.com/office/drawing/2014/main" id="{D86F6BC4-3297-5E54-2C86-4164C1D1D6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326" y="1574757"/>
            <a:ext cx="827553" cy="691934"/>
          </a:xfrm>
          <a:prstGeom prst="rect">
            <a:avLst/>
          </a:prstGeom>
        </p:spPr>
      </p:pic>
      <p:sp>
        <p:nvSpPr>
          <p:cNvPr id="14" name="TextBox 5">
            <a:extLst>
              <a:ext uri="{FF2B5EF4-FFF2-40B4-BE49-F238E27FC236}">
                <a16:creationId xmlns:a16="http://schemas.microsoft.com/office/drawing/2014/main" id="{41ACBDC5-76F5-0F9A-BEF8-4B17A43376C2}"/>
              </a:ext>
            </a:extLst>
          </p:cNvPr>
          <p:cNvSpPr txBox="1"/>
          <p:nvPr/>
        </p:nvSpPr>
        <p:spPr>
          <a:xfrm>
            <a:off x="461326" y="822780"/>
            <a:ext cx="11100816" cy="523220"/>
          </a:xfrm>
          <a:prstGeom prst="rect">
            <a:avLst/>
          </a:prstGeom>
          <a:noFill/>
        </p:spPr>
        <p:txBody>
          <a:bodyPr vert="horz"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0C0"/>
                </a:solidFill>
                <a:effectLst/>
                <a:uLnTx/>
                <a:uFillTx/>
                <a:latin typeface="Avenir Next LT Pro" panose="020B0504020202020204" pitchFamily="34" charset="0"/>
                <a:hlinkClick r:id="rId9">
                  <a:extLst>
                    <a:ext uri="{A12FA001-AC4F-418D-AE19-62706E023703}">
                      <ahyp:hlinkClr xmlns:ahyp="http://schemas.microsoft.com/office/drawing/2018/hyperlinkcolor" val="tx"/>
                    </a:ext>
                  </a:extLst>
                </a:hlinkClick>
              </a:rPr>
              <a:t>Hackett’s Global 1000 study</a:t>
            </a:r>
            <a:r>
              <a:rPr kumimoji="0" lang="en-US" sz="1400" b="0" i="0" u="none" strike="noStrike" kern="1200" cap="none" spc="0" normalizeH="0" baseline="0" noProof="0" dirty="0">
                <a:ln>
                  <a:noFill/>
                </a:ln>
                <a:effectLst/>
                <a:uLnTx/>
                <a:uFillTx/>
                <a:latin typeface="Avenir Next LT Pro" panose="020B0504020202020204" pitchFamily="34" charset="0"/>
                <a:hlinkClick r:id="rId9">
                  <a:extLst>
                    <a:ext uri="{A12FA001-AC4F-418D-AE19-62706E023703}">
                      <ahyp:hlinkClr xmlns:ahyp="http://schemas.microsoft.com/office/drawing/2018/hyperlinkcolor" val="tx"/>
                    </a:ext>
                  </a:extLst>
                </a:hlinkClick>
              </a:rPr>
              <a:t> </a:t>
            </a:r>
            <a:r>
              <a:rPr kumimoji="0" lang="en-US" sz="1400" b="0" i="0" u="none" strike="noStrike" kern="1200" cap="none" spc="0" normalizeH="0" baseline="0" noProof="0" dirty="0">
                <a:ln>
                  <a:noFill/>
                </a:ln>
                <a:effectLst/>
                <a:uLnTx/>
                <a:uFillTx/>
                <a:latin typeface="Avenir Next LT Pro" panose="020B0504020202020204" pitchFamily="34" charset="0"/>
              </a:rPr>
              <a:t>results showed that companies improved in three key areas after migrating to AWS. These estimates reflect a directional perspective on value benefits beyond cost savings.</a:t>
            </a:r>
          </a:p>
        </p:txBody>
      </p:sp>
      <p:cxnSp>
        <p:nvCxnSpPr>
          <p:cNvPr id="15" name="Straight Connector 14">
            <a:extLst>
              <a:ext uri="{FF2B5EF4-FFF2-40B4-BE49-F238E27FC236}">
                <a16:creationId xmlns:a16="http://schemas.microsoft.com/office/drawing/2014/main" id="{C84EDE44-A621-CC85-B47E-E3B31C738810}"/>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pic>
        <p:nvPicPr>
          <p:cNvPr id="16" name="Picture 4">
            <a:extLst>
              <a:ext uri="{FF2B5EF4-FFF2-40B4-BE49-F238E27FC236}">
                <a16:creationId xmlns:a16="http://schemas.microsoft.com/office/drawing/2014/main" id="{A997B33B-E4F7-3438-98FC-B01EC61AA8F3}"/>
              </a:ext>
            </a:extLst>
          </p:cNvPr>
          <p:cNvPicPr>
            <a:picLocks noChangeAspect="1"/>
          </p:cNvPicPr>
          <p:nvPr>
            <p:custDataLst>
              <p:tags r:id="rId3"/>
            </p:custDataLst>
          </p:nvPr>
        </p:nvPicPr>
        <p:blipFill rotWithShape="1">
          <a:blip r:embed="rId10">
            <a:extLst>
              <a:ext uri="{28A0092B-C50C-407E-A947-70E740481C1C}">
                <a14:useLocalDpi xmlns:a14="http://schemas.microsoft.com/office/drawing/2010/main" val="0"/>
              </a:ext>
            </a:extLst>
          </a:blip>
          <a:srcRect l="-2496" t="-4622" r="-7667" b="-12332"/>
          <a:stretch>
            <a:fillRect/>
          </a:stretch>
        </p:blipFill>
        <p:spPr>
          <a:xfrm>
            <a:off x="9545951" y="5594469"/>
            <a:ext cx="2179885" cy="720000"/>
          </a:xfrm>
          <a:prstGeom prst="rect">
            <a:avLst/>
          </a:prstGeom>
        </p:spPr>
      </p:pic>
    </p:spTree>
    <p:custDataLst>
      <p:custData r:id="rId1"/>
      <p:custData r:id="rId2"/>
    </p:custDataLst>
    <p:extLst>
      <p:ext uri="{BB962C8B-B14F-4D97-AF65-F5344CB8AC3E}">
        <p14:creationId xmlns:p14="http://schemas.microsoft.com/office/powerpoint/2010/main" val="1250621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BFE21E-BAAE-803A-73A4-0B2B33F45C01}"/>
              </a:ext>
            </a:extLst>
          </p:cNvPr>
          <p:cNvSpPr>
            <a:spLocks noGrp="1"/>
          </p:cNvSpPr>
          <p:nvPr>
            <p:ph type="body" sz="quarter" idx="10"/>
          </p:nvPr>
        </p:nvSpPr>
        <p:spPr/>
        <p:txBody>
          <a:bodyPr/>
          <a:lstStyle/>
          <a:p>
            <a:r>
              <a:rPr lang="en-GB" dirty="0"/>
              <a:t>Next steps</a:t>
            </a:r>
          </a:p>
        </p:txBody>
      </p:sp>
    </p:spTree>
    <p:custDataLst>
      <p:custData r:id="rId1"/>
      <p:custData r:id="rId2"/>
    </p:custDataLst>
    <p:extLst>
      <p:ext uri="{BB962C8B-B14F-4D97-AF65-F5344CB8AC3E}">
        <p14:creationId xmlns:p14="http://schemas.microsoft.com/office/powerpoint/2010/main" val="6755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43EB-35EE-4CD0-9126-3D80C89BF651}"/>
              </a:ext>
            </a:extLst>
          </p:cNvPr>
          <p:cNvSpPr>
            <a:spLocks noGrp="1"/>
          </p:cNvSpPr>
          <p:nvPr>
            <p:ph type="title"/>
          </p:nvPr>
        </p:nvSpPr>
        <p:spPr>
          <a:xfrm>
            <a:off x="612648" y="320040"/>
            <a:ext cx="11155680" cy="539496"/>
          </a:xfrm>
        </p:spPr>
        <p:txBody>
          <a:bodyPr>
            <a:noAutofit/>
          </a:bodyPr>
          <a:lstStyle/>
          <a:p>
            <a:pPr>
              <a:spcBef>
                <a:spcPts val="1000"/>
              </a:spcBef>
            </a:pPr>
            <a:r>
              <a:rPr lang="en-US" sz="2800" dirty="0">
                <a:solidFill>
                  <a:srgbClr val="472566"/>
                </a:solidFill>
                <a:latin typeface="Avenir Next LT Pro Demi" panose="020B0704020202020204" pitchFamily="34" charset="0"/>
                <a:ea typeface="+mn-ea"/>
                <a:cs typeface="+mn-cs"/>
              </a:rPr>
              <a:t>Landing Zone and Initial Build</a:t>
            </a:r>
          </a:p>
        </p:txBody>
      </p:sp>
      <p:cxnSp>
        <p:nvCxnSpPr>
          <p:cNvPr id="11" name="Straight Connector 10">
            <a:extLst>
              <a:ext uri="{FF2B5EF4-FFF2-40B4-BE49-F238E27FC236}">
                <a16:creationId xmlns:a16="http://schemas.microsoft.com/office/drawing/2014/main" id="{BE5B45C3-47EB-AA95-75A0-1088C4CEE812}"/>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2D418C0-9536-B531-4C68-046E097B190C}"/>
              </a:ext>
            </a:extLst>
          </p:cNvPr>
          <p:cNvSpPr txBox="1"/>
          <p:nvPr/>
        </p:nvSpPr>
        <p:spPr>
          <a:xfrm>
            <a:off x="392758" y="6457441"/>
            <a:ext cx="4210064" cy="40055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LANDING ZONE OVERVIEW</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1026" name="Picture 2" descr="feature-description-image">
            <a:extLst>
              <a:ext uri="{FF2B5EF4-FFF2-40B4-BE49-F238E27FC236}">
                <a16:creationId xmlns:a16="http://schemas.microsoft.com/office/drawing/2014/main" id="{D7F5A6AC-B40C-B205-EB6E-0EA3A3A3C6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6116" y="859536"/>
            <a:ext cx="4401545" cy="30788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5907803-FD8C-DD1E-D1E7-A5F78FB23790}"/>
              </a:ext>
            </a:extLst>
          </p:cNvPr>
          <p:cNvSpPr txBox="1"/>
          <p:nvPr/>
        </p:nvSpPr>
        <p:spPr>
          <a:xfrm>
            <a:off x="10139573" y="3340781"/>
            <a:ext cx="2052427" cy="246221"/>
          </a:xfrm>
          <a:prstGeom prst="rect">
            <a:avLst/>
          </a:prstGeom>
          <a:noFill/>
        </p:spPr>
        <p:txBody>
          <a:bodyPr wrap="square" rtlCol="0">
            <a:spAutoFit/>
          </a:bodyPr>
          <a:lstStyle/>
          <a:p>
            <a:r>
              <a:rPr lang="en-GB" sz="1000" dirty="0">
                <a:latin typeface="Avenir Next LT Pro" panose="020B0504020202020204" pitchFamily="34" charset="0"/>
              </a:rPr>
              <a:t>*Image for illustration only</a:t>
            </a:r>
          </a:p>
        </p:txBody>
      </p:sp>
      <p:sp>
        <p:nvSpPr>
          <p:cNvPr id="4" name="TextBox 3">
            <a:extLst>
              <a:ext uri="{FF2B5EF4-FFF2-40B4-BE49-F238E27FC236}">
                <a16:creationId xmlns:a16="http://schemas.microsoft.com/office/drawing/2014/main" id="{F21F0491-1464-02DF-6ED7-66A93D82E21C}"/>
              </a:ext>
            </a:extLst>
          </p:cNvPr>
          <p:cNvSpPr txBox="1"/>
          <p:nvPr/>
        </p:nvSpPr>
        <p:spPr>
          <a:xfrm>
            <a:off x="612648" y="1227096"/>
            <a:ext cx="5606715" cy="3139321"/>
          </a:xfrm>
          <a:prstGeom prst="rect">
            <a:avLst/>
          </a:prstGeom>
          <a:noFill/>
        </p:spPr>
        <p:txBody>
          <a:bodyPr wrap="square" rtlCol="0">
            <a:spAutoFit/>
          </a:bodyPr>
          <a:lstStyle/>
          <a:p>
            <a:r>
              <a:rPr lang="en-GB" dirty="0">
                <a:latin typeface="Avenir Next LT Pro" panose="020B0504020202020204" pitchFamily="34" charset="0"/>
              </a:rPr>
              <a:t>A landing zone is a well-architected, multi-account AWS environment that is scalable and secure. This is a starting point from which your organization can quickly launch and deploy workloads and applications with confidence in your security and infrastructure environment. Building a landing zone involves technical and business decisions to be made across account structure, networking, security, and access management in accordance with your organization’s growth and business goals for the future.</a:t>
            </a:r>
          </a:p>
        </p:txBody>
      </p:sp>
      <p:pic>
        <p:nvPicPr>
          <p:cNvPr id="6" name="Picture 4">
            <a:extLst>
              <a:ext uri="{FF2B5EF4-FFF2-40B4-BE49-F238E27FC236}">
                <a16:creationId xmlns:a16="http://schemas.microsoft.com/office/drawing/2014/main" id="{E7CC625C-A78E-1C61-9E8B-8F81BC51D2B9}"/>
              </a:ext>
            </a:extLst>
          </p:cNvPr>
          <p:cNvPicPr>
            <a:picLocks noChangeAspect="1"/>
          </p:cNvPicPr>
          <p:nvPr>
            <p:custDataLst>
              <p:tags r:id="rId1"/>
            </p:custDataLst>
          </p:nvPr>
        </p:nvPicPr>
        <p:blipFill rotWithShape="1">
          <a:blip r:embed="rId5">
            <a:extLst>
              <a:ext uri="{28A0092B-C50C-407E-A947-70E740481C1C}">
                <a14:useLocalDpi xmlns:a14="http://schemas.microsoft.com/office/drawing/2010/main" val="0"/>
              </a:ext>
            </a:extLst>
          </a:blip>
          <a:srcRect l="-2496" t="-4622" r="-7667" b="-12332"/>
          <a:stretch>
            <a:fillRect/>
          </a:stretch>
        </p:blipFill>
        <p:spPr>
          <a:xfrm>
            <a:off x="9539504" y="5594469"/>
            <a:ext cx="2179885" cy="720000"/>
          </a:xfrm>
          <a:prstGeom prst="rect">
            <a:avLst/>
          </a:prstGeom>
        </p:spPr>
      </p:pic>
    </p:spTree>
    <p:extLst>
      <p:ext uri="{BB962C8B-B14F-4D97-AF65-F5344CB8AC3E}">
        <p14:creationId xmlns:p14="http://schemas.microsoft.com/office/powerpoint/2010/main" val="28432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C114-6E77-6A4B-9A71-28C802E35970}"/>
              </a:ext>
            </a:extLst>
          </p:cNvPr>
          <p:cNvSpPr>
            <a:spLocks noGrp="1"/>
          </p:cNvSpPr>
          <p:nvPr>
            <p:ph type="title"/>
          </p:nvPr>
        </p:nvSpPr>
        <p:spPr>
          <a:xfrm>
            <a:off x="615239" y="326306"/>
            <a:ext cx="10972800" cy="535531"/>
          </a:xfrm>
        </p:spPr>
        <p:txBody>
          <a:bodyPr>
            <a:noAutofit/>
          </a:bodyPr>
          <a:lstStyle/>
          <a:p>
            <a:pPr>
              <a:spcBef>
                <a:spcPts val="1000"/>
              </a:spcBef>
            </a:pPr>
            <a:r>
              <a:rPr lang="en-US" sz="2800" dirty="0">
                <a:solidFill>
                  <a:srgbClr val="472566"/>
                </a:solidFill>
                <a:latin typeface="Avenir Next LT Pro Demi" panose="020B0704020202020204" pitchFamily="34" charset="0"/>
                <a:ea typeface="+mn-ea"/>
                <a:cs typeface="+mn-cs"/>
              </a:rPr>
              <a:t>Migration Acceleration Program</a:t>
            </a:r>
          </a:p>
        </p:txBody>
      </p:sp>
      <p:sp>
        <p:nvSpPr>
          <p:cNvPr id="6" name="Rectangle 5"/>
          <p:cNvSpPr/>
          <p:nvPr/>
        </p:nvSpPr>
        <p:spPr>
          <a:xfrm>
            <a:off x="1200429" y="2496718"/>
            <a:ext cx="3566956" cy="3427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2400" tIns="121920" rIns="152400" bIns="121920" numCol="1" rtlCol="0" anchor="t" anchorCtr="0" compatLnSpc="1">
            <a:prstTxWarp prst="textNoShape">
              <a:avLst/>
            </a:prstTxWarp>
            <a:spAutoFit/>
          </a:bodyPr>
          <a:lstStyle/>
          <a:p>
            <a:pPr>
              <a:lnSpc>
                <a:spcPct val="90000"/>
              </a:lnSpc>
              <a:spcAft>
                <a:spcPts val="1000"/>
              </a:spcAft>
              <a:buSzPct val="90000"/>
            </a:pPr>
            <a:r>
              <a:rPr lang="en-US" sz="1667" dirty="0">
                <a:latin typeface="Avenir Next LT Pro" panose="020B0504020202020204" pitchFamily="34" charset="0"/>
                <a:ea typeface="Amazon Ember" panose="020B0603020204020204" pitchFamily="34" charset="0"/>
                <a:cs typeface="Amazon Ember" panose="020B0603020204020204" pitchFamily="34" charset="0"/>
              </a:rPr>
              <a:t>Identify and engage your executive champion and sponsor.</a:t>
            </a:r>
          </a:p>
          <a:p>
            <a:pPr>
              <a:lnSpc>
                <a:spcPct val="90000"/>
              </a:lnSpc>
              <a:spcAft>
                <a:spcPts val="1000"/>
              </a:spcAft>
              <a:buSzPct val="90000"/>
            </a:pPr>
            <a:endParaRPr lang="en-US" sz="1667" dirty="0">
              <a:solidFill>
                <a:srgbClr val="002060"/>
              </a:solidFill>
              <a:latin typeface="Avenir Next LT Pro" panose="020B0504020202020204" pitchFamily="34" charset="0"/>
              <a:ea typeface="Amazon Ember" panose="020B0603020204020204" pitchFamily="34" charset="0"/>
              <a:cs typeface="Amazon Ember" panose="020B0603020204020204" pitchFamily="34" charset="0"/>
            </a:endParaRPr>
          </a:p>
          <a:p>
            <a:pPr>
              <a:lnSpc>
                <a:spcPct val="90000"/>
              </a:lnSpc>
              <a:spcAft>
                <a:spcPts val="1000"/>
              </a:spcAft>
              <a:buSzPct val="90000"/>
            </a:pPr>
            <a:r>
              <a:rPr lang="en-US" sz="1667" dirty="0">
                <a:latin typeface="Avenir Next LT Pro" panose="020B0504020202020204" pitchFamily="34" charset="0"/>
                <a:ea typeface="Amazon Ember" panose="020B0603020204020204" pitchFamily="34" charset="0"/>
                <a:cs typeface="Amazon Ember" panose="020B0603020204020204" pitchFamily="34" charset="0"/>
              </a:rPr>
              <a:t>Work with your account team to engage the Migration Acceleration Program to accelerate your cloud journey.</a:t>
            </a:r>
          </a:p>
          <a:p>
            <a:pPr>
              <a:lnSpc>
                <a:spcPct val="90000"/>
              </a:lnSpc>
              <a:spcAft>
                <a:spcPts val="1000"/>
              </a:spcAft>
              <a:buSzPct val="90000"/>
            </a:pPr>
            <a:endParaRPr lang="en-US" sz="1667" dirty="0">
              <a:solidFill>
                <a:srgbClr val="002060"/>
              </a:solidFill>
              <a:latin typeface="Avenir Next LT Pro" panose="020B0504020202020204" pitchFamily="34" charset="0"/>
              <a:ea typeface="Amazon Ember" panose="020B0603020204020204" pitchFamily="34" charset="0"/>
              <a:cs typeface="Amazon Ember" panose="020B0603020204020204" pitchFamily="34" charset="0"/>
            </a:endParaRPr>
          </a:p>
          <a:p>
            <a:pPr>
              <a:lnSpc>
                <a:spcPct val="90000"/>
              </a:lnSpc>
              <a:spcAft>
                <a:spcPts val="1000"/>
              </a:spcAft>
              <a:buSzPct val="90000"/>
              <a:buFont typeface="Arial" panose="020B0604020202020204" pitchFamily="34" charset="0"/>
            </a:pPr>
            <a:r>
              <a:rPr lang="en-US" sz="1667" dirty="0">
                <a:latin typeface="Avenir Next LT Pro" panose="020B0504020202020204" pitchFamily="34" charset="0"/>
                <a:ea typeface="Amazon Ember" panose="020B0603020204020204" pitchFamily="34" charset="0"/>
                <a:cs typeface="Amazon Ember" panose="020B0603020204020204" pitchFamily="34" charset="0"/>
              </a:rPr>
              <a:t>Schedule a discovery and migration readiness assessment</a:t>
            </a:r>
          </a:p>
          <a:p>
            <a:pPr>
              <a:lnSpc>
                <a:spcPct val="90000"/>
              </a:lnSpc>
              <a:spcAft>
                <a:spcPts val="1000"/>
              </a:spcAft>
              <a:buSzPct val="90000"/>
              <a:buFont typeface="Arial" panose="020B0604020202020204" pitchFamily="34" charset="0"/>
            </a:pPr>
            <a:endParaRPr lang="en-US" sz="1667" dirty="0">
              <a:solidFill>
                <a:srgbClr val="002060"/>
              </a:solidFill>
              <a:latin typeface="Avenir Next LT Pro" panose="020B0504020202020204" pitchFamily="34" charset="0"/>
              <a:ea typeface="Amazon Ember" panose="020B0603020204020204" pitchFamily="34" charset="0"/>
              <a:cs typeface="Amazon Ember" panose="020B0603020204020204" pitchFamily="34" charset="0"/>
            </a:endParaRPr>
          </a:p>
        </p:txBody>
      </p:sp>
      <p:sp>
        <p:nvSpPr>
          <p:cNvPr id="7" name="Oval 6"/>
          <p:cNvSpPr/>
          <p:nvPr/>
        </p:nvSpPr>
        <p:spPr>
          <a:xfrm>
            <a:off x="615239" y="2496718"/>
            <a:ext cx="585190" cy="585190"/>
          </a:xfrm>
          <a:prstGeom prst="ellipse">
            <a:avLst/>
          </a:prstGeom>
          <a:noFill/>
          <a:ln w="28575" cap="flat" cmpd="sng" algn="ctr">
            <a:solidFill>
              <a:srgbClr val="3B1A3D"/>
            </a:solidFill>
            <a:prstDash val="solid"/>
          </a:ln>
          <a:effectLst/>
        </p:spPr>
        <p:txBody>
          <a:bodyPr rtlCol="0" anchor="ctr"/>
          <a:lstStyle/>
          <a:p>
            <a:pPr algn="ctr" defTabSz="609576">
              <a:defRPr/>
            </a:pPr>
            <a:r>
              <a:rPr lang="en-US" sz="2400" kern="0" dirty="0">
                <a:latin typeface="Avenir Next LT Pro" panose="020B0504020202020204" pitchFamily="34" charset="0"/>
              </a:rPr>
              <a:t>1</a:t>
            </a:r>
          </a:p>
        </p:txBody>
      </p:sp>
      <p:sp>
        <p:nvSpPr>
          <p:cNvPr id="8" name="Oval 7"/>
          <p:cNvSpPr/>
          <p:nvPr/>
        </p:nvSpPr>
        <p:spPr>
          <a:xfrm>
            <a:off x="615239" y="3577116"/>
            <a:ext cx="585190" cy="585190"/>
          </a:xfrm>
          <a:prstGeom prst="ellipse">
            <a:avLst/>
          </a:prstGeom>
          <a:noFill/>
          <a:ln w="28575" cap="flat" cmpd="sng" algn="ctr">
            <a:solidFill>
              <a:srgbClr val="3B1A3D"/>
            </a:solidFill>
            <a:prstDash val="solid"/>
          </a:ln>
          <a:effectLst/>
        </p:spPr>
        <p:txBody>
          <a:bodyPr rtlCol="0" anchor="ctr"/>
          <a:lstStyle/>
          <a:p>
            <a:pPr algn="ctr" defTabSz="609576">
              <a:defRPr/>
            </a:pPr>
            <a:r>
              <a:rPr lang="en-US" sz="2400" kern="0" dirty="0">
                <a:latin typeface="Avenir Next LT Pro" panose="020B0504020202020204" pitchFamily="34" charset="0"/>
              </a:rPr>
              <a:t>2</a:t>
            </a:r>
          </a:p>
        </p:txBody>
      </p:sp>
      <p:sp>
        <p:nvSpPr>
          <p:cNvPr id="9" name="Oval 8"/>
          <p:cNvSpPr/>
          <p:nvPr/>
        </p:nvSpPr>
        <p:spPr>
          <a:xfrm>
            <a:off x="615239" y="4875453"/>
            <a:ext cx="585190" cy="585190"/>
          </a:xfrm>
          <a:prstGeom prst="ellipse">
            <a:avLst/>
          </a:prstGeom>
          <a:noFill/>
          <a:ln w="28575" cap="flat" cmpd="sng" algn="ctr">
            <a:solidFill>
              <a:srgbClr val="3B1A3D"/>
            </a:solidFill>
            <a:prstDash val="solid"/>
          </a:ln>
          <a:effectLst/>
        </p:spPr>
        <p:txBody>
          <a:bodyPr rtlCol="0" anchor="ctr"/>
          <a:lstStyle/>
          <a:p>
            <a:pPr algn="ctr" defTabSz="609576">
              <a:defRPr/>
            </a:pPr>
            <a:r>
              <a:rPr lang="en-US" sz="2400" kern="0" dirty="0">
                <a:latin typeface="Avenir Next LT Pro" panose="020B0504020202020204" pitchFamily="34" charset="0"/>
              </a:rPr>
              <a:t>3</a:t>
            </a:r>
            <a:endParaRPr lang="en-US" sz="4000" kern="0" dirty="0">
              <a:latin typeface="Avenir Next LT Pro" panose="020B0504020202020204" pitchFamily="34" charset="0"/>
            </a:endParaRPr>
          </a:p>
        </p:txBody>
      </p:sp>
      <p:sp>
        <p:nvSpPr>
          <p:cNvPr id="10" name="Rectangle 9"/>
          <p:cNvSpPr/>
          <p:nvPr/>
        </p:nvSpPr>
        <p:spPr>
          <a:xfrm>
            <a:off x="445402" y="925192"/>
            <a:ext cx="11086185" cy="1284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2400" tIns="121920" rIns="152400" bIns="121920" numCol="1" rtlCol="0" anchor="t" anchorCtr="0" compatLnSpc="1">
            <a:prstTxWarp prst="textNoShape">
              <a:avLst/>
            </a:prstTxWarp>
            <a:spAutoFit/>
          </a:bodyPr>
          <a:lstStyle/>
          <a:p>
            <a:pPr>
              <a:lnSpc>
                <a:spcPct val="90000"/>
              </a:lnSpc>
              <a:spcAft>
                <a:spcPts val="1000"/>
              </a:spcAft>
              <a:buSzPct val="90000"/>
            </a:pPr>
            <a:r>
              <a:rPr lang="en-US" sz="1500" dirty="0">
                <a:latin typeface="Avenir Next LT Pro" panose="020B0504020202020204" pitchFamily="34" charset="0"/>
                <a:ea typeface="Amazon Ember" panose="020B0603020204020204" pitchFamily="34" charset="0"/>
                <a:cs typeface="Amazon Ember" panose="020B0603020204020204" pitchFamily="34" charset="0"/>
              </a:rPr>
              <a:t>For customers with incremental AWS adoption exceeding $500K annually, the Migration Acceleration Program provides a comprehensive and proven methodology, based on experience migrating hundreds of enterprise customers, making cloud adoption easier and allowing customers to gain cloud benefits sooner. MAP consists of an agile-based migration approach, a global network of vetted partners, automation tools, a training path to up-skill staff, professional services, and financial investment to help manage transition costs.</a:t>
            </a:r>
          </a:p>
        </p:txBody>
      </p:sp>
      <p:pic>
        <p:nvPicPr>
          <p:cNvPr id="4" name="Picture 3">
            <a:extLst>
              <a:ext uri="{FF2B5EF4-FFF2-40B4-BE49-F238E27FC236}">
                <a16:creationId xmlns:a16="http://schemas.microsoft.com/office/drawing/2014/main" id="{38142320-D157-BEB3-54E5-45454409B731}"/>
              </a:ext>
            </a:extLst>
          </p:cNvPr>
          <p:cNvPicPr>
            <a:picLocks noChangeAspect="1"/>
          </p:cNvPicPr>
          <p:nvPr/>
        </p:nvPicPr>
        <p:blipFill>
          <a:blip r:embed="rId4"/>
          <a:stretch>
            <a:fillRect/>
          </a:stretch>
        </p:blipFill>
        <p:spPr>
          <a:xfrm>
            <a:off x="4767975" y="2064029"/>
            <a:ext cx="5796219" cy="3239415"/>
          </a:xfrm>
          <a:prstGeom prst="rect">
            <a:avLst/>
          </a:prstGeom>
        </p:spPr>
      </p:pic>
      <p:cxnSp>
        <p:nvCxnSpPr>
          <p:cNvPr id="5" name="Straight Connector 4">
            <a:extLst>
              <a:ext uri="{FF2B5EF4-FFF2-40B4-BE49-F238E27FC236}">
                <a16:creationId xmlns:a16="http://schemas.microsoft.com/office/drawing/2014/main" id="{A1514CAB-D3B2-3EF9-3345-5F4BECD014D5}"/>
              </a:ext>
            </a:extLst>
          </p:cNvPr>
          <p:cNvCxnSpPr/>
          <p:nvPr/>
        </p:nvCxnSpPr>
        <p:spPr>
          <a:xfrm>
            <a:off x="472611" y="6314469"/>
            <a:ext cx="11253225" cy="0"/>
          </a:xfrm>
          <a:prstGeom prst="line">
            <a:avLst/>
          </a:prstGeom>
          <a:ln w="12700">
            <a:solidFill>
              <a:srgbClr val="905D9F"/>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0B38FDD-F997-15B3-E4D1-31A1CE96348B}"/>
              </a:ext>
            </a:extLst>
          </p:cNvPr>
          <p:cNvSpPr txBox="1"/>
          <p:nvPr/>
        </p:nvSpPr>
        <p:spPr>
          <a:xfrm>
            <a:off x="392758" y="6457441"/>
            <a:ext cx="4210064" cy="401264"/>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700" b="0" i="0" u="none" strike="noStrike" kern="1200" cap="none" spc="600" normalizeH="0" baseline="0" noProof="0" dirty="0">
                <a:ln>
                  <a:noFill/>
                </a:ln>
                <a:effectLst/>
                <a:uLnTx/>
                <a:uFillTx/>
                <a:latin typeface="Avenir Next LT Pro" panose="020B0504020202020204" pitchFamily="34" charset="0"/>
                <a:ea typeface="+mn-ea"/>
                <a:cs typeface="+mn-cs"/>
              </a:rPr>
              <a:t>MAP OVERVIEW</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mn-cs"/>
            </a:endParaRPr>
          </a:p>
        </p:txBody>
      </p:sp>
      <p:pic>
        <p:nvPicPr>
          <p:cNvPr id="3" name="Picture 4">
            <a:extLst>
              <a:ext uri="{FF2B5EF4-FFF2-40B4-BE49-F238E27FC236}">
                <a16:creationId xmlns:a16="http://schemas.microsoft.com/office/drawing/2014/main" id="{ED037005-CA46-8164-7FD6-3F14B784B16A}"/>
              </a:ext>
            </a:extLst>
          </p:cNvPr>
          <p:cNvPicPr>
            <a:picLocks noChangeAspect="1"/>
          </p:cNvPicPr>
          <p:nvPr>
            <p:custDataLst>
              <p:tags r:id="rId1"/>
            </p:custDataLst>
          </p:nvPr>
        </p:nvPicPr>
        <p:blipFill rotWithShape="1">
          <a:blip r:embed="rId5">
            <a:extLst>
              <a:ext uri="{28A0092B-C50C-407E-A947-70E740481C1C}">
                <a14:useLocalDpi xmlns:a14="http://schemas.microsoft.com/office/drawing/2010/main" val="0"/>
              </a:ext>
            </a:extLst>
          </a:blip>
          <a:srcRect l="-2496" t="-4622" r="-7667" b="-12332"/>
          <a:stretch>
            <a:fillRect/>
          </a:stretch>
        </p:blipFill>
        <p:spPr>
          <a:xfrm>
            <a:off x="9546246" y="5594469"/>
            <a:ext cx="2179885" cy="720000"/>
          </a:xfrm>
          <a:prstGeom prst="rect">
            <a:avLst/>
          </a:prstGeom>
        </p:spPr>
      </p:pic>
    </p:spTree>
    <p:extLst>
      <p:ext uri="{BB962C8B-B14F-4D97-AF65-F5344CB8AC3E}">
        <p14:creationId xmlns:p14="http://schemas.microsoft.com/office/powerpoint/2010/main" val="772487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F1141-76B9-764B-5478-44F7329B7B6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2874207-83CD-9CA5-5B76-8003D1C49A6B}"/>
              </a:ext>
            </a:extLst>
          </p:cNvPr>
          <p:cNvSpPr>
            <a:spLocks noGrp="1"/>
          </p:cNvSpPr>
          <p:nvPr>
            <p:ph type="body" sz="quarter" idx="10"/>
          </p:nvPr>
        </p:nvSpPr>
        <p:spPr/>
        <p:txBody>
          <a:bodyPr/>
          <a:lstStyle/>
          <a:p>
            <a:r>
              <a:rPr lang="en-GB" dirty="0"/>
              <a:t>Standard migration process</a:t>
            </a:r>
          </a:p>
          <a:p>
            <a:endParaRPr lang="en-GB" dirty="0"/>
          </a:p>
        </p:txBody>
      </p:sp>
      <p:pic>
        <p:nvPicPr>
          <p:cNvPr id="7" name="Content Placeholder 6" descr="A screenshot of a computer&#10;&#10;AI-generated content may be incorrect.">
            <a:extLst>
              <a:ext uri="{FF2B5EF4-FFF2-40B4-BE49-F238E27FC236}">
                <a16:creationId xmlns:a16="http://schemas.microsoft.com/office/drawing/2014/main" id="{E0223EBA-17BA-B1E6-F04E-D1944FD7C031}"/>
              </a:ext>
            </a:extLst>
          </p:cNvPr>
          <p:cNvPicPr>
            <a:picLocks noGrp="1" noChangeAspect="1"/>
          </p:cNvPicPr>
          <p:nvPr>
            <p:ph sz="quarter" idx="13"/>
          </p:nvPr>
        </p:nvPicPr>
        <p:blipFill>
          <a:blip r:embed="rId5">
            <a:extLst>
              <a:ext uri="{28A0092B-C50C-407E-A947-70E740481C1C}">
                <a14:useLocalDpi xmlns:a14="http://schemas.microsoft.com/office/drawing/2010/main" val="0"/>
              </a:ext>
            </a:extLst>
          </a:blip>
          <a:stretch>
            <a:fillRect/>
          </a:stretch>
        </p:blipFill>
        <p:spPr>
          <a:xfrm>
            <a:off x="461327" y="1012825"/>
            <a:ext cx="4938555" cy="4832350"/>
          </a:xfrm>
        </p:spPr>
      </p:pic>
      <p:sp>
        <p:nvSpPr>
          <p:cNvPr id="5" name="Slide Number Placeholder 4">
            <a:extLst>
              <a:ext uri="{FF2B5EF4-FFF2-40B4-BE49-F238E27FC236}">
                <a16:creationId xmlns:a16="http://schemas.microsoft.com/office/drawing/2014/main" id="{257DB78D-7857-FA75-EDED-9D8048FCF208}"/>
              </a:ext>
            </a:extLst>
          </p:cNvPr>
          <p:cNvSpPr>
            <a:spLocks noGrp="1"/>
          </p:cNvSpPr>
          <p:nvPr>
            <p:ph type="sldNum" sz="quarter" idx="24"/>
          </p:nvPr>
        </p:nvSpPr>
        <p:spPr/>
        <p:txBody>
          <a:bodyPr/>
          <a:lstStyle/>
          <a:p>
            <a:fld id="{41DAF538-693A-4E80-987F-3E9C27B38952}" type="slidenum">
              <a:rPr lang="en-GB" smtClean="0"/>
              <a:pPr/>
              <a:t>30</a:t>
            </a:fld>
            <a:endParaRPr lang="en-GB"/>
          </a:p>
        </p:txBody>
      </p:sp>
      <p:sp>
        <p:nvSpPr>
          <p:cNvPr id="8" name="TextBox 7">
            <a:extLst>
              <a:ext uri="{FF2B5EF4-FFF2-40B4-BE49-F238E27FC236}">
                <a16:creationId xmlns:a16="http://schemas.microsoft.com/office/drawing/2014/main" id="{2179098C-F5D2-8B72-BB62-5DC8799A2955}"/>
              </a:ext>
            </a:extLst>
          </p:cNvPr>
          <p:cNvSpPr txBox="1"/>
          <p:nvPr/>
        </p:nvSpPr>
        <p:spPr>
          <a:xfrm>
            <a:off x="6269182" y="907473"/>
            <a:ext cx="5098473" cy="1446550"/>
          </a:xfrm>
          <a:prstGeom prst="rect">
            <a:avLst/>
          </a:prstGeom>
          <a:noFill/>
        </p:spPr>
        <p:txBody>
          <a:bodyPr wrap="square" rtlCol="0">
            <a:spAutoFit/>
          </a:bodyPr>
          <a:lstStyle/>
          <a:p>
            <a:r>
              <a:rPr lang="en-GB" dirty="0"/>
              <a:t>Mobilise Phase</a:t>
            </a:r>
          </a:p>
          <a:p>
            <a:pPr marL="285750" indent="-285750">
              <a:buFont typeface="Arial" panose="020B0604020202020204" pitchFamily="34" charset="0"/>
              <a:buChar char="•"/>
            </a:pPr>
            <a:r>
              <a:rPr lang="en-GB" sz="1400" dirty="0"/>
              <a:t>Pilot candidates are replicated to AWS Staging Area</a:t>
            </a:r>
          </a:p>
          <a:p>
            <a:pPr marL="285750" indent="-285750">
              <a:buFont typeface="Arial" panose="020B0604020202020204" pitchFamily="34" charset="0"/>
              <a:buChar char="•"/>
            </a:pPr>
            <a:r>
              <a:rPr lang="en-GB" sz="1400" dirty="0"/>
              <a:t>Once replication is in sync, launch test instances</a:t>
            </a:r>
          </a:p>
          <a:p>
            <a:pPr marL="285750" indent="-285750">
              <a:buFont typeface="Arial" panose="020B0604020202020204" pitchFamily="34" charset="0"/>
              <a:buChar char="•"/>
            </a:pPr>
            <a:r>
              <a:rPr lang="en-GB" sz="1400" dirty="0"/>
              <a:t>Customer checks and validates test instances</a:t>
            </a:r>
          </a:p>
          <a:p>
            <a:pPr marL="285750" indent="-285750">
              <a:buFont typeface="Arial" panose="020B0604020202020204" pitchFamily="34" charset="0"/>
              <a:buChar char="•"/>
            </a:pPr>
            <a:r>
              <a:rPr lang="en-GB" sz="1400" dirty="0"/>
              <a:t>Launch templates edited</a:t>
            </a:r>
          </a:p>
          <a:p>
            <a:pPr marL="285750" indent="-285750">
              <a:buFont typeface="Arial" panose="020B0604020202020204" pitchFamily="34" charset="0"/>
              <a:buChar char="•"/>
            </a:pPr>
            <a:r>
              <a:rPr lang="en-GB" sz="1400" dirty="0"/>
              <a:t>Migrated servers are cutover</a:t>
            </a:r>
          </a:p>
        </p:txBody>
      </p:sp>
      <p:sp>
        <p:nvSpPr>
          <p:cNvPr id="9" name="TextBox 8">
            <a:extLst>
              <a:ext uri="{FF2B5EF4-FFF2-40B4-BE49-F238E27FC236}">
                <a16:creationId xmlns:a16="http://schemas.microsoft.com/office/drawing/2014/main" id="{4ED8BDBF-DD23-6596-AE60-B92388569A8C}"/>
              </a:ext>
            </a:extLst>
          </p:cNvPr>
          <p:cNvSpPr txBox="1"/>
          <p:nvPr/>
        </p:nvSpPr>
        <p:spPr>
          <a:xfrm>
            <a:off x="6269182" y="2618509"/>
            <a:ext cx="5098473" cy="584775"/>
          </a:xfrm>
          <a:prstGeom prst="rect">
            <a:avLst/>
          </a:prstGeom>
          <a:noFill/>
        </p:spPr>
        <p:txBody>
          <a:bodyPr wrap="square" rtlCol="0">
            <a:spAutoFit/>
          </a:bodyPr>
          <a:lstStyle/>
          <a:p>
            <a:r>
              <a:rPr lang="en-GB" dirty="0"/>
              <a:t>Migrate &amp; Modernise Phase</a:t>
            </a:r>
          </a:p>
          <a:p>
            <a:pPr marL="285750" indent="-285750">
              <a:buFont typeface="Arial" panose="020B0604020202020204" pitchFamily="34" charset="0"/>
              <a:buChar char="•"/>
            </a:pPr>
            <a:r>
              <a:rPr lang="en-GB" sz="1400" dirty="0"/>
              <a:t>Repeat above workflow for remaining servers</a:t>
            </a:r>
          </a:p>
        </p:txBody>
      </p:sp>
      <p:sp>
        <p:nvSpPr>
          <p:cNvPr id="10" name="TextBox 9">
            <a:extLst>
              <a:ext uri="{FF2B5EF4-FFF2-40B4-BE49-F238E27FC236}">
                <a16:creationId xmlns:a16="http://schemas.microsoft.com/office/drawing/2014/main" id="{A47E3670-FCFF-3399-9247-B6587879DF95}"/>
              </a:ext>
            </a:extLst>
          </p:cNvPr>
          <p:cNvSpPr txBox="1"/>
          <p:nvPr/>
        </p:nvSpPr>
        <p:spPr>
          <a:xfrm>
            <a:off x="6269181" y="4503978"/>
            <a:ext cx="5098473" cy="1154162"/>
          </a:xfrm>
          <a:prstGeom prst="rect">
            <a:avLst/>
          </a:prstGeom>
          <a:noFill/>
        </p:spPr>
        <p:txBody>
          <a:bodyPr wrap="square" rtlCol="0">
            <a:spAutoFit/>
          </a:bodyPr>
          <a:lstStyle/>
          <a:p>
            <a:pPr marL="285750" indent="-285750">
              <a:buFont typeface="Arial" panose="020B0604020202020204" pitchFamily="34" charset="0"/>
              <a:buChar char="•"/>
            </a:pPr>
            <a:r>
              <a:rPr lang="en-GB" sz="1100" dirty="0"/>
              <a:t>Pilot candidates must be identified ahead of any works</a:t>
            </a:r>
          </a:p>
          <a:p>
            <a:pPr marL="285750" indent="-285750">
              <a:buFont typeface="Arial" panose="020B0604020202020204" pitchFamily="34" charset="0"/>
              <a:buChar char="•"/>
            </a:pPr>
            <a:r>
              <a:rPr lang="en-GB" sz="1100" dirty="0"/>
              <a:t>Replication can take multiple days/weeks for resources with high rates of change</a:t>
            </a:r>
          </a:p>
          <a:p>
            <a:pPr marL="285750" indent="-285750">
              <a:buFont typeface="Arial" panose="020B0604020202020204" pitchFamily="34" charset="0"/>
              <a:buChar char="•"/>
            </a:pPr>
            <a:r>
              <a:rPr lang="en-GB" sz="1100" dirty="0"/>
              <a:t>Remaining servers begin their replication after pilot is complete, potentially delaying completion</a:t>
            </a:r>
          </a:p>
          <a:p>
            <a:pPr marL="285750" indent="-285750">
              <a:buFont typeface="Arial" panose="020B0604020202020204" pitchFamily="34" charset="0"/>
              <a:buChar char="•"/>
            </a:pPr>
            <a:endParaRPr lang="en-GB" sz="1400" dirty="0"/>
          </a:p>
        </p:txBody>
      </p:sp>
    </p:spTree>
    <p:custDataLst>
      <p:custData r:id="rId1"/>
      <p:custData r:id="rId2"/>
    </p:custDataLst>
    <p:extLst>
      <p:ext uri="{BB962C8B-B14F-4D97-AF65-F5344CB8AC3E}">
        <p14:creationId xmlns:p14="http://schemas.microsoft.com/office/powerpoint/2010/main" val="4148104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62A8-FF91-F8B8-0B78-705AA611B5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47F415B-6BF1-0CB8-C3E3-0817A81A1A88}"/>
              </a:ext>
            </a:extLst>
          </p:cNvPr>
          <p:cNvSpPr>
            <a:spLocks noGrp="1"/>
          </p:cNvSpPr>
          <p:nvPr>
            <p:ph type="body" sz="quarter" idx="10"/>
          </p:nvPr>
        </p:nvSpPr>
        <p:spPr/>
        <p:txBody>
          <a:bodyPr/>
          <a:lstStyle/>
          <a:p>
            <a:r>
              <a:rPr lang="en-GB" dirty="0"/>
              <a:t>Standard migration process</a:t>
            </a:r>
          </a:p>
          <a:p>
            <a:endParaRPr lang="en-GB" dirty="0"/>
          </a:p>
        </p:txBody>
      </p:sp>
      <p:sp>
        <p:nvSpPr>
          <p:cNvPr id="5" name="Slide Number Placeholder 4">
            <a:extLst>
              <a:ext uri="{FF2B5EF4-FFF2-40B4-BE49-F238E27FC236}">
                <a16:creationId xmlns:a16="http://schemas.microsoft.com/office/drawing/2014/main" id="{E31DDB6C-60CD-F1C0-DD52-746D6EF05213}"/>
              </a:ext>
            </a:extLst>
          </p:cNvPr>
          <p:cNvSpPr>
            <a:spLocks noGrp="1"/>
          </p:cNvSpPr>
          <p:nvPr>
            <p:ph type="sldNum" sz="quarter" idx="24"/>
          </p:nvPr>
        </p:nvSpPr>
        <p:spPr/>
        <p:txBody>
          <a:bodyPr/>
          <a:lstStyle/>
          <a:p>
            <a:fld id="{41DAF538-693A-4E80-987F-3E9C27B38952}" type="slidenum">
              <a:rPr lang="en-GB" smtClean="0"/>
              <a:pPr/>
              <a:t>31</a:t>
            </a:fld>
            <a:endParaRPr lang="en-GB"/>
          </a:p>
        </p:txBody>
      </p:sp>
      <p:sp>
        <p:nvSpPr>
          <p:cNvPr id="8" name="TextBox 7">
            <a:extLst>
              <a:ext uri="{FF2B5EF4-FFF2-40B4-BE49-F238E27FC236}">
                <a16:creationId xmlns:a16="http://schemas.microsoft.com/office/drawing/2014/main" id="{673545D1-CEE9-283A-7284-C8C537D35A21}"/>
              </a:ext>
            </a:extLst>
          </p:cNvPr>
          <p:cNvSpPr txBox="1"/>
          <p:nvPr/>
        </p:nvSpPr>
        <p:spPr>
          <a:xfrm>
            <a:off x="6269182" y="907473"/>
            <a:ext cx="5098473" cy="1877437"/>
          </a:xfrm>
          <a:prstGeom prst="rect">
            <a:avLst/>
          </a:prstGeom>
          <a:noFill/>
        </p:spPr>
        <p:txBody>
          <a:bodyPr wrap="square" rtlCol="0">
            <a:spAutoFit/>
          </a:bodyPr>
          <a:lstStyle/>
          <a:p>
            <a:r>
              <a:rPr lang="en-GB" dirty="0"/>
              <a:t>Mobilise Phase</a:t>
            </a:r>
          </a:p>
          <a:p>
            <a:pPr marL="285750" indent="-285750">
              <a:buFont typeface="Arial" panose="020B0604020202020204" pitchFamily="34" charset="0"/>
              <a:buChar char="•"/>
            </a:pPr>
            <a:r>
              <a:rPr lang="en-GB" sz="1400" b="1" dirty="0"/>
              <a:t>All</a:t>
            </a:r>
            <a:r>
              <a:rPr lang="en-GB" sz="1400" dirty="0"/>
              <a:t> servers are replicated to AWS Staging Areas</a:t>
            </a:r>
          </a:p>
          <a:p>
            <a:pPr marL="285750" indent="-285750">
              <a:buFont typeface="Arial" panose="020B0604020202020204" pitchFamily="34" charset="0"/>
              <a:buChar char="•"/>
            </a:pPr>
            <a:r>
              <a:rPr lang="en-GB" sz="1400" dirty="0"/>
              <a:t>Identify first non-prod servers to be in sync – these are your pilot candidates</a:t>
            </a:r>
          </a:p>
          <a:p>
            <a:pPr marL="285750" indent="-285750">
              <a:buFont typeface="Arial" panose="020B0604020202020204" pitchFamily="34" charset="0"/>
              <a:buChar char="•"/>
            </a:pPr>
            <a:r>
              <a:rPr lang="en-GB" sz="1400" dirty="0"/>
              <a:t>Launch test instances</a:t>
            </a:r>
          </a:p>
          <a:p>
            <a:pPr marL="285750" indent="-285750">
              <a:buFont typeface="Arial" panose="020B0604020202020204" pitchFamily="34" charset="0"/>
              <a:buChar char="•"/>
            </a:pPr>
            <a:r>
              <a:rPr lang="en-GB" sz="1400" dirty="0"/>
              <a:t>Customer checks and validates test instances</a:t>
            </a:r>
          </a:p>
          <a:p>
            <a:pPr marL="285750" indent="-285750">
              <a:buFont typeface="Arial" panose="020B0604020202020204" pitchFamily="34" charset="0"/>
              <a:buChar char="•"/>
            </a:pPr>
            <a:r>
              <a:rPr lang="en-GB" sz="1400" dirty="0"/>
              <a:t>Launch templates edited</a:t>
            </a:r>
          </a:p>
          <a:p>
            <a:pPr marL="285750" indent="-285750">
              <a:buFont typeface="Arial" panose="020B0604020202020204" pitchFamily="34" charset="0"/>
              <a:buChar char="•"/>
            </a:pPr>
            <a:r>
              <a:rPr lang="en-GB" sz="1400" dirty="0"/>
              <a:t>Migrated servers are cutover</a:t>
            </a:r>
          </a:p>
        </p:txBody>
      </p:sp>
      <p:sp>
        <p:nvSpPr>
          <p:cNvPr id="9" name="TextBox 8">
            <a:extLst>
              <a:ext uri="{FF2B5EF4-FFF2-40B4-BE49-F238E27FC236}">
                <a16:creationId xmlns:a16="http://schemas.microsoft.com/office/drawing/2014/main" id="{73F88C7A-8E17-D904-6C8E-6CC1CDFB9DDF}"/>
              </a:ext>
            </a:extLst>
          </p:cNvPr>
          <p:cNvSpPr txBox="1"/>
          <p:nvPr/>
        </p:nvSpPr>
        <p:spPr>
          <a:xfrm>
            <a:off x="6269180" y="3022653"/>
            <a:ext cx="5098473" cy="584775"/>
          </a:xfrm>
          <a:prstGeom prst="rect">
            <a:avLst/>
          </a:prstGeom>
          <a:noFill/>
        </p:spPr>
        <p:txBody>
          <a:bodyPr wrap="square" rtlCol="0">
            <a:spAutoFit/>
          </a:bodyPr>
          <a:lstStyle/>
          <a:p>
            <a:r>
              <a:rPr lang="en-GB" dirty="0"/>
              <a:t>Migrate &amp; Modernise Phase</a:t>
            </a:r>
          </a:p>
          <a:p>
            <a:pPr marL="285750" indent="-285750">
              <a:buFont typeface="Arial" panose="020B0604020202020204" pitchFamily="34" charset="0"/>
              <a:buChar char="•"/>
            </a:pPr>
            <a:r>
              <a:rPr lang="en-GB" sz="1400" dirty="0"/>
              <a:t>Repeat above workflow for remaining servers</a:t>
            </a:r>
          </a:p>
        </p:txBody>
      </p:sp>
      <p:sp>
        <p:nvSpPr>
          <p:cNvPr id="10" name="TextBox 9">
            <a:extLst>
              <a:ext uri="{FF2B5EF4-FFF2-40B4-BE49-F238E27FC236}">
                <a16:creationId xmlns:a16="http://schemas.microsoft.com/office/drawing/2014/main" id="{13F3C53C-1D47-6345-8B5F-CEFF8B672A0F}"/>
              </a:ext>
            </a:extLst>
          </p:cNvPr>
          <p:cNvSpPr txBox="1"/>
          <p:nvPr/>
        </p:nvSpPr>
        <p:spPr>
          <a:xfrm>
            <a:off x="6269181" y="4503978"/>
            <a:ext cx="5098473" cy="984885"/>
          </a:xfrm>
          <a:prstGeom prst="rect">
            <a:avLst/>
          </a:prstGeom>
          <a:noFill/>
        </p:spPr>
        <p:txBody>
          <a:bodyPr wrap="square" rtlCol="0">
            <a:spAutoFit/>
          </a:bodyPr>
          <a:lstStyle/>
          <a:p>
            <a:pPr marL="285750" indent="-285750">
              <a:buFont typeface="Arial" panose="020B0604020202020204" pitchFamily="34" charset="0"/>
              <a:buChar char="•"/>
            </a:pPr>
            <a:r>
              <a:rPr lang="en-GB" sz="1100" dirty="0"/>
              <a:t>Pilot candidates are identified by speed of replication and being in sync</a:t>
            </a:r>
          </a:p>
          <a:p>
            <a:pPr marL="285750" indent="-285750">
              <a:buFont typeface="Arial" panose="020B0604020202020204" pitchFamily="34" charset="0"/>
              <a:buChar char="•"/>
            </a:pPr>
            <a:r>
              <a:rPr lang="en-GB" sz="1100" dirty="0"/>
              <a:t>Process follows the same guidelines as standard, except all servers are replicating from Day 1</a:t>
            </a:r>
          </a:p>
          <a:p>
            <a:pPr marL="285750" indent="-285750">
              <a:buFont typeface="Arial" panose="020B0604020202020204" pitchFamily="34" charset="0"/>
              <a:buChar char="•"/>
            </a:pPr>
            <a:r>
              <a:rPr lang="en-GB" sz="1100" dirty="0"/>
              <a:t>Potential to knock 2 weeks off the timeline.</a:t>
            </a:r>
          </a:p>
          <a:p>
            <a:pPr marL="285750" indent="-285750">
              <a:buFont typeface="Arial" panose="020B0604020202020204" pitchFamily="34" charset="0"/>
              <a:buChar char="•"/>
            </a:pPr>
            <a:endParaRPr lang="en-GB" sz="1400" dirty="0"/>
          </a:p>
        </p:txBody>
      </p:sp>
      <p:pic>
        <p:nvPicPr>
          <p:cNvPr id="3" name="Content Placeholder 8" descr="A screenshot of a computer&#10;&#10;AI-generated content may be incorrect.">
            <a:extLst>
              <a:ext uri="{FF2B5EF4-FFF2-40B4-BE49-F238E27FC236}">
                <a16:creationId xmlns:a16="http://schemas.microsoft.com/office/drawing/2014/main" id="{E1A3F39A-0C7F-4F5F-1102-4996DC9546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944" y="1015733"/>
            <a:ext cx="4786875" cy="4375101"/>
          </a:xfrm>
          <a:prstGeom prst="rect">
            <a:avLst/>
          </a:prstGeom>
        </p:spPr>
      </p:pic>
    </p:spTree>
    <p:custDataLst>
      <p:custData r:id="rId1"/>
      <p:custData r:id="rId2"/>
    </p:custDataLst>
    <p:extLst>
      <p:ext uri="{BB962C8B-B14F-4D97-AF65-F5344CB8AC3E}">
        <p14:creationId xmlns:p14="http://schemas.microsoft.com/office/powerpoint/2010/main" val="3879314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7098D3-8AEE-DB2B-1DC0-6E8D54FC7515}"/>
              </a:ext>
            </a:extLst>
          </p:cNvPr>
          <p:cNvSpPr>
            <a:spLocks noGrp="1"/>
          </p:cNvSpPr>
          <p:nvPr>
            <p:ph type="body" sz="quarter" idx="10"/>
          </p:nvPr>
        </p:nvSpPr>
        <p:spPr/>
        <p:txBody>
          <a:bodyPr/>
          <a:lstStyle/>
          <a:p>
            <a:r>
              <a:rPr lang="en-GB" dirty="0"/>
              <a:t>Replication Servers</a:t>
            </a:r>
          </a:p>
        </p:txBody>
      </p:sp>
      <p:sp>
        <p:nvSpPr>
          <p:cNvPr id="5" name="Slide Number Placeholder 4">
            <a:extLst>
              <a:ext uri="{FF2B5EF4-FFF2-40B4-BE49-F238E27FC236}">
                <a16:creationId xmlns:a16="http://schemas.microsoft.com/office/drawing/2014/main" id="{833DD7D3-EAE9-D622-5640-F1DF3AA1EA42}"/>
              </a:ext>
            </a:extLst>
          </p:cNvPr>
          <p:cNvSpPr>
            <a:spLocks noGrp="1"/>
          </p:cNvSpPr>
          <p:nvPr>
            <p:ph type="sldNum" sz="quarter" idx="24"/>
          </p:nvPr>
        </p:nvSpPr>
        <p:spPr/>
        <p:txBody>
          <a:bodyPr/>
          <a:lstStyle/>
          <a:p>
            <a:fld id="{41DAF538-693A-4E80-987F-3E9C27B38952}" type="slidenum">
              <a:rPr lang="en-GB" smtClean="0"/>
              <a:pPr/>
              <a:t>32</a:t>
            </a:fld>
            <a:endParaRPr lang="en-GB" dirty="0"/>
          </a:p>
        </p:txBody>
      </p:sp>
      <p:sp>
        <p:nvSpPr>
          <p:cNvPr id="9" name="TextBox 8">
            <a:extLst>
              <a:ext uri="{FF2B5EF4-FFF2-40B4-BE49-F238E27FC236}">
                <a16:creationId xmlns:a16="http://schemas.microsoft.com/office/drawing/2014/main" id="{6CDA66AC-9594-B517-207B-A42DF07AF941}"/>
              </a:ext>
            </a:extLst>
          </p:cNvPr>
          <p:cNvSpPr txBox="1"/>
          <p:nvPr/>
        </p:nvSpPr>
        <p:spPr>
          <a:xfrm>
            <a:off x="484780" y="2930364"/>
            <a:ext cx="2660202" cy="2708434"/>
          </a:xfrm>
          <a:prstGeom prst="rect">
            <a:avLst/>
          </a:prstGeom>
          <a:noFill/>
        </p:spPr>
        <p:txBody>
          <a:bodyPr wrap="square">
            <a:spAutoFit/>
          </a:bodyPr>
          <a:lstStyle/>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Baseline + Burstable CPU</a:t>
            </a:r>
            <a:r>
              <a:rPr lang="en-GB" sz="1000" b="0" i="0" dirty="0">
                <a:solidFill>
                  <a:srgbClr val="424242"/>
                </a:solidFill>
                <a:effectLst/>
                <a:latin typeface="Segoe Sans"/>
              </a:rPr>
              <a:t>: </a:t>
            </a:r>
            <a:br>
              <a:rPr lang="en-GB" sz="1000" b="0" i="0" dirty="0">
                <a:solidFill>
                  <a:srgbClr val="424242"/>
                </a:solidFill>
                <a:effectLst/>
                <a:latin typeface="Segoe Sans"/>
              </a:rPr>
            </a:br>
            <a:r>
              <a:rPr lang="en-GB" sz="1000" b="0" i="0" dirty="0">
                <a:solidFill>
                  <a:srgbClr val="424242"/>
                </a:solidFill>
                <a:effectLst/>
                <a:latin typeface="Segoe Sans"/>
              </a:rPr>
              <a:t>Uses CPU credits to burst above baseline performance when needed.</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Cost-Effective</a:t>
            </a:r>
            <a:r>
              <a:rPr lang="en-GB" sz="1000" b="0" i="0" dirty="0">
                <a:solidFill>
                  <a:srgbClr val="424242"/>
                </a:solidFill>
                <a:effectLst/>
                <a:latin typeface="Segoe Sans"/>
              </a:rPr>
              <a:t>: </a:t>
            </a:r>
            <a:br>
              <a:rPr lang="en-GB" sz="1000" b="0" i="0" dirty="0">
                <a:solidFill>
                  <a:srgbClr val="424242"/>
                </a:solidFill>
                <a:effectLst/>
                <a:latin typeface="Segoe Sans"/>
              </a:rPr>
            </a:br>
            <a:r>
              <a:rPr lang="en-GB" sz="1000" b="0" i="0" dirty="0">
                <a:solidFill>
                  <a:srgbClr val="424242"/>
                </a:solidFill>
                <a:effectLst/>
                <a:latin typeface="Segoe Sans"/>
              </a:rPr>
              <a:t>Lower hourly pricing, suitable for workloads with occasional spikes.</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General Purpose</a:t>
            </a:r>
            <a:r>
              <a:rPr lang="en-GB" sz="1000" b="0" i="0" dirty="0">
                <a:solidFill>
                  <a:srgbClr val="424242"/>
                </a:solidFill>
                <a:effectLst/>
                <a:latin typeface="Segoe Sans"/>
              </a:rPr>
              <a:t>: </a:t>
            </a:r>
            <a:br>
              <a:rPr lang="en-GB" sz="1000" b="0" i="0" dirty="0">
                <a:solidFill>
                  <a:srgbClr val="424242"/>
                </a:solidFill>
                <a:effectLst/>
                <a:latin typeface="Segoe Sans"/>
              </a:rPr>
            </a:br>
            <a:r>
              <a:rPr lang="en-GB" sz="1000" b="0" i="0" dirty="0">
                <a:solidFill>
                  <a:srgbClr val="424242"/>
                </a:solidFill>
                <a:effectLst/>
                <a:latin typeface="Segoe Sans"/>
              </a:rPr>
              <a:t>Good for dev/test environments, small databases, and microservices.</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Limited Network &amp; Disk Throughput</a:t>
            </a:r>
            <a:r>
              <a:rPr lang="en-GB" sz="1000" b="0" i="0" dirty="0">
                <a:solidFill>
                  <a:srgbClr val="424242"/>
                </a:solidFill>
                <a:effectLst/>
                <a:latin typeface="Segoe Sans"/>
              </a:rPr>
              <a:t>: </a:t>
            </a:r>
            <a:br>
              <a:rPr lang="en-GB" sz="1000" b="0" i="0" dirty="0">
                <a:solidFill>
                  <a:srgbClr val="424242"/>
                </a:solidFill>
                <a:effectLst/>
                <a:latin typeface="Segoe Sans"/>
              </a:rPr>
            </a:br>
            <a:r>
              <a:rPr lang="en-GB" sz="1000" b="0" i="0" dirty="0">
                <a:solidFill>
                  <a:srgbClr val="424242"/>
                </a:solidFill>
                <a:effectLst/>
                <a:latin typeface="Segoe Sans"/>
              </a:rPr>
              <a:t>Not optimised for high I/O or sustained compute.</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Credit Exhaustion Risk</a:t>
            </a:r>
            <a:r>
              <a:rPr lang="en-GB" sz="1000" b="0" i="0" dirty="0">
                <a:solidFill>
                  <a:srgbClr val="424242"/>
                </a:solidFill>
                <a:effectLst/>
                <a:latin typeface="Segoe Sans"/>
              </a:rPr>
              <a:t>: </a:t>
            </a:r>
            <a:br>
              <a:rPr lang="en-GB" sz="1000" b="0" i="0" dirty="0">
                <a:solidFill>
                  <a:srgbClr val="424242"/>
                </a:solidFill>
                <a:effectLst/>
                <a:latin typeface="Segoe Sans"/>
              </a:rPr>
            </a:br>
            <a:r>
              <a:rPr lang="en-GB" sz="1000" b="0" i="0" dirty="0">
                <a:solidFill>
                  <a:srgbClr val="424242"/>
                </a:solidFill>
                <a:effectLst/>
                <a:latin typeface="Segoe Sans"/>
              </a:rPr>
              <a:t>Performance drops if CPU credits are depleted during sustained load.</a:t>
            </a:r>
          </a:p>
        </p:txBody>
      </p:sp>
      <p:sp>
        <p:nvSpPr>
          <p:cNvPr id="11" name="TextBox 10">
            <a:extLst>
              <a:ext uri="{FF2B5EF4-FFF2-40B4-BE49-F238E27FC236}">
                <a16:creationId xmlns:a16="http://schemas.microsoft.com/office/drawing/2014/main" id="{56293431-E7E3-7603-A084-089C511AC661}"/>
              </a:ext>
            </a:extLst>
          </p:cNvPr>
          <p:cNvSpPr txBox="1"/>
          <p:nvPr/>
        </p:nvSpPr>
        <p:spPr>
          <a:xfrm>
            <a:off x="4585856" y="2930364"/>
            <a:ext cx="2355272" cy="2708434"/>
          </a:xfrm>
          <a:prstGeom prst="rect">
            <a:avLst/>
          </a:prstGeom>
          <a:noFill/>
        </p:spPr>
        <p:txBody>
          <a:bodyPr wrap="square">
            <a:spAutoFit/>
          </a:bodyPr>
          <a:lstStyle/>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High vCPU-to-Memory Ratio</a:t>
            </a:r>
            <a:r>
              <a:rPr lang="en-GB" sz="1000" b="0" i="0" dirty="0">
                <a:solidFill>
                  <a:srgbClr val="424242"/>
                </a:solidFill>
                <a:effectLst/>
                <a:latin typeface="Segoe Sans"/>
              </a:rPr>
              <a:t>:</a:t>
            </a:r>
            <a:br>
              <a:rPr lang="en-GB" sz="1000" b="0" i="0" dirty="0">
                <a:solidFill>
                  <a:srgbClr val="424242"/>
                </a:solidFill>
                <a:effectLst/>
                <a:latin typeface="Segoe Sans"/>
              </a:rPr>
            </a:br>
            <a:r>
              <a:rPr lang="en-GB" sz="1000" b="0" i="0" dirty="0">
                <a:solidFill>
                  <a:srgbClr val="424242"/>
                </a:solidFill>
                <a:effectLst/>
                <a:latin typeface="Segoe Sans"/>
              </a:rPr>
              <a:t>Ideal for compute-intensive tasks like batch processing or analytics.</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Consistent Performance</a:t>
            </a:r>
            <a:r>
              <a:rPr lang="en-GB" sz="1000" b="0" i="0" dirty="0">
                <a:solidFill>
                  <a:srgbClr val="424242"/>
                </a:solidFill>
                <a:effectLst/>
                <a:latin typeface="Segoe Sans"/>
              </a:rPr>
              <a:t>:</a:t>
            </a:r>
            <a:br>
              <a:rPr lang="en-GB" sz="1000" b="0" i="0" dirty="0">
                <a:solidFill>
                  <a:srgbClr val="424242"/>
                </a:solidFill>
                <a:effectLst/>
                <a:latin typeface="Segoe Sans"/>
              </a:rPr>
            </a:br>
            <a:r>
              <a:rPr lang="en-GB" sz="1000" b="0" i="0" dirty="0">
                <a:solidFill>
                  <a:srgbClr val="424242"/>
                </a:solidFill>
                <a:effectLst/>
                <a:latin typeface="Segoe Sans"/>
              </a:rPr>
              <a:t>No CPU credit system — full performance is always available.</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Enhanced Networking</a:t>
            </a:r>
            <a:r>
              <a:rPr lang="en-GB" sz="1000" b="0" i="0" dirty="0">
                <a:solidFill>
                  <a:srgbClr val="424242"/>
                </a:solidFill>
                <a:effectLst/>
                <a:latin typeface="Segoe Sans"/>
              </a:rPr>
              <a:t>:</a:t>
            </a:r>
            <a:br>
              <a:rPr lang="en-GB" sz="1000" b="0" i="0" dirty="0">
                <a:solidFill>
                  <a:srgbClr val="424242"/>
                </a:solidFill>
                <a:effectLst/>
                <a:latin typeface="Segoe Sans"/>
              </a:rPr>
            </a:br>
            <a:r>
              <a:rPr lang="en-GB" sz="1000" b="0" i="0" dirty="0">
                <a:solidFill>
                  <a:srgbClr val="424242"/>
                </a:solidFill>
                <a:effectLst/>
                <a:latin typeface="Segoe Sans"/>
              </a:rPr>
              <a:t>Higher bandwidth and packet per second (PPS) capabilities.</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Latest Generation Support</a:t>
            </a:r>
            <a:r>
              <a:rPr lang="en-GB" sz="1000" b="0" i="0" dirty="0">
                <a:solidFill>
                  <a:srgbClr val="424242"/>
                </a:solidFill>
                <a:effectLst/>
                <a:latin typeface="Segoe Sans"/>
              </a:rPr>
              <a:t>:</a:t>
            </a:r>
            <a:br>
              <a:rPr lang="en-GB" sz="1000" b="0" i="0" dirty="0">
                <a:solidFill>
                  <a:srgbClr val="424242"/>
                </a:solidFill>
                <a:effectLst/>
                <a:latin typeface="Segoe Sans"/>
              </a:rPr>
            </a:br>
            <a:r>
              <a:rPr lang="en-GB" sz="1000" b="0" i="0" dirty="0">
                <a:solidFill>
                  <a:srgbClr val="424242"/>
                </a:solidFill>
                <a:effectLst/>
                <a:latin typeface="Segoe Sans"/>
              </a:rPr>
              <a:t>Includes Graviton (Arm) and Intel-based options.</a:t>
            </a:r>
          </a:p>
          <a:p>
            <a:pPr marL="171450" indent="-171450" algn="l">
              <a:spcBef>
                <a:spcPts val="300"/>
              </a:spcBef>
              <a:spcAft>
                <a:spcPts val="300"/>
              </a:spcAft>
              <a:buFont typeface="Arial" panose="020B0604020202020204" pitchFamily="34" charset="0"/>
              <a:buChar char="•"/>
            </a:pPr>
            <a:r>
              <a:rPr lang="en-GB" sz="1000" b="1" i="0" dirty="0">
                <a:solidFill>
                  <a:srgbClr val="424242"/>
                </a:solidFill>
                <a:effectLst/>
                <a:latin typeface="Segoe Sans"/>
              </a:rPr>
              <a:t>Optimised for Scalability</a:t>
            </a:r>
            <a:r>
              <a:rPr lang="en-GB" sz="1000" b="0" i="0" dirty="0">
                <a:solidFill>
                  <a:srgbClr val="424242"/>
                </a:solidFill>
                <a:effectLst/>
                <a:latin typeface="Segoe Sans"/>
              </a:rPr>
              <a:t>:</a:t>
            </a:r>
            <a:br>
              <a:rPr lang="en-GB" sz="1000" b="0" i="0" dirty="0">
                <a:solidFill>
                  <a:srgbClr val="424242"/>
                </a:solidFill>
                <a:effectLst/>
                <a:latin typeface="Segoe Sans"/>
              </a:rPr>
            </a:br>
            <a:r>
              <a:rPr lang="en-GB" sz="1000" b="0" i="0" dirty="0">
                <a:solidFill>
                  <a:srgbClr val="424242"/>
                </a:solidFill>
                <a:effectLst/>
                <a:latin typeface="Segoe Sans"/>
              </a:rPr>
              <a:t>Better suited for parallel processing and large-scale workloads.</a:t>
            </a:r>
          </a:p>
        </p:txBody>
      </p:sp>
      <p:sp>
        <p:nvSpPr>
          <p:cNvPr id="13" name="TextBox 12">
            <a:extLst>
              <a:ext uri="{FF2B5EF4-FFF2-40B4-BE49-F238E27FC236}">
                <a16:creationId xmlns:a16="http://schemas.microsoft.com/office/drawing/2014/main" id="{6E09910D-E4D2-FBAF-7CF3-8811EF5EFB38}"/>
              </a:ext>
            </a:extLst>
          </p:cNvPr>
          <p:cNvSpPr txBox="1"/>
          <p:nvPr/>
        </p:nvSpPr>
        <p:spPr>
          <a:xfrm>
            <a:off x="8252278" y="1219591"/>
            <a:ext cx="3080739" cy="3385542"/>
          </a:xfrm>
          <a:prstGeom prst="rect">
            <a:avLst/>
          </a:prstGeom>
          <a:noFill/>
        </p:spPr>
        <p:txBody>
          <a:bodyPr wrap="square">
            <a:spAutoFit/>
          </a:bodyPr>
          <a:lstStyle/>
          <a:p>
            <a:pPr algn="l">
              <a:spcBef>
                <a:spcPts val="300"/>
              </a:spcBef>
              <a:spcAft>
                <a:spcPts val="300"/>
              </a:spcAft>
            </a:pPr>
            <a:r>
              <a:rPr lang="en-GB" sz="1200" b="1" dirty="0">
                <a:solidFill>
                  <a:srgbClr val="424242"/>
                </a:solidFill>
                <a:latin typeface="Segoe Sans"/>
              </a:rPr>
              <a:t>Why avoid T instances for replication?</a:t>
            </a:r>
          </a:p>
          <a:p>
            <a:pPr algn="l">
              <a:spcBef>
                <a:spcPts val="300"/>
              </a:spcBef>
              <a:spcAft>
                <a:spcPts val="300"/>
              </a:spcAft>
            </a:pPr>
            <a:endParaRPr lang="en-GB" sz="1200" b="1" i="0" dirty="0">
              <a:solidFill>
                <a:srgbClr val="424242"/>
              </a:solidFill>
              <a:effectLst/>
              <a:latin typeface="Segoe Sans"/>
            </a:endParaRPr>
          </a:p>
          <a:p>
            <a:pPr marL="171450" indent="-171450" algn="l">
              <a:spcBef>
                <a:spcPts val="300"/>
              </a:spcBef>
              <a:spcAft>
                <a:spcPts val="300"/>
              </a:spcAft>
              <a:buFont typeface="Arial" panose="020B0604020202020204" pitchFamily="34" charset="0"/>
              <a:buChar char="•"/>
            </a:pPr>
            <a:r>
              <a:rPr lang="en-GB" sz="1100" b="1" i="0" dirty="0">
                <a:solidFill>
                  <a:srgbClr val="424242"/>
                </a:solidFill>
                <a:effectLst/>
                <a:latin typeface="Segoe Sans"/>
              </a:rPr>
              <a:t>Sustained Compute Power</a:t>
            </a:r>
            <a:r>
              <a:rPr lang="en-GB" sz="1100" b="0" i="0" dirty="0">
                <a:solidFill>
                  <a:srgbClr val="424242"/>
                </a:solidFill>
                <a:effectLst/>
                <a:latin typeface="Segoe Sans"/>
              </a:rPr>
              <a:t>: </a:t>
            </a:r>
            <a:br>
              <a:rPr lang="en-GB" sz="1100" b="0" i="0" dirty="0">
                <a:solidFill>
                  <a:srgbClr val="424242"/>
                </a:solidFill>
                <a:effectLst/>
                <a:latin typeface="Segoe Sans"/>
              </a:rPr>
            </a:br>
            <a:r>
              <a:rPr lang="en-GB" sz="1100" b="0" i="0" dirty="0">
                <a:solidFill>
                  <a:srgbClr val="424242"/>
                </a:solidFill>
                <a:effectLst/>
                <a:latin typeface="Segoe Sans"/>
              </a:rPr>
              <a:t>MGN replication agents require consistent CPU performance to handle continuous data replication — T family may throttle under load.</a:t>
            </a:r>
          </a:p>
          <a:p>
            <a:pPr marL="171450" indent="-171450" algn="l">
              <a:spcBef>
                <a:spcPts val="300"/>
              </a:spcBef>
              <a:spcAft>
                <a:spcPts val="300"/>
              </a:spcAft>
              <a:buFont typeface="Arial" panose="020B0604020202020204" pitchFamily="34" charset="0"/>
              <a:buChar char="•"/>
            </a:pPr>
            <a:r>
              <a:rPr lang="en-GB" sz="1100" b="1" i="0" dirty="0">
                <a:solidFill>
                  <a:srgbClr val="424242"/>
                </a:solidFill>
                <a:effectLst/>
                <a:latin typeface="Segoe Sans"/>
              </a:rPr>
              <a:t>Faster Disk &amp; Network Throughput</a:t>
            </a:r>
            <a:r>
              <a:rPr lang="en-GB" sz="1100" b="0" i="0" dirty="0">
                <a:solidFill>
                  <a:srgbClr val="424242"/>
                </a:solidFill>
                <a:effectLst/>
                <a:latin typeface="Segoe Sans"/>
              </a:rPr>
              <a:t>: </a:t>
            </a:r>
            <a:br>
              <a:rPr lang="en-GB" sz="1100" b="0" i="0" dirty="0">
                <a:solidFill>
                  <a:srgbClr val="424242"/>
                </a:solidFill>
                <a:effectLst/>
                <a:latin typeface="Segoe Sans"/>
              </a:rPr>
            </a:br>
            <a:r>
              <a:rPr lang="en-GB" sz="1100" b="0" i="0" dirty="0">
                <a:solidFill>
                  <a:srgbClr val="424242"/>
                </a:solidFill>
                <a:effectLst/>
                <a:latin typeface="Segoe Sans"/>
              </a:rPr>
              <a:t>C family supports higher IOPS and bandwidth, reducing replication lag and speeding up cutover readiness.</a:t>
            </a:r>
          </a:p>
          <a:p>
            <a:pPr marL="171450" indent="-171450" algn="l">
              <a:spcBef>
                <a:spcPts val="300"/>
              </a:spcBef>
              <a:spcAft>
                <a:spcPts val="300"/>
              </a:spcAft>
              <a:buFont typeface="Arial" panose="020B0604020202020204" pitchFamily="34" charset="0"/>
              <a:buChar char="•"/>
            </a:pPr>
            <a:r>
              <a:rPr lang="en-GB" sz="1100" b="1" i="0" dirty="0">
                <a:solidFill>
                  <a:srgbClr val="424242"/>
                </a:solidFill>
                <a:effectLst/>
                <a:latin typeface="Segoe Sans"/>
              </a:rPr>
              <a:t>No CPU Credit Limitations</a:t>
            </a:r>
            <a:r>
              <a:rPr lang="en-GB" sz="1100" b="0" i="0" dirty="0">
                <a:solidFill>
                  <a:srgbClr val="424242"/>
                </a:solidFill>
                <a:effectLst/>
                <a:latin typeface="Segoe Sans"/>
              </a:rPr>
              <a:t>: </a:t>
            </a:r>
            <a:br>
              <a:rPr lang="en-GB" sz="1100" b="0" i="0" dirty="0">
                <a:solidFill>
                  <a:srgbClr val="424242"/>
                </a:solidFill>
                <a:effectLst/>
                <a:latin typeface="Segoe Sans"/>
              </a:rPr>
            </a:br>
            <a:r>
              <a:rPr lang="en-GB" sz="1100" b="0" i="0" dirty="0">
                <a:solidFill>
                  <a:srgbClr val="424242"/>
                </a:solidFill>
                <a:effectLst/>
                <a:latin typeface="Segoe Sans"/>
              </a:rPr>
              <a:t>Avoids performance degradation during peak replication periods.</a:t>
            </a:r>
          </a:p>
          <a:p>
            <a:pPr marL="171450" indent="-171450" algn="l">
              <a:spcBef>
                <a:spcPts val="300"/>
              </a:spcBef>
              <a:spcAft>
                <a:spcPts val="300"/>
              </a:spcAft>
              <a:buFont typeface="Arial" panose="020B0604020202020204" pitchFamily="34" charset="0"/>
              <a:buChar char="•"/>
            </a:pPr>
            <a:r>
              <a:rPr lang="en-GB" sz="1100" b="1" i="0" dirty="0">
                <a:solidFill>
                  <a:srgbClr val="424242"/>
                </a:solidFill>
                <a:effectLst/>
                <a:latin typeface="Segoe Sans"/>
              </a:rPr>
              <a:t>Better for Parallel Replication</a:t>
            </a:r>
            <a:r>
              <a:rPr lang="en-GB" sz="1100" b="0" i="0" dirty="0">
                <a:solidFill>
                  <a:srgbClr val="424242"/>
                </a:solidFill>
                <a:effectLst/>
                <a:latin typeface="Segoe Sans"/>
              </a:rPr>
              <a:t>: </a:t>
            </a:r>
            <a:br>
              <a:rPr lang="en-GB" sz="1100" b="0" i="0" dirty="0">
                <a:solidFill>
                  <a:srgbClr val="424242"/>
                </a:solidFill>
                <a:effectLst/>
                <a:latin typeface="Segoe Sans"/>
              </a:rPr>
            </a:br>
            <a:r>
              <a:rPr lang="en-GB" sz="1100" b="0" i="0" dirty="0">
                <a:solidFill>
                  <a:srgbClr val="424242"/>
                </a:solidFill>
                <a:effectLst/>
                <a:latin typeface="Segoe Sans"/>
              </a:rPr>
              <a:t>Handles multiple volumes and concurrent replication threads more efficiently.</a:t>
            </a:r>
          </a:p>
        </p:txBody>
      </p:sp>
      <p:pic>
        <p:nvPicPr>
          <p:cNvPr id="17" name="Content Placeholder 16">
            <a:extLst>
              <a:ext uri="{FF2B5EF4-FFF2-40B4-BE49-F238E27FC236}">
                <a16:creationId xmlns:a16="http://schemas.microsoft.com/office/drawing/2014/main" id="{40541E87-5FDC-BA6D-FE0F-7526F240F42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58232" y="901000"/>
            <a:ext cx="6108382" cy="1890690"/>
          </a:xfrm>
        </p:spPr>
      </p:pic>
    </p:spTree>
    <p:extLst>
      <p:ext uri="{BB962C8B-B14F-4D97-AF65-F5344CB8AC3E}">
        <p14:creationId xmlns:p14="http://schemas.microsoft.com/office/powerpoint/2010/main" val="1332463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EDA1D-91E7-985C-2B9B-62096A02273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BFE837-68A6-17E3-E413-8CAB47823025}"/>
              </a:ext>
            </a:extLst>
          </p:cNvPr>
          <p:cNvSpPr>
            <a:spLocks noGrp="1"/>
          </p:cNvSpPr>
          <p:nvPr>
            <p:ph type="body" sz="quarter" idx="10"/>
          </p:nvPr>
        </p:nvSpPr>
        <p:spPr/>
        <p:txBody>
          <a:bodyPr/>
          <a:lstStyle/>
          <a:p>
            <a:r>
              <a:rPr lang="en-GB" dirty="0"/>
              <a:t>About us</a:t>
            </a:r>
          </a:p>
        </p:txBody>
      </p:sp>
    </p:spTree>
    <p:custDataLst>
      <p:custData r:id="rId1"/>
      <p:custData r:id="rId2"/>
    </p:custDataLst>
    <p:extLst>
      <p:ext uri="{BB962C8B-B14F-4D97-AF65-F5344CB8AC3E}">
        <p14:creationId xmlns:p14="http://schemas.microsoft.com/office/powerpoint/2010/main" val="16495986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30FE9B-75D9-2A56-71B5-E804D6A8DCE9}"/>
              </a:ext>
            </a:extLst>
          </p:cNvPr>
          <p:cNvSpPr>
            <a:spLocks noGrp="1" noSelect="1" noRot="1" noChangeAspect="1" noMove="1" noResize="1" noEditPoints="1" noAdjustHandles="1" noChangeArrowheads="1" noChangeShapeType="1" noTextEdit="1"/>
          </p:cNvSpPr>
          <p:nvPr>
            <p:ph type="body" sz="quarter" idx="10"/>
          </p:nvPr>
        </p:nvSpPr>
        <p:spPr/>
        <p:txBody>
          <a:bodyPr/>
          <a:lstStyle/>
          <a:p>
            <a:r>
              <a:rPr lang="en-GB" dirty="0"/>
              <a:t>Why Softcat?</a:t>
            </a:r>
          </a:p>
        </p:txBody>
      </p:sp>
      <p:sp>
        <p:nvSpPr>
          <p:cNvPr id="3" name="Slide Number Placeholder 2">
            <a:extLst>
              <a:ext uri="{FF2B5EF4-FFF2-40B4-BE49-F238E27FC236}">
                <a16:creationId xmlns:a16="http://schemas.microsoft.com/office/drawing/2014/main" id="{B8C6A52D-0300-BA77-365C-6E9F11049132}"/>
              </a:ext>
            </a:extLst>
          </p:cNvPr>
          <p:cNvSpPr>
            <a:spLocks noGrp="1" noSelect="1" noRot="1" noChangeAspect="1" noMove="1" noResize="1" noEditPoints="1" noAdjustHandles="1" noChangeArrowheads="1" noChangeShapeType="1" noTextEdit="1"/>
          </p:cNvSpPr>
          <p:nvPr>
            <p:ph type="sldNum" sz="quarter" idx="15"/>
          </p:nvPr>
        </p:nvSpPr>
        <p:spPr/>
        <p:txBody>
          <a:bodyPr/>
          <a:lstStyle/>
          <a:p>
            <a:fld id="{41DAF538-693A-4E80-987F-3E9C27B38952}" type="slidenum">
              <a:rPr lang="en-GB" smtClean="0"/>
              <a:pPr/>
              <a:t>34</a:t>
            </a:fld>
            <a:endParaRPr lang="en-GB"/>
          </a:p>
        </p:txBody>
      </p:sp>
      <p:sp>
        <p:nvSpPr>
          <p:cNvPr id="5" name="Text Placeholder 4">
            <a:extLst>
              <a:ext uri="{FF2B5EF4-FFF2-40B4-BE49-F238E27FC236}">
                <a16:creationId xmlns:a16="http://schemas.microsoft.com/office/drawing/2014/main" id="{6881B0DC-5E3D-D8CB-2167-BB786397C15B}"/>
              </a:ext>
            </a:extLst>
          </p:cNvPr>
          <p:cNvSpPr>
            <a:spLocks noGrp="1" noSelect="1" noRot="1" noChangeAspect="1" noMove="1" noResize="1" noEditPoints="1" noAdjustHandles="1" noChangeArrowheads="1" noChangeShapeType="1" noTextEdit="1"/>
          </p:cNvSpPr>
          <p:nvPr>
            <p:ph type="body" sz="quarter" idx="16"/>
          </p:nvPr>
        </p:nvSpPr>
        <p:spPr>
          <a:xfrm>
            <a:off x="460913" y="3147647"/>
            <a:ext cx="2571977" cy="401393"/>
          </a:xfrm>
        </p:spPr>
        <p:txBody>
          <a:bodyPr/>
          <a:lstStyle/>
          <a:p>
            <a:r>
              <a:rPr lang="en-GB" sz="2000" dirty="0"/>
              <a:t>Industry Expertise</a:t>
            </a:r>
          </a:p>
        </p:txBody>
      </p:sp>
      <p:sp>
        <p:nvSpPr>
          <p:cNvPr id="6" name="Text Placeholder 5">
            <a:extLst>
              <a:ext uri="{FF2B5EF4-FFF2-40B4-BE49-F238E27FC236}">
                <a16:creationId xmlns:a16="http://schemas.microsoft.com/office/drawing/2014/main" id="{F120D692-591B-E9D1-330B-7CB3974144A1}"/>
              </a:ext>
            </a:extLst>
          </p:cNvPr>
          <p:cNvSpPr>
            <a:spLocks noGrp="1" noSelect="1" noRot="1" noChangeAspect="1" noMove="1" noResize="1" noEditPoints="1" noAdjustHandles="1" noChangeArrowheads="1" noChangeShapeType="1" noTextEdit="1"/>
          </p:cNvSpPr>
          <p:nvPr>
            <p:ph type="body" sz="quarter" idx="18"/>
          </p:nvPr>
        </p:nvSpPr>
        <p:spPr>
          <a:xfrm>
            <a:off x="6233925" y="3147648"/>
            <a:ext cx="2586770" cy="401393"/>
          </a:xfrm>
        </p:spPr>
        <p:txBody>
          <a:bodyPr/>
          <a:lstStyle/>
          <a:p>
            <a:r>
              <a:rPr lang="en-GB" sz="2000" dirty="0"/>
              <a:t>Partner Ecosystem</a:t>
            </a:r>
          </a:p>
        </p:txBody>
      </p:sp>
      <p:sp>
        <p:nvSpPr>
          <p:cNvPr id="7" name="Text Placeholder 6">
            <a:extLst>
              <a:ext uri="{FF2B5EF4-FFF2-40B4-BE49-F238E27FC236}">
                <a16:creationId xmlns:a16="http://schemas.microsoft.com/office/drawing/2014/main" id="{88E28F77-65BB-EE70-38C5-C927031CDE43}"/>
              </a:ext>
            </a:extLst>
          </p:cNvPr>
          <p:cNvSpPr>
            <a:spLocks noGrp="1" noSelect="1" noRot="1" noChangeAspect="1" noMove="1" noResize="1" noEditPoints="1" noAdjustHandles="1" noChangeArrowheads="1" noChangeShapeType="1" noTextEdit="1"/>
          </p:cNvSpPr>
          <p:nvPr>
            <p:ph type="body" sz="quarter" idx="19"/>
          </p:nvPr>
        </p:nvSpPr>
        <p:spPr>
          <a:xfrm>
            <a:off x="9158427" y="3723019"/>
            <a:ext cx="2572245" cy="2343955"/>
          </a:xfrm>
        </p:spPr>
        <p:txBody>
          <a:bodyPr/>
          <a:lstStyle/>
          <a:p>
            <a:r>
              <a:rPr lang="en-GB" dirty="0">
                <a:latin typeface="Avenir Next LT Pro" panose="020B0504020202020204" pitchFamily="34" charset="0"/>
              </a:rPr>
              <a:t>We believe in the importance of impartial guidance with a truly independent approach. Our recommendations are focused only on identifying the vendor best suited to achieve your desired outcome.</a:t>
            </a:r>
            <a:endParaRPr lang="en-GB" dirty="0"/>
          </a:p>
          <a:p>
            <a:endParaRPr lang="en-GB" dirty="0"/>
          </a:p>
        </p:txBody>
      </p:sp>
      <p:sp>
        <p:nvSpPr>
          <p:cNvPr id="8" name="Text Placeholder 7">
            <a:extLst>
              <a:ext uri="{FF2B5EF4-FFF2-40B4-BE49-F238E27FC236}">
                <a16:creationId xmlns:a16="http://schemas.microsoft.com/office/drawing/2014/main" id="{4E1F445D-F929-C0D0-1002-0BDA2962299F}"/>
              </a:ext>
            </a:extLst>
          </p:cNvPr>
          <p:cNvSpPr>
            <a:spLocks noGrp="1" noSelect="1" noRot="1" noChangeAspect="1" noMove="1" noResize="1" noEditPoints="1" noAdjustHandles="1" noChangeArrowheads="1" noChangeShapeType="1" noTextEdit="1"/>
          </p:cNvSpPr>
          <p:nvPr>
            <p:ph type="body" sz="quarter" idx="20"/>
          </p:nvPr>
        </p:nvSpPr>
        <p:spPr>
          <a:xfrm>
            <a:off x="9158427" y="3155445"/>
            <a:ext cx="2572244" cy="401393"/>
          </a:xfrm>
        </p:spPr>
        <p:txBody>
          <a:bodyPr/>
          <a:lstStyle/>
          <a:p>
            <a:r>
              <a:rPr lang="en-GB" sz="2000" dirty="0"/>
              <a:t>Independent vendor advice</a:t>
            </a:r>
          </a:p>
        </p:txBody>
      </p:sp>
      <p:sp>
        <p:nvSpPr>
          <p:cNvPr id="9" name="Text Placeholder 8">
            <a:extLst>
              <a:ext uri="{FF2B5EF4-FFF2-40B4-BE49-F238E27FC236}">
                <a16:creationId xmlns:a16="http://schemas.microsoft.com/office/drawing/2014/main" id="{E4E63F39-6F83-C6EA-76F5-4CAC825961A4}"/>
              </a:ext>
            </a:extLst>
          </p:cNvPr>
          <p:cNvSpPr>
            <a:spLocks noGrp="1" noSelect="1" noRot="1" noChangeAspect="1" noMove="1" noResize="1" noEditPoints="1" noAdjustHandles="1" noChangeArrowheads="1" noChangeShapeType="1" noTextEdit="1"/>
          </p:cNvSpPr>
          <p:nvPr>
            <p:ph type="body" sz="quarter" idx="21"/>
          </p:nvPr>
        </p:nvSpPr>
        <p:spPr>
          <a:xfrm>
            <a:off x="461327" y="3723019"/>
            <a:ext cx="2572245" cy="234395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rPr>
              <a:t>With decades of combined experience, we understand customer needs and partner objectives at a highly </a:t>
            </a:r>
            <a:br>
              <a:rPr kumimoji="0" lang="en-GB"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rPr>
            </a:br>
            <a:r>
              <a:rPr kumimoji="0" lang="en-GB"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rPr>
              <a:t>detailed level. </a:t>
            </a:r>
            <a:endParaRPr kumimoji="0" lang="en-GB" sz="1400" b="1" i="0" u="none" strike="noStrike" kern="1200" cap="none" spc="0" normalizeH="0" baseline="0" noProof="0" dirty="0">
              <a:ln>
                <a:noFill/>
              </a:ln>
              <a:solidFill>
                <a:prstClr val="black"/>
              </a:solidFill>
              <a:effectLst/>
              <a:uLnTx/>
              <a:uFillTx/>
              <a:latin typeface="Avenir Next LT Pro"/>
              <a:ea typeface="+mn-ea"/>
              <a:cs typeface="+mn-cs"/>
            </a:endParaRPr>
          </a:p>
          <a:p>
            <a:endParaRPr lang="en-GB" dirty="0"/>
          </a:p>
        </p:txBody>
      </p:sp>
      <p:sp>
        <p:nvSpPr>
          <p:cNvPr id="10" name="Text Placeholder 9">
            <a:extLst>
              <a:ext uri="{FF2B5EF4-FFF2-40B4-BE49-F238E27FC236}">
                <a16:creationId xmlns:a16="http://schemas.microsoft.com/office/drawing/2014/main" id="{6D53A564-7163-793F-0B76-E8C16B1BC51C}"/>
              </a:ext>
            </a:extLst>
          </p:cNvPr>
          <p:cNvSpPr>
            <a:spLocks noGrp="1" noSelect="1" noRot="1" noChangeAspect="1" noMove="1" noResize="1" noEditPoints="1" noAdjustHandles="1" noChangeArrowheads="1" noChangeShapeType="1" noTextEdit="1"/>
          </p:cNvSpPr>
          <p:nvPr>
            <p:ph type="body" sz="quarter" idx="22"/>
          </p:nvPr>
        </p:nvSpPr>
        <p:spPr>
          <a:xfrm>
            <a:off x="3323948" y="3147646"/>
            <a:ext cx="2772051" cy="401393"/>
          </a:xfrm>
        </p:spPr>
        <p:txBody>
          <a:bodyPr/>
          <a:lstStyle/>
          <a:p>
            <a:r>
              <a:rPr lang="en-GB" sz="2000" dirty="0"/>
              <a:t>Customer Experience</a:t>
            </a:r>
          </a:p>
        </p:txBody>
      </p:sp>
      <p:sp>
        <p:nvSpPr>
          <p:cNvPr id="11" name="Text Placeholder 10">
            <a:extLst>
              <a:ext uri="{FF2B5EF4-FFF2-40B4-BE49-F238E27FC236}">
                <a16:creationId xmlns:a16="http://schemas.microsoft.com/office/drawing/2014/main" id="{C63C5DC5-A530-998B-5C6C-CE8810EE54C9}"/>
              </a:ext>
            </a:extLst>
          </p:cNvPr>
          <p:cNvSpPr>
            <a:spLocks noGrp="1" noSelect="1" noRot="1" noChangeAspect="1" noMove="1" noResize="1" noEditPoints="1" noAdjustHandles="1" noChangeArrowheads="1" noChangeShapeType="1" noTextEdit="1"/>
          </p:cNvSpPr>
          <p:nvPr>
            <p:ph type="body" sz="quarter" idx="23"/>
          </p:nvPr>
        </p:nvSpPr>
        <p:spPr>
          <a:xfrm>
            <a:off x="3338473" y="3723019"/>
            <a:ext cx="2572245" cy="234395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rPr>
              <a:t>Understanding your business goals is our top priority. As a trusted partner, we align products and solutions to enhance productivity, user experience, and customer satisfaction. </a:t>
            </a:r>
            <a:endParaRPr kumimoji="0" lang="en-GB" sz="1400" b="1" i="0" u="none" strike="noStrike" kern="1200" cap="none" spc="0" normalizeH="0" baseline="0" noProof="0" dirty="0">
              <a:ln>
                <a:noFill/>
              </a:ln>
              <a:solidFill>
                <a:prstClr val="black"/>
              </a:solidFill>
              <a:effectLst/>
              <a:uLnTx/>
              <a:uFillTx/>
              <a:latin typeface="Avenir Next LT Pro"/>
              <a:ea typeface="+mn-ea"/>
              <a:cs typeface="+mn-cs"/>
            </a:endParaRPr>
          </a:p>
          <a:p>
            <a:endParaRPr lang="en-GB" dirty="0"/>
          </a:p>
        </p:txBody>
      </p:sp>
      <p:sp>
        <p:nvSpPr>
          <p:cNvPr id="12" name="Text Placeholder 11">
            <a:extLst>
              <a:ext uri="{FF2B5EF4-FFF2-40B4-BE49-F238E27FC236}">
                <a16:creationId xmlns:a16="http://schemas.microsoft.com/office/drawing/2014/main" id="{A3541E2C-066B-FC4D-4AC7-5A62012FD0BD}"/>
              </a:ext>
            </a:extLst>
          </p:cNvPr>
          <p:cNvSpPr>
            <a:spLocks noGrp="1" noSelect="1" noRot="1" noChangeAspect="1" noMove="1" noResize="1" noEditPoints="1" noAdjustHandles="1" noChangeArrowheads="1" noChangeShapeType="1" noTextEdit="1"/>
          </p:cNvSpPr>
          <p:nvPr>
            <p:ph type="body" sz="quarter" idx="24"/>
          </p:nvPr>
        </p:nvSpPr>
        <p:spPr>
          <a:xfrm>
            <a:off x="6248450" y="3723019"/>
            <a:ext cx="2572245" cy="234395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rPr>
              <a:t>We have an ecosystem of trusted partners, harnessing their specialised expertise across diverse technology areas to help you succeed.</a:t>
            </a:r>
            <a:endParaRPr kumimoji="0" lang="en-GB" sz="1400" b="1" i="0" u="none" strike="noStrike" kern="1200" cap="none" spc="0" normalizeH="0" baseline="0" noProof="0" dirty="0">
              <a:ln>
                <a:noFill/>
              </a:ln>
              <a:solidFill>
                <a:prstClr val="black"/>
              </a:solidFill>
              <a:effectLst/>
              <a:uLnTx/>
              <a:uFillTx/>
              <a:latin typeface="Avenir Next LT Pro"/>
              <a:ea typeface="+mn-ea"/>
              <a:cs typeface="+mn-cs"/>
            </a:endParaRPr>
          </a:p>
          <a:p>
            <a:endParaRPr lang="en-GB" dirty="0"/>
          </a:p>
        </p:txBody>
      </p:sp>
      <p:sp>
        <p:nvSpPr>
          <p:cNvPr id="13" name="TextBox 32">
            <a:extLst>
              <a:ext uri="{FF2B5EF4-FFF2-40B4-BE49-F238E27FC236}">
                <a16:creationId xmlns:a16="http://schemas.microsoft.com/office/drawing/2014/main" id="{8B83197D-82BD-AF29-9DA9-592CB697A21D}"/>
              </a:ext>
            </a:extLst>
          </p:cNvPr>
          <p:cNvSpPr txBox="1">
            <a:spLocks noGrp="1" noSelect="1" noRot="1" noChangeAspect="1" noMove="1" noResize="1" noEditPoints="1" noAdjustHandles="1" noChangeArrowheads="1" noChangeShapeType="1" noTextEdit="1"/>
          </p:cNvSpPr>
          <p:nvPr/>
        </p:nvSpPr>
        <p:spPr>
          <a:xfrm>
            <a:off x="460913" y="1239191"/>
            <a:ext cx="6245485" cy="646331"/>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800" b="0" i="0" u="none" strike="noStrike" dirty="0">
                <a:effectLst/>
                <a:latin typeface="Avenir Next LT Pro" panose="020B0504020202020204" pitchFamily="34" charset="0"/>
              </a:rPr>
              <a:t>Some of the reasons organisations choose to partner with Softcat in their workspace efforts include: </a:t>
            </a:r>
            <a:endParaRPr lang="en-GB" sz="1600" dirty="0"/>
          </a:p>
        </p:txBody>
      </p:sp>
      <p:pic>
        <p:nvPicPr>
          <p:cNvPr id="19" name="Picture 18">
            <a:extLst>
              <a:ext uri="{FF2B5EF4-FFF2-40B4-BE49-F238E27FC236}">
                <a16:creationId xmlns:a16="http://schemas.microsoft.com/office/drawing/2014/main" id="{C46E71AF-B886-622B-CA6B-0F62CE00953E}"/>
              </a:ext>
            </a:extLst>
          </p:cNvPr>
          <p:cNvPicPr>
            <a:picLocks noGrp="1" noSelect="1" noRot="1" noChangeAspect="1" noMove="1" noResize="1" noEditPoints="1" noAdjustHandles="1" noChangeArrowheads="1" noChangeShapeType="1" noCrop="1"/>
          </p:cNvPicPr>
          <p:nvPr/>
        </p:nvPicPr>
        <p:blipFill>
          <a:blip r:embed="rId4"/>
          <a:srcRect l="40649" t="20419" r="46647" b="56223"/>
          <a:stretch/>
        </p:blipFill>
        <p:spPr>
          <a:xfrm>
            <a:off x="516028" y="2006672"/>
            <a:ext cx="1070629" cy="1115737"/>
          </a:xfrm>
          <a:prstGeom prst="rect">
            <a:avLst/>
          </a:prstGeom>
        </p:spPr>
      </p:pic>
      <p:pic>
        <p:nvPicPr>
          <p:cNvPr id="20" name="Picture 19">
            <a:extLst>
              <a:ext uri="{FF2B5EF4-FFF2-40B4-BE49-F238E27FC236}">
                <a16:creationId xmlns:a16="http://schemas.microsoft.com/office/drawing/2014/main" id="{771472AB-82F2-3271-81B2-69CDF4283103}"/>
              </a:ext>
            </a:extLst>
          </p:cNvPr>
          <p:cNvPicPr>
            <a:picLocks noGrp="1" noSelect="1" noRot="1" noChangeAspect="1" noMove="1" noResize="1" noEditPoints="1" noAdjustHandles="1" noChangeArrowheads="1" noChangeShapeType="1" noCrop="1"/>
          </p:cNvPicPr>
          <p:nvPr/>
        </p:nvPicPr>
        <p:blipFill>
          <a:blip r:embed="rId4"/>
          <a:srcRect l="21673" t="17439" r="65330" b="58521"/>
          <a:stretch/>
        </p:blipFill>
        <p:spPr>
          <a:xfrm>
            <a:off x="6302329" y="1938071"/>
            <a:ext cx="1095270" cy="1148345"/>
          </a:xfrm>
          <a:prstGeom prst="rect">
            <a:avLst/>
          </a:prstGeom>
        </p:spPr>
      </p:pic>
      <p:pic>
        <p:nvPicPr>
          <p:cNvPr id="21" name="Picture 20">
            <a:extLst>
              <a:ext uri="{FF2B5EF4-FFF2-40B4-BE49-F238E27FC236}">
                <a16:creationId xmlns:a16="http://schemas.microsoft.com/office/drawing/2014/main" id="{D9BEFCCF-3B63-54B8-24B5-96DDBDE448BC}"/>
              </a:ext>
            </a:extLst>
          </p:cNvPr>
          <p:cNvPicPr>
            <a:picLocks noGrp="1" noSelect="1" noRot="1" noChangeAspect="1" noMove="1" noResize="1" noEditPoints="1" noAdjustHandles="1" noChangeArrowheads="1" noChangeShapeType="1" noCrop="1"/>
          </p:cNvPicPr>
          <p:nvPr/>
        </p:nvPicPr>
        <p:blipFill>
          <a:blip r:embed="rId4">
            <a:clrChange>
              <a:clrFrom>
                <a:srgbClr val="FFFFFF"/>
              </a:clrFrom>
              <a:clrTo>
                <a:srgbClr val="FFFFFF">
                  <a:alpha val="0"/>
                </a:srgbClr>
              </a:clrTo>
            </a:clrChange>
          </a:blip>
          <a:srcRect t="20887" r="83127" b="54177"/>
          <a:stretch/>
        </p:blipFill>
        <p:spPr>
          <a:xfrm>
            <a:off x="3089268" y="2062466"/>
            <a:ext cx="1421920" cy="1191127"/>
          </a:xfrm>
          <a:prstGeom prst="rect">
            <a:avLst/>
          </a:prstGeom>
        </p:spPr>
      </p:pic>
      <p:pic>
        <p:nvPicPr>
          <p:cNvPr id="22" name="Picture 21" descr="A check mark with a drop of water&#10;&#10;Description automatically generated">
            <a:extLst>
              <a:ext uri="{FF2B5EF4-FFF2-40B4-BE49-F238E27FC236}">
                <a16:creationId xmlns:a16="http://schemas.microsoft.com/office/drawing/2014/main" id="{FC32C8A4-88C0-5B77-E897-8866D7E34F34}"/>
              </a:ext>
            </a:extLst>
          </p:cNvPr>
          <p:cNvPicPr>
            <a:picLocks noGrp="1" noSelect="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9226009" y="2331347"/>
            <a:ext cx="747736" cy="625198"/>
          </a:xfrm>
          <a:prstGeom prst="rect">
            <a:avLst/>
          </a:prstGeom>
        </p:spPr>
      </p:pic>
      <p:sp>
        <p:nvSpPr>
          <p:cNvPr id="23" name="TemplafyLockedShape" descr="TemplafyLockedShape"/>
          <p:cNvSpPr>
            <a:spLocks noGrp="1" noSelect="1" noRot="1" noChangeAspect="1" noMove="1" noResize="1" noEditPoints="1" noAdjustHandles="1" noChangeArrowheads="1" noChangeShapeType="1" noTextEdit="1"/>
          </p:cNvSpPr>
          <p:nvPr/>
        </p:nvSpPr>
        <p:spPr>
          <a:xfrm>
            <a:off x="-1828800" y="-1828800"/>
            <a:ext cx="15849600" cy="10515600"/>
          </a:xfrm>
          <a:prstGeom prst="rect">
            <a:avLst/>
          </a:prstGeom>
          <a:solidFill>
            <a:schemeClr val="bg1">
              <a:shade val="50000"/>
              <a:alpha val="0"/>
            </a:schemeClr>
          </a:solidFill>
          <a:ln>
            <a:noFill/>
          </a:ln>
        </p:spPr>
        <p:style>
          <a:lnRef idx="2">
            <a:schemeClr val="bg1">
              <a:shade val="50000"/>
              <a:alpha val="0"/>
            </a:schemeClr>
          </a:lnRef>
          <a:fillRef idx="1">
            <a:schemeClr val="bg1">
              <a:shade val="50000"/>
              <a:alpha val="0"/>
            </a:schemeClr>
          </a:fillRef>
          <a:effectRef idx="0">
            <a:schemeClr val="bg1">
              <a:shade val="50000"/>
              <a:alpha val="0"/>
            </a:schemeClr>
          </a:effectRef>
          <a:fontRef idx="minor">
            <a:schemeClr val="bg1">
              <a:shade val="50000"/>
              <a:alpha val="0"/>
            </a:schemeClr>
          </a:fontRef>
        </p:style>
        <p:txBody>
          <a:bodyPr/>
          <a:lstStyle/>
          <a:p>
            <a:endParaRPr lang="en-GB"/>
          </a:p>
        </p:txBody>
      </p:sp>
      <p:sp>
        <p:nvSpPr>
          <p:cNvPr id="24" name="TemplafyLockedNotificationShape" descr="TemplafyLockedNotificationShape"/>
          <p:cNvSpPr>
            <a:spLocks noGrp="1" noSelect="1" noRot="1" noChangeAspect="1" noMove="1" noResize="1" noEditPoints="1" noAdjustHandles="1" noChangeArrowheads="1" noChangeShapeType="1" noTextEdit="1"/>
          </p:cNvSpPr>
          <p:nvPr/>
        </p:nvSpPr>
        <p:spPr>
          <a:xfrm>
            <a:off x="-152400" y="-152400"/>
            <a:ext cx="12496800" cy="7162800"/>
          </a:xfrm>
          <a:prstGeom prst="rect">
            <a:avLst/>
          </a:prstGeom>
          <a:solidFill>
            <a:schemeClr val="bg1">
              <a:shade val="50000"/>
              <a:alpha val="0"/>
            </a:schemeClr>
          </a:solidFill>
          <a:ln>
            <a:solidFill>
              <a:schemeClr val="dk1"/>
            </a:solidFill>
            <a:prstDash val="solid"/>
          </a:ln>
        </p:spPr>
        <p:style>
          <a:lnRef idx="2">
            <a:schemeClr val="accent1"/>
          </a:lnRef>
          <a:fillRef idx="1">
            <a:schemeClr val="bg1">
              <a:shade val="50000"/>
              <a:alpha val="0"/>
            </a:schemeClr>
          </a:fillRef>
          <a:effectRef idx="0">
            <a:schemeClr val="bg1">
              <a:shade val="50000"/>
              <a:alpha val="0"/>
            </a:schemeClr>
          </a:effectRef>
          <a:fontRef idx="minor">
            <a:schemeClr val="bg1">
              <a:shade val="50000"/>
              <a:alpha val="0"/>
            </a:schemeClr>
          </a:fontRef>
        </p:style>
        <p:txBody>
          <a:bodyPr/>
          <a:lstStyle/>
          <a:p>
            <a:endParaRPr lang="en-GB"/>
          </a:p>
        </p:txBody>
      </p:sp>
      <p:pic>
        <p:nvPicPr>
          <p:cNvPr id="18" name="TemplafyLockIcon" descr="TemplafyLockIcon"/>
          <p:cNvPicPr>
            <a:picLocks noGrp="1" noSelect="1" noRot="1" noChangeAspect="1" noMove="1" noResize="1" noEditPoints="1" noAdjustHandles="1" noChangeArrowheads="1" noChangeShapeType="1"/>
          </p:cNvPicPr>
          <p:nvPr/>
        </p:nvPicPr>
        <p:blipFill>
          <a:blip r:embed="rId6">
            <a:extLst>
              <a:ext uri="{28A0092B-C50C-407E-A947-70E740481C1C}">
                <a14:useLocalDpi xmlns:a14="http://schemas.microsoft.com/office/drawing/2010/main" val="0"/>
              </a:ext>
            </a:extLst>
          </a:blip>
          <a:stretch>
            <a:fillRect/>
          </a:stretch>
        </p:blipFill>
        <p:spPr>
          <a:xfrm>
            <a:off x="-144780" y="-441960"/>
            <a:ext cx="115000" cy="160000"/>
          </a:xfrm>
          <a:prstGeom prst="rect">
            <a:avLst/>
          </a:prstGeom>
        </p:spPr>
      </p:pic>
      <p:sp>
        <p:nvSpPr>
          <p:cNvPr id="25" name="TemplafyLockedShapeText" descr="TemplafyLockedShapeText"/>
          <p:cNvSpPr txBox="1">
            <a:spLocks noGrp="1" noSelect="1" noRot="1" noChangeAspect="1" noMove="1" noResize="1" noEditPoints="1" noAdjustHandles="1" noChangeArrowheads="1" noChangeShapeType="1" noTextEdit="1"/>
          </p:cNvSpPr>
          <p:nvPr/>
        </p:nvSpPr>
        <p:spPr>
          <a:xfrm>
            <a:off x="-15240" y="-495300"/>
            <a:ext cx="12192000" cy="369332"/>
          </a:xfrm>
          <a:prstGeom prst="rect">
            <a:avLst/>
          </a:prstGeom>
          <a:noFill/>
        </p:spPr>
        <p:txBody>
          <a:bodyPr wrap="none" rtlCol="0">
            <a:spAutoFit/>
          </a:bodyPr>
          <a:lstStyle/>
          <a:p>
            <a:r>
              <a:rPr sz="1300">
                <a:solidFill>
                  <a:srgbClr val="494B4F"/>
                </a:solidFill>
                <a:latin typeface="Nirmala UI" panose="020B0502040204020203" pitchFamily="34" charset="0"/>
                <a:cs typeface="Nirmala UI" panose="020B0502040204020203" pitchFamily="34" charset="0"/>
              </a:rPr>
              <a:t>This slide is locked by your administrator. Do not edit.</a:t>
            </a:r>
          </a:p>
        </p:txBody>
      </p:sp>
    </p:spTree>
    <p:custDataLst>
      <p:custData r:id="rId1"/>
      <p:custData r:id="rId2"/>
    </p:custDataLst>
    <p:extLst>
      <p:ext uri="{BB962C8B-B14F-4D97-AF65-F5344CB8AC3E}">
        <p14:creationId xmlns:p14="http://schemas.microsoft.com/office/powerpoint/2010/main" val="3437430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raphic 1">
            <a:extLst>
              <a:ext uri="{FF2B5EF4-FFF2-40B4-BE49-F238E27FC236}">
                <a16:creationId xmlns:a16="http://schemas.microsoft.com/office/drawing/2014/main" id="{67902243-994C-1402-DDBD-AFE4AEA313FA}"/>
              </a:ext>
            </a:extLst>
          </p:cNvPr>
          <p:cNvSpPr>
            <a:spLocks noGrp="1" noRot="1" noMove="1" noResize="1" noEditPoints="1" noAdjustHandles="1" noChangeArrowheads="1" noChangeShapeType="1"/>
          </p:cNvSpPr>
          <p:nvPr/>
        </p:nvSpPr>
        <p:spPr>
          <a:xfrm>
            <a:off x="3164" y="0"/>
            <a:ext cx="12188836" cy="6858000"/>
          </a:xfrm>
          <a:custGeom>
            <a:avLst/>
            <a:gdLst>
              <a:gd name="connsiteX0" fmla="*/ 0 w 12188836"/>
              <a:gd name="connsiteY0" fmla="*/ 0 h 6841047"/>
              <a:gd name="connsiteX1" fmla="*/ 12188837 w 12188836"/>
              <a:gd name="connsiteY1" fmla="*/ 0 h 6841047"/>
              <a:gd name="connsiteX2" fmla="*/ 12188837 w 12188836"/>
              <a:gd name="connsiteY2" fmla="*/ 6841048 h 6841047"/>
              <a:gd name="connsiteX3" fmla="*/ 0 w 12188836"/>
              <a:gd name="connsiteY3" fmla="*/ 6841048 h 6841047"/>
            </a:gdLst>
            <a:ahLst/>
            <a:cxnLst>
              <a:cxn ang="0">
                <a:pos x="connsiteX0" y="connsiteY0"/>
              </a:cxn>
              <a:cxn ang="0">
                <a:pos x="connsiteX1" y="connsiteY1"/>
              </a:cxn>
              <a:cxn ang="0">
                <a:pos x="connsiteX2" y="connsiteY2"/>
              </a:cxn>
              <a:cxn ang="0">
                <a:pos x="connsiteX3" y="connsiteY3"/>
              </a:cxn>
            </a:cxnLst>
            <a:rect l="l" t="t" r="r" b="b"/>
            <a:pathLst>
              <a:path w="12188836" h="6841047">
                <a:moveTo>
                  <a:pt x="0" y="0"/>
                </a:moveTo>
                <a:lnTo>
                  <a:pt x="12188837" y="0"/>
                </a:lnTo>
                <a:lnTo>
                  <a:pt x="12188837" y="6841048"/>
                </a:lnTo>
                <a:lnTo>
                  <a:pt x="0" y="6841048"/>
                </a:lnTo>
                <a:close/>
              </a:path>
            </a:pathLst>
          </a:custGeom>
          <a:gradFill>
            <a:gsLst>
              <a:gs pos="41000">
                <a:srgbClr val="3B1A3D"/>
              </a:gs>
              <a:gs pos="59000">
                <a:srgbClr val="462148"/>
              </a:gs>
              <a:gs pos="92000">
                <a:srgbClr val="653466"/>
              </a:gs>
            </a:gsLst>
            <a:lin ang="19920011" scaled="1"/>
          </a:gradFill>
          <a:ln w="0" cap="flat">
            <a:noFill/>
            <a:prstDash val="solid"/>
            <a:miter/>
          </a:ln>
        </p:spPr>
        <p:txBody>
          <a:bodyPr rtlCol="0" anchor="ctr"/>
          <a:lstStyle/>
          <a:p>
            <a:endParaRPr lang="en-GB"/>
          </a:p>
        </p:txBody>
      </p:sp>
      <p:sp>
        <p:nvSpPr>
          <p:cNvPr id="6" name="TextBox 5">
            <a:extLst>
              <a:ext uri="{FF2B5EF4-FFF2-40B4-BE49-F238E27FC236}">
                <a16:creationId xmlns:a16="http://schemas.microsoft.com/office/drawing/2014/main" id="{177B5187-7E71-65B7-6E72-EC4D811B265F}"/>
              </a:ext>
            </a:extLst>
          </p:cNvPr>
          <p:cNvSpPr txBox="1"/>
          <p:nvPr/>
        </p:nvSpPr>
        <p:spPr>
          <a:xfrm>
            <a:off x="587375" y="1127126"/>
            <a:ext cx="3925308" cy="1969770"/>
          </a:xfrm>
          <a:prstGeom prst="rect">
            <a:avLst/>
          </a:prstGeom>
          <a:noFill/>
        </p:spPr>
        <p:txBody>
          <a:bodyPr wrap="square" lIns="0" tIns="0" rIns="0" bIns="0">
            <a:spAutoFit/>
          </a:bodyPr>
          <a:lstStyle/>
          <a:p>
            <a:r>
              <a:rPr lang="en-GB" sz="1600" dirty="0">
                <a:solidFill>
                  <a:schemeClr val="bg1"/>
                </a:solidFill>
                <a:latin typeface="Avenir Next LT Pro" panose="020B0504020202020204" pitchFamily="34" charset="0"/>
              </a:rPr>
              <a:t>We support commercial and public sector organisations to design, procure, implement and manage their digital infrastructure. Our continued success puts us in the privileged position to invest in new capabilities in exciting and emerging areas of technology, organised around five key customer priorities.</a:t>
            </a:r>
          </a:p>
        </p:txBody>
      </p:sp>
      <p:sp>
        <p:nvSpPr>
          <p:cNvPr id="7" name="TextBox 23">
            <a:extLst>
              <a:ext uri="{FF2B5EF4-FFF2-40B4-BE49-F238E27FC236}">
                <a16:creationId xmlns:a16="http://schemas.microsoft.com/office/drawing/2014/main" id="{F8476B7C-D5D9-9606-D7E9-8C3B8C70A630}"/>
              </a:ext>
            </a:extLst>
          </p:cNvPr>
          <p:cNvSpPr txBox="1"/>
          <p:nvPr/>
        </p:nvSpPr>
        <p:spPr>
          <a:xfrm>
            <a:off x="5621957" y="1114612"/>
            <a:ext cx="2354153" cy="212365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rPr>
              <a:t>Workspace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dirty="0">
              <a:solidFill>
                <a:prstClr val="white"/>
              </a:solidFill>
              <a:latin typeface="Avenir Next LT Pro" panose="020B0504020202020204" pitchFamily="34" charset="77"/>
            </a:endParaRPr>
          </a:p>
          <a:p>
            <a:pPr>
              <a:lnSpc>
                <a:spcPts val="1400"/>
              </a:lnSpc>
            </a:pPr>
            <a:r>
              <a:rPr lang="en-GB" sz="1200" dirty="0">
                <a:solidFill>
                  <a:schemeClr val="bg1"/>
                </a:solidFill>
                <a:effectLst/>
                <a:latin typeface="Avenir Next LT Pro" panose="020B0504020202020204" pitchFamily="34" charset="77"/>
              </a:rPr>
              <a:t>We design and implement </a:t>
            </a:r>
            <a:br>
              <a:rPr lang="en-GB" sz="1200" dirty="0">
                <a:solidFill>
                  <a:schemeClr val="bg1"/>
                </a:solidFill>
                <a:effectLst/>
                <a:latin typeface="Avenir Next LT Pro" panose="020B0504020202020204" pitchFamily="34" charset="77"/>
              </a:rPr>
            </a:br>
            <a:r>
              <a:rPr lang="en-GB" sz="1200" dirty="0">
                <a:solidFill>
                  <a:schemeClr val="bg1"/>
                </a:solidFill>
                <a:effectLst/>
                <a:latin typeface="Avenir Next LT Pro" panose="020B0504020202020204" pitchFamily="34" charset="77"/>
              </a:rPr>
              <a:t>solutions, products and services to deliver an agile workspace environment that enables productivity, creativity and collaboration.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Avenir Next LT Pr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endParaRPr>
          </a:p>
        </p:txBody>
      </p:sp>
      <p:pic>
        <p:nvPicPr>
          <p:cNvPr id="8" name="Graphic 7">
            <a:extLst>
              <a:ext uri="{FF2B5EF4-FFF2-40B4-BE49-F238E27FC236}">
                <a16:creationId xmlns:a16="http://schemas.microsoft.com/office/drawing/2014/main" id="{F67837A7-4D95-CCD1-5577-096BE8A5B6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29830" y="1144929"/>
            <a:ext cx="205912" cy="932157"/>
          </a:xfrm>
          <a:prstGeom prst="rect">
            <a:avLst/>
          </a:prstGeom>
        </p:spPr>
      </p:pic>
      <p:sp>
        <p:nvSpPr>
          <p:cNvPr id="9" name="TextBox 28">
            <a:extLst>
              <a:ext uri="{FF2B5EF4-FFF2-40B4-BE49-F238E27FC236}">
                <a16:creationId xmlns:a16="http://schemas.microsoft.com/office/drawing/2014/main" id="{CAD36F3C-9B9A-937C-F4C6-13D747F45B21}"/>
              </a:ext>
            </a:extLst>
          </p:cNvPr>
          <p:cNvSpPr txBox="1"/>
          <p:nvPr/>
        </p:nvSpPr>
        <p:spPr>
          <a:xfrm>
            <a:off x="2225201" y="4392799"/>
            <a:ext cx="2304759" cy="2062103"/>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rPr>
              <a:t>Cyber 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u="none" strike="noStrike" kern="1200" cap="none" spc="0" normalizeH="0" baseline="0" noProof="0" dirty="0">
              <a:ln>
                <a:noFill/>
              </a:ln>
              <a:solidFill>
                <a:prstClr val="white"/>
              </a:solidFill>
              <a:effectLst/>
              <a:uLnTx/>
              <a:uFillTx/>
              <a:latin typeface="Avenir Next LT Pro" panose="020B0504020202020204" pitchFamily="34" charset="77"/>
            </a:endParaRPr>
          </a:p>
          <a:p>
            <a:pPr>
              <a:lnSpc>
                <a:spcPts val="1400"/>
              </a:lnSpc>
            </a:pPr>
            <a:r>
              <a:rPr lang="en-US" sz="1200" dirty="0">
                <a:solidFill>
                  <a:schemeClr val="bg1"/>
                </a:solidFill>
                <a:effectLst/>
                <a:latin typeface="Avenir Next LT Pro" panose="020B0504020202020204" pitchFamily="34" charset="77"/>
                <a:ea typeface="Aptos" panose="020B0004020202020204" pitchFamily="34" charset="0"/>
                <a:cs typeface="Times New Roman" panose="02020603050405020304" pitchFamily="18" charset="0"/>
              </a:rPr>
              <a:t>Our comprehensive approach secures a digital future, providing expert guidance through the assessment, design, implementation, and ongoing management of best practice cyber security solutions.</a:t>
            </a:r>
            <a:endParaRPr lang="en-GB" sz="1200" dirty="0">
              <a:solidFill>
                <a:schemeClr val="bg1"/>
              </a:solidFill>
              <a:effectLst/>
              <a:latin typeface="Avenir Next LT Pro" panose="020B0504020202020204" pitchFamily="34" charset="77"/>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endParaRPr>
          </a:p>
        </p:txBody>
      </p:sp>
      <p:pic>
        <p:nvPicPr>
          <p:cNvPr id="10" name="Graphic 9">
            <a:extLst>
              <a:ext uri="{FF2B5EF4-FFF2-40B4-BE49-F238E27FC236}">
                <a16:creationId xmlns:a16="http://schemas.microsoft.com/office/drawing/2014/main" id="{86304DCC-87AF-4203-E6E5-CEC5F58154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82061" y="4436362"/>
            <a:ext cx="355154" cy="961200"/>
          </a:xfrm>
          <a:prstGeom prst="rect">
            <a:avLst/>
          </a:prstGeom>
        </p:spPr>
      </p:pic>
      <p:sp>
        <p:nvSpPr>
          <p:cNvPr id="11" name="TextBox 32">
            <a:extLst>
              <a:ext uri="{FF2B5EF4-FFF2-40B4-BE49-F238E27FC236}">
                <a16:creationId xmlns:a16="http://schemas.microsoft.com/office/drawing/2014/main" id="{DD74173F-48B7-01D3-C95C-2023FCD76F16}"/>
              </a:ext>
            </a:extLst>
          </p:cNvPr>
          <p:cNvSpPr txBox="1"/>
          <p:nvPr/>
        </p:nvSpPr>
        <p:spPr>
          <a:xfrm>
            <a:off x="9054752" y="1121345"/>
            <a:ext cx="2391013" cy="1882567"/>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Avenir Next LT Pro Demi" panose="020B0704020202020204" pitchFamily="34" charset="0"/>
                <a:ea typeface="+mn-ea"/>
                <a:cs typeface="+mn-cs"/>
              </a:rPr>
              <a:t>Hybrid platforms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u="none" strike="noStrike" kern="1200" cap="none" spc="0" normalizeH="0" baseline="0" noProof="0">
              <a:ln>
                <a:noFill/>
              </a:ln>
              <a:solidFill>
                <a:prstClr val="white"/>
              </a:solidFill>
              <a:effectLst/>
              <a:uLnTx/>
              <a:uFillTx/>
              <a:latin typeface="Avenir Next LT Pro" panose="020B0504020202020204" pitchFamily="34" charset="77"/>
            </a:endParaRPr>
          </a:p>
          <a:p>
            <a:pPr>
              <a:lnSpc>
                <a:spcPts val="1400"/>
              </a:lnSpc>
            </a:pPr>
            <a:r>
              <a:rPr lang="en-GB" sz="1200">
                <a:solidFill>
                  <a:schemeClr val="bg1"/>
                </a:solidFill>
                <a:latin typeface="Avenir Next LT Pro" panose="020B0504020202020204" pitchFamily="34" charset="77"/>
              </a:rPr>
              <a:t>We offer advice, design, managed and support capabilities to modernise, optimise and protect on- premises, edge and public 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venir Next LT Pr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venir Next LT Pro Demi" panose="020B0704020202020204" pitchFamily="34" charset="0"/>
              <a:ea typeface="+mn-ea"/>
              <a:cs typeface="+mn-cs"/>
            </a:endParaRPr>
          </a:p>
        </p:txBody>
      </p:sp>
      <p:pic>
        <p:nvPicPr>
          <p:cNvPr id="12" name="Graphic 11">
            <a:extLst>
              <a:ext uri="{FF2B5EF4-FFF2-40B4-BE49-F238E27FC236}">
                <a16:creationId xmlns:a16="http://schemas.microsoft.com/office/drawing/2014/main" id="{25E11B0E-A21D-6B8D-46EB-3F19585EC14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72246" y="1141235"/>
            <a:ext cx="373755" cy="928800"/>
          </a:xfrm>
          <a:prstGeom prst="rect">
            <a:avLst/>
          </a:prstGeom>
        </p:spPr>
      </p:pic>
      <p:sp>
        <p:nvSpPr>
          <p:cNvPr id="13" name="TextBox 23">
            <a:extLst>
              <a:ext uri="{FF2B5EF4-FFF2-40B4-BE49-F238E27FC236}">
                <a16:creationId xmlns:a16="http://schemas.microsoft.com/office/drawing/2014/main" id="{BED4033A-C5F2-8C22-4AE0-CA3998BCDB51}"/>
              </a:ext>
            </a:extLst>
          </p:cNvPr>
          <p:cNvSpPr txBox="1"/>
          <p:nvPr/>
        </p:nvSpPr>
        <p:spPr>
          <a:xfrm>
            <a:off x="5621957" y="4383243"/>
            <a:ext cx="2492029" cy="1933863"/>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rPr>
              <a:t>Networking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rPr>
              <a:t>&amp; </a:t>
            </a:r>
            <a:r>
              <a:rPr lang="en-GB" sz="1600" dirty="0">
                <a:solidFill>
                  <a:prstClr val="white"/>
                </a:solidFill>
                <a:latin typeface="Avenir Next LT Pro Demi" panose="020B0704020202020204" pitchFamily="34" charset="0"/>
              </a:rPr>
              <a:t>c</a:t>
            </a:r>
            <a:r>
              <a:rPr kumimoji="0" lang="en-GB" sz="1600" b="0" i="0" u="none" strike="noStrike" kern="1200" cap="none" spc="0" normalizeH="0" baseline="0" noProof="0" dirty="0" err="1">
                <a:ln>
                  <a:noFill/>
                </a:ln>
                <a:solidFill>
                  <a:prstClr val="white"/>
                </a:solidFill>
                <a:effectLst/>
                <a:uLnTx/>
                <a:uFillTx/>
                <a:latin typeface="Avenir Next LT Pro Demi" panose="020B0704020202020204" pitchFamily="34" charset="0"/>
                <a:ea typeface="+mn-ea"/>
                <a:cs typeface="+mn-cs"/>
              </a:rPr>
              <a:t>onnectivity</a:t>
            </a:r>
            <a:endParaRPr kumimoji="0" lang="en-GB" sz="1600" b="0" i="0" u="none" strike="noStrike" kern="1200" cap="none" spc="0" normalizeH="0" baseline="0" noProof="0" dirty="0">
              <a:ln>
                <a:noFill/>
              </a:ln>
              <a:solidFill>
                <a:prstClr val="white"/>
              </a:solidFill>
              <a:effectLst/>
              <a:uLnTx/>
              <a:uFillTx/>
              <a:latin typeface="Avenir Next LT Pro Demi" panose="020B0704020202020204" pitchFamily="34" charset="0"/>
              <a:ea typeface="+mn-ea"/>
              <a:cs typeface="+mn-cs"/>
            </a:endParaRPr>
          </a:p>
          <a:p>
            <a:endParaRPr lang="en-GB" sz="1200" dirty="0">
              <a:solidFill>
                <a:schemeClr val="bg1"/>
              </a:solidFill>
              <a:effectLst/>
              <a:latin typeface="Avenir Next LT Pro" panose="020B0504020202020204" pitchFamily="34" charset="77"/>
              <a:cs typeface="Segoe UI" panose="020B0502040204020203" pitchFamily="34" charset="0"/>
            </a:endParaRPr>
          </a:p>
          <a:p>
            <a:pPr>
              <a:lnSpc>
                <a:spcPts val="1400"/>
              </a:lnSpc>
            </a:pPr>
            <a:r>
              <a:rPr lang="en-GB" sz="1200" dirty="0">
                <a:solidFill>
                  <a:schemeClr val="bg1"/>
                </a:solidFill>
                <a:effectLst/>
                <a:latin typeface="Avenir Next LT Pro" panose="020B0504020202020204" pitchFamily="34" charset="77"/>
                <a:cs typeface="Segoe UI" panose="020B0502040204020203" pitchFamily="34" charset="0"/>
              </a:rPr>
              <a:t>From on-premises to cloud and anywhere in between, our solutions connect anything to everything in the customer’s digital ecosystem with assessment, design, implementation and </a:t>
            </a:r>
            <a:br>
              <a:rPr lang="en-GB" sz="1200" dirty="0">
                <a:solidFill>
                  <a:schemeClr val="bg1"/>
                </a:solidFill>
                <a:effectLst/>
                <a:latin typeface="Avenir Next LT Pro" panose="020B0504020202020204" pitchFamily="34" charset="77"/>
                <a:cs typeface="Segoe UI" panose="020B0502040204020203" pitchFamily="34" charset="0"/>
              </a:rPr>
            </a:br>
            <a:r>
              <a:rPr lang="en-GB" sz="1200" dirty="0">
                <a:solidFill>
                  <a:schemeClr val="bg1"/>
                </a:solidFill>
                <a:effectLst/>
                <a:latin typeface="Avenir Next LT Pro" panose="020B0504020202020204" pitchFamily="34" charset="77"/>
                <a:cs typeface="Segoe UI" panose="020B0502040204020203" pitchFamily="34" charset="0"/>
              </a:rPr>
              <a:t>managed services.</a:t>
            </a:r>
            <a:endParaRPr lang="en-GB" sz="1200" dirty="0">
              <a:solidFill>
                <a:schemeClr val="bg1"/>
              </a:solidFill>
              <a:latin typeface="Avenir Next LT Pro" panose="020B0504020202020204" pitchFamily="34" charset="77"/>
              <a:cs typeface="Segoe UI" panose="020B0502040204020203" pitchFamily="34" charset="0"/>
            </a:endParaRPr>
          </a:p>
        </p:txBody>
      </p:sp>
      <p:sp>
        <p:nvSpPr>
          <p:cNvPr id="14" name="TextBox 27">
            <a:extLst>
              <a:ext uri="{FF2B5EF4-FFF2-40B4-BE49-F238E27FC236}">
                <a16:creationId xmlns:a16="http://schemas.microsoft.com/office/drawing/2014/main" id="{706E2B45-9053-AB66-E63A-73269B4978AE}"/>
              </a:ext>
            </a:extLst>
          </p:cNvPr>
          <p:cNvSpPr txBox="1"/>
          <p:nvPr/>
        </p:nvSpPr>
        <p:spPr>
          <a:xfrm>
            <a:off x="5024529" y="4447182"/>
            <a:ext cx="402002" cy="893331"/>
          </a:xfrm>
          <a:custGeom>
            <a:avLst/>
            <a:gdLst/>
            <a:ahLst/>
            <a:cxnLst/>
            <a:rect l="l" t="t" r="r" b="b"/>
            <a:pathLst>
              <a:path w="192624" h="457343">
                <a:moveTo>
                  <a:pt x="103556" y="0"/>
                </a:moveTo>
                <a:lnTo>
                  <a:pt x="167250" y="0"/>
                </a:lnTo>
                <a:lnTo>
                  <a:pt x="167250" y="295580"/>
                </a:lnTo>
                <a:lnTo>
                  <a:pt x="192624" y="295580"/>
                </a:lnTo>
                <a:lnTo>
                  <a:pt x="192624" y="355159"/>
                </a:lnTo>
                <a:lnTo>
                  <a:pt x="167250" y="355159"/>
                </a:lnTo>
                <a:lnTo>
                  <a:pt x="167250" y="457343"/>
                </a:lnTo>
                <a:lnTo>
                  <a:pt x="103556" y="457343"/>
                </a:lnTo>
                <a:lnTo>
                  <a:pt x="103556" y="355159"/>
                </a:lnTo>
                <a:lnTo>
                  <a:pt x="0" y="355159"/>
                </a:lnTo>
                <a:lnTo>
                  <a:pt x="0" y="295580"/>
                </a:lnTo>
                <a:lnTo>
                  <a:pt x="103556" y="0"/>
                </a:lnTo>
                <a:close/>
                <a:moveTo>
                  <a:pt x="103556" y="130302"/>
                </a:moveTo>
                <a:lnTo>
                  <a:pt x="53493" y="295580"/>
                </a:lnTo>
                <a:lnTo>
                  <a:pt x="103556" y="295580"/>
                </a:lnTo>
                <a:lnTo>
                  <a:pt x="103556" y="130302"/>
                </a:lnTo>
                <a:close/>
              </a:path>
            </a:pathLst>
          </a:custGeom>
          <a:solidFill>
            <a:srgbClr val="CBDB33"/>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5400">
              <a:solidFill>
                <a:srgbClr val="472566"/>
              </a:solidFill>
              <a:latin typeface="Alternate Gothic Pro No 1" panose="020B0508020902050204" pitchFamily="34" charset="0"/>
            </a:endParaRPr>
          </a:p>
        </p:txBody>
      </p:sp>
      <p:sp>
        <p:nvSpPr>
          <p:cNvPr id="15" name="TextBox 28">
            <a:extLst>
              <a:ext uri="{FF2B5EF4-FFF2-40B4-BE49-F238E27FC236}">
                <a16:creationId xmlns:a16="http://schemas.microsoft.com/office/drawing/2014/main" id="{DC9EF1B6-3A5C-622C-0428-82EC66B839E9}"/>
              </a:ext>
            </a:extLst>
          </p:cNvPr>
          <p:cNvSpPr txBox="1"/>
          <p:nvPr/>
        </p:nvSpPr>
        <p:spPr>
          <a:xfrm>
            <a:off x="9054753" y="4387037"/>
            <a:ext cx="2275400" cy="1651734"/>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Avenir Next LT Pro Demi" panose="020B0704020202020204" pitchFamily="34" charset="0"/>
                <a:ea typeface="+mn-ea"/>
                <a:cs typeface="+mn-cs"/>
              </a:rPr>
              <a:t>Data, AI </a:t>
            </a:r>
            <a:br>
              <a:rPr kumimoji="0" lang="en-GB" sz="1600" b="0" i="0" u="none" strike="noStrike" kern="1200" cap="none" spc="0" normalizeH="0" baseline="0" noProof="0">
                <a:ln>
                  <a:noFill/>
                </a:ln>
                <a:solidFill>
                  <a:prstClr val="white"/>
                </a:solidFill>
                <a:effectLst/>
                <a:uLnTx/>
                <a:uFillTx/>
                <a:latin typeface="Avenir Next LT Pro Demi" panose="020B0704020202020204" pitchFamily="34" charset="0"/>
                <a:ea typeface="+mn-ea"/>
                <a:cs typeface="+mn-cs"/>
              </a:rPr>
            </a:br>
            <a:r>
              <a:rPr kumimoji="0" lang="en-GB" sz="1600" b="0" i="0" u="none" strike="noStrike" kern="1200" cap="none" spc="0" normalizeH="0" baseline="0" noProof="0">
                <a:ln>
                  <a:noFill/>
                </a:ln>
                <a:solidFill>
                  <a:prstClr val="white"/>
                </a:solidFill>
                <a:effectLst/>
                <a:uLnTx/>
                <a:uFillTx/>
                <a:latin typeface="Avenir Next LT Pro Demi" panose="020B0704020202020204" pitchFamily="34" charset="0"/>
                <a:ea typeface="+mn-ea"/>
                <a:cs typeface="+mn-cs"/>
              </a:rPr>
              <a:t>&amp; Automation</a:t>
            </a:r>
          </a:p>
          <a:p>
            <a:pPr marR="0" lvl="0" algn="l" defTabSz="914400" rtl="0" eaLnBrk="1" fontAlgn="base" latinLnBrk="0" hangingPunct="1">
              <a:lnSpc>
                <a:spcPct val="100000"/>
              </a:lnSpc>
              <a:spcBef>
                <a:spcPts val="0"/>
              </a:spcBef>
              <a:spcAft>
                <a:spcPts val="600"/>
              </a:spcAft>
              <a:buClrTx/>
              <a:buSzTx/>
              <a:tabLst/>
              <a:defRPr/>
            </a:pPr>
            <a:endParaRPr lang="en-US" sz="1200">
              <a:solidFill>
                <a:schemeClr val="bg1"/>
              </a:solidFill>
              <a:latin typeface="Avenir Next LT Pro" panose="020B0504020202020204" pitchFamily="34" charset="0"/>
            </a:endParaRPr>
          </a:p>
          <a:p>
            <a:pPr marR="0" lvl="0" algn="l" defTabSz="914400" rtl="0" eaLnBrk="1" fontAlgn="base" latinLnBrk="0" hangingPunct="1">
              <a:lnSpc>
                <a:spcPts val="1400"/>
              </a:lnSpc>
              <a:spcBef>
                <a:spcPts val="0"/>
              </a:spcBef>
              <a:spcAft>
                <a:spcPts val="600"/>
              </a:spcAft>
              <a:buClrTx/>
              <a:buSzTx/>
              <a:tabLst/>
              <a:defRPr/>
            </a:pPr>
            <a:r>
              <a:rPr lang="en-US" sz="1200">
                <a:solidFill>
                  <a:schemeClr val="bg1"/>
                </a:solidFill>
                <a:latin typeface="Avenir Next LT Pro" panose="020B0504020202020204" pitchFamily="34" charset="0"/>
              </a:rPr>
              <a:t>Helping </a:t>
            </a:r>
            <a:r>
              <a:rPr lang="en-US" sz="1200" err="1">
                <a:solidFill>
                  <a:schemeClr val="bg1"/>
                </a:solidFill>
                <a:latin typeface="Avenir Next LT Pro" panose="020B0504020202020204" pitchFamily="34" charset="0"/>
              </a:rPr>
              <a:t>organisations</a:t>
            </a:r>
            <a:r>
              <a:rPr lang="en-US" sz="1200">
                <a:solidFill>
                  <a:schemeClr val="bg1"/>
                </a:solidFill>
                <a:latin typeface="Avenir Next LT Pro" panose="020B0504020202020204" pitchFamily="34" charset="0"/>
              </a:rPr>
              <a:t> to harness vast amounts of data, streamline complex processes, and leverage intelligent insights for strategic decision-making.</a:t>
            </a:r>
            <a:endParaRPr lang="en-GB" sz="1200">
              <a:solidFill>
                <a:schemeClr val="bg1"/>
              </a:solidFill>
              <a:latin typeface="Avenir Next LT Pro" panose="020B0504020202020204" pitchFamily="34" charset="0"/>
            </a:endParaRPr>
          </a:p>
        </p:txBody>
      </p:sp>
      <p:sp>
        <p:nvSpPr>
          <p:cNvPr id="16" name="TextBox 30">
            <a:extLst>
              <a:ext uri="{FF2B5EF4-FFF2-40B4-BE49-F238E27FC236}">
                <a16:creationId xmlns:a16="http://schemas.microsoft.com/office/drawing/2014/main" id="{FFB92E43-10BF-3930-F1D8-B8B68E088AD2}"/>
              </a:ext>
            </a:extLst>
          </p:cNvPr>
          <p:cNvSpPr txBox="1"/>
          <p:nvPr/>
        </p:nvSpPr>
        <p:spPr>
          <a:xfrm>
            <a:off x="8478417" y="4447341"/>
            <a:ext cx="369468" cy="901013"/>
          </a:xfrm>
          <a:custGeom>
            <a:avLst/>
            <a:gdLst/>
            <a:ahLst/>
            <a:cxnLst/>
            <a:rect l="l" t="t" r="r" b="b"/>
            <a:pathLst>
              <a:path w="174127" h="464201">
                <a:moveTo>
                  <a:pt x="13704" y="0"/>
                </a:moveTo>
                <a:lnTo>
                  <a:pt x="162472" y="0"/>
                </a:lnTo>
                <a:lnTo>
                  <a:pt x="160418" y="59579"/>
                </a:lnTo>
                <a:lnTo>
                  <a:pt x="65767" y="59579"/>
                </a:lnTo>
                <a:lnTo>
                  <a:pt x="60958" y="170032"/>
                </a:lnTo>
                <a:cubicBezTo>
                  <a:pt x="70075" y="158505"/>
                  <a:pt x="78634" y="150230"/>
                  <a:pt x="86634" y="145208"/>
                </a:cubicBezTo>
                <a:cubicBezTo>
                  <a:pt x="94634" y="140186"/>
                  <a:pt x="103020" y="137732"/>
                  <a:pt x="111791" y="137846"/>
                </a:cubicBezTo>
                <a:cubicBezTo>
                  <a:pt x="131767" y="138058"/>
                  <a:pt x="147120" y="147222"/>
                  <a:pt x="157849" y="165336"/>
                </a:cubicBezTo>
                <a:cubicBezTo>
                  <a:pt x="168579" y="183451"/>
                  <a:pt x="174001" y="209245"/>
                  <a:pt x="174115" y="242718"/>
                </a:cubicBezTo>
                <a:lnTo>
                  <a:pt x="174115" y="349059"/>
                </a:lnTo>
                <a:cubicBezTo>
                  <a:pt x="174272" y="371762"/>
                  <a:pt x="172931" y="389239"/>
                  <a:pt x="170092" y="401490"/>
                </a:cubicBezTo>
                <a:cubicBezTo>
                  <a:pt x="167252" y="413741"/>
                  <a:pt x="161973" y="424364"/>
                  <a:pt x="154254" y="433360"/>
                </a:cubicBezTo>
                <a:cubicBezTo>
                  <a:pt x="146536" y="443040"/>
                  <a:pt x="136631" y="450579"/>
                  <a:pt x="124537" y="455977"/>
                </a:cubicBezTo>
                <a:cubicBezTo>
                  <a:pt x="112444" y="461374"/>
                  <a:pt x="99266" y="464116"/>
                  <a:pt x="85003" y="464201"/>
                </a:cubicBezTo>
                <a:cubicBezTo>
                  <a:pt x="57759" y="464044"/>
                  <a:pt x="36821" y="454763"/>
                  <a:pt x="22189" y="436358"/>
                </a:cubicBezTo>
                <a:cubicBezTo>
                  <a:pt x="7557" y="417953"/>
                  <a:pt x="163" y="391366"/>
                  <a:pt x="8" y="356598"/>
                </a:cubicBezTo>
                <a:cubicBezTo>
                  <a:pt x="-21" y="351329"/>
                  <a:pt x="36" y="346617"/>
                  <a:pt x="179" y="342462"/>
                </a:cubicBezTo>
                <a:cubicBezTo>
                  <a:pt x="321" y="338307"/>
                  <a:pt x="721" y="333424"/>
                  <a:pt x="1377" y="327813"/>
                </a:cubicBezTo>
                <a:lnTo>
                  <a:pt x="60958" y="327813"/>
                </a:lnTo>
                <a:lnTo>
                  <a:pt x="60958" y="346305"/>
                </a:lnTo>
                <a:cubicBezTo>
                  <a:pt x="60929" y="366445"/>
                  <a:pt x="63048" y="381224"/>
                  <a:pt x="67313" y="390643"/>
                </a:cubicBezTo>
                <a:cubicBezTo>
                  <a:pt x="71578" y="400063"/>
                  <a:pt x="78162" y="404722"/>
                  <a:pt x="87064" y="404622"/>
                </a:cubicBezTo>
                <a:cubicBezTo>
                  <a:pt x="94649" y="404565"/>
                  <a:pt x="100432" y="401421"/>
                  <a:pt x="104410" y="395189"/>
                </a:cubicBezTo>
                <a:cubicBezTo>
                  <a:pt x="108389" y="388957"/>
                  <a:pt x="110393" y="379981"/>
                  <a:pt x="110421" y="368260"/>
                </a:cubicBezTo>
                <a:lnTo>
                  <a:pt x="110421" y="230365"/>
                </a:lnTo>
                <a:cubicBezTo>
                  <a:pt x="110407" y="219385"/>
                  <a:pt x="108718" y="211150"/>
                  <a:pt x="105355" y="205660"/>
                </a:cubicBezTo>
                <a:cubicBezTo>
                  <a:pt x="101992" y="200170"/>
                  <a:pt x="97040" y="197425"/>
                  <a:pt x="90499" y="197425"/>
                </a:cubicBezTo>
                <a:cubicBezTo>
                  <a:pt x="83944" y="197468"/>
                  <a:pt x="78162" y="200642"/>
                  <a:pt x="73152" y="206947"/>
                </a:cubicBezTo>
                <a:cubicBezTo>
                  <a:pt x="68143" y="213252"/>
                  <a:pt x="64078" y="222430"/>
                  <a:pt x="60958" y="234483"/>
                </a:cubicBezTo>
                <a:lnTo>
                  <a:pt x="6856" y="234483"/>
                </a:lnTo>
                <a:lnTo>
                  <a:pt x="13704" y="0"/>
                </a:lnTo>
                <a:close/>
              </a:path>
            </a:pathLst>
          </a:custGeom>
          <a:solidFill>
            <a:srgbClr val="CBDB33"/>
          </a:solid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5400">
              <a:solidFill>
                <a:srgbClr val="472566"/>
              </a:solidFill>
              <a:latin typeface="Alternate Gothic Pro No 1" panose="020B0508020902050204" pitchFamily="34" charset="0"/>
            </a:endParaRPr>
          </a:p>
        </p:txBody>
      </p:sp>
      <p:grpSp>
        <p:nvGrpSpPr>
          <p:cNvPr id="17" name="Group 16">
            <a:extLst>
              <a:ext uri="{FF2B5EF4-FFF2-40B4-BE49-F238E27FC236}">
                <a16:creationId xmlns:a16="http://schemas.microsoft.com/office/drawing/2014/main" id="{1F04E602-2B61-91C7-A016-DC0996D2FB4D}"/>
              </a:ext>
            </a:extLst>
          </p:cNvPr>
          <p:cNvGrpSpPr>
            <a:grpSpLocks noChangeAspect="1"/>
          </p:cNvGrpSpPr>
          <p:nvPr/>
        </p:nvGrpSpPr>
        <p:grpSpPr>
          <a:xfrm>
            <a:off x="1347875" y="0"/>
            <a:ext cx="10256750" cy="6840000"/>
            <a:chOff x="1616264" y="100282"/>
            <a:chExt cx="10044744" cy="6698618"/>
          </a:xfrm>
        </p:grpSpPr>
        <p:sp>
          <p:nvSpPr>
            <p:cNvPr id="18" name="Oval 17">
              <a:extLst>
                <a:ext uri="{FF2B5EF4-FFF2-40B4-BE49-F238E27FC236}">
                  <a16:creationId xmlns:a16="http://schemas.microsoft.com/office/drawing/2014/main" id="{E0C0F77E-5399-EBBB-73EE-E7FF357164E5}"/>
                </a:ext>
              </a:extLst>
            </p:cNvPr>
            <p:cNvSpPr/>
            <p:nvPr/>
          </p:nvSpPr>
          <p:spPr>
            <a:xfrm>
              <a:off x="4964093" y="100282"/>
              <a:ext cx="3348000" cy="3348000"/>
            </a:xfrm>
            <a:prstGeom prst="ellipse">
              <a:avLst/>
            </a:prstGeom>
            <a:noFill/>
            <a:ln>
              <a:solidFill>
                <a:srgbClr val="865D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9" name="Oval 18">
              <a:extLst>
                <a:ext uri="{FF2B5EF4-FFF2-40B4-BE49-F238E27FC236}">
                  <a16:creationId xmlns:a16="http://schemas.microsoft.com/office/drawing/2014/main" id="{3A87F65A-EE2F-09DF-636A-36BD6EC99B4B}"/>
                </a:ext>
              </a:extLst>
            </p:cNvPr>
            <p:cNvSpPr/>
            <p:nvPr/>
          </p:nvSpPr>
          <p:spPr>
            <a:xfrm>
              <a:off x="4964093" y="3450900"/>
              <a:ext cx="3348000" cy="3348000"/>
            </a:xfrm>
            <a:prstGeom prst="ellipse">
              <a:avLst/>
            </a:prstGeom>
            <a:noFill/>
            <a:ln>
              <a:solidFill>
                <a:srgbClr val="865D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0" name="Oval 19">
              <a:extLst>
                <a:ext uri="{FF2B5EF4-FFF2-40B4-BE49-F238E27FC236}">
                  <a16:creationId xmlns:a16="http://schemas.microsoft.com/office/drawing/2014/main" id="{1EECBA78-E233-577A-A52C-7AF725621B08}"/>
                </a:ext>
              </a:extLst>
            </p:cNvPr>
            <p:cNvSpPr/>
            <p:nvPr/>
          </p:nvSpPr>
          <p:spPr>
            <a:xfrm>
              <a:off x="1616264" y="3450900"/>
              <a:ext cx="3348000" cy="3348000"/>
            </a:xfrm>
            <a:prstGeom prst="ellipse">
              <a:avLst/>
            </a:prstGeom>
            <a:noFill/>
            <a:ln>
              <a:solidFill>
                <a:srgbClr val="865D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1" name="Oval 20">
              <a:extLst>
                <a:ext uri="{FF2B5EF4-FFF2-40B4-BE49-F238E27FC236}">
                  <a16:creationId xmlns:a16="http://schemas.microsoft.com/office/drawing/2014/main" id="{490B4213-2288-F9E2-9C50-8433D05AEEE8}"/>
                </a:ext>
              </a:extLst>
            </p:cNvPr>
            <p:cNvSpPr/>
            <p:nvPr/>
          </p:nvSpPr>
          <p:spPr>
            <a:xfrm>
              <a:off x="8313008" y="3450900"/>
              <a:ext cx="3348000" cy="3348000"/>
            </a:xfrm>
            <a:prstGeom prst="ellipse">
              <a:avLst/>
            </a:prstGeom>
            <a:noFill/>
            <a:ln>
              <a:solidFill>
                <a:srgbClr val="865D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2" name="Oval 21">
              <a:extLst>
                <a:ext uri="{FF2B5EF4-FFF2-40B4-BE49-F238E27FC236}">
                  <a16:creationId xmlns:a16="http://schemas.microsoft.com/office/drawing/2014/main" id="{09504E81-C075-DCC6-BCD5-6FAC35757821}"/>
                </a:ext>
              </a:extLst>
            </p:cNvPr>
            <p:cNvSpPr/>
            <p:nvPr/>
          </p:nvSpPr>
          <p:spPr>
            <a:xfrm>
              <a:off x="8313008" y="100282"/>
              <a:ext cx="3348000" cy="3348000"/>
            </a:xfrm>
            <a:prstGeom prst="ellipse">
              <a:avLst/>
            </a:prstGeom>
            <a:noFill/>
            <a:ln>
              <a:solidFill>
                <a:srgbClr val="865D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a:ea typeface="+mn-ea"/>
                <a:cs typeface="+mn-cs"/>
              </a:endParaRPr>
            </a:p>
          </p:txBody>
        </p:sp>
      </p:grpSp>
      <p:sp>
        <p:nvSpPr>
          <p:cNvPr id="2" name="Text Placeholder 1">
            <a:extLst>
              <a:ext uri="{FF2B5EF4-FFF2-40B4-BE49-F238E27FC236}">
                <a16:creationId xmlns:a16="http://schemas.microsoft.com/office/drawing/2014/main" id="{A02726F6-3CCB-1D14-9026-2C1B4458A412}"/>
              </a:ext>
            </a:extLst>
          </p:cNvPr>
          <p:cNvSpPr>
            <a:spLocks noGrp="1"/>
          </p:cNvSpPr>
          <p:nvPr>
            <p:ph type="body" sz="quarter" idx="10"/>
          </p:nvPr>
        </p:nvSpPr>
        <p:spPr/>
        <p:txBody>
          <a:bodyPr/>
          <a:lstStyle/>
          <a:p>
            <a:r>
              <a:rPr lang="en-GB" dirty="0">
                <a:solidFill>
                  <a:schemeClr val="bg1"/>
                </a:solidFill>
              </a:rPr>
              <a:t>What we do</a:t>
            </a:r>
          </a:p>
        </p:txBody>
      </p:sp>
      <p:sp>
        <p:nvSpPr>
          <p:cNvPr id="3" name="Slide Number Placeholder 2">
            <a:extLst>
              <a:ext uri="{FF2B5EF4-FFF2-40B4-BE49-F238E27FC236}">
                <a16:creationId xmlns:a16="http://schemas.microsoft.com/office/drawing/2014/main" id="{E769AB3D-F649-50FA-08AF-2BD5D15C912F}"/>
              </a:ext>
            </a:extLst>
          </p:cNvPr>
          <p:cNvSpPr>
            <a:spLocks noGrp="1"/>
          </p:cNvSpPr>
          <p:nvPr>
            <p:ph type="sldNum" sz="quarter" idx="15"/>
          </p:nvPr>
        </p:nvSpPr>
        <p:spPr/>
        <p:txBody>
          <a:bodyPr/>
          <a:lstStyle/>
          <a:p>
            <a:fld id="{41DAF538-693A-4E80-987F-3E9C27B38952}" type="slidenum">
              <a:rPr lang="en-GB">
                <a:solidFill>
                  <a:schemeClr val="bg1"/>
                </a:solidFill>
              </a:rPr>
              <a:pPr/>
              <a:t>35</a:t>
            </a:fld>
            <a:endParaRPr lang="en-GB">
              <a:solidFill>
                <a:schemeClr val="bg1"/>
              </a:solidFill>
            </a:endParaRPr>
          </a:p>
        </p:txBody>
      </p:sp>
      <p:sp>
        <p:nvSpPr>
          <p:cNvPr id="4" name="Text Placeholder 3">
            <a:extLst>
              <a:ext uri="{FF2B5EF4-FFF2-40B4-BE49-F238E27FC236}">
                <a16:creationId xmlns:a16="http://schemas.microsoft.com/office/drawing/2014/main" id="{2704D38C-4CAC-733B-5101-724F1ABEC246}"/>
              </a:ext>
            </a:extLst>
          </p:cNvPr>
          <p:cNvSpPr>
            <a:spLocks noGrp="1"/>
          </p:cNvSpPr>
          <p:nvPr>
            <p:ph type="body" sz="quarter" idx="12"/>
          </p:nvPr>
        </p:nvSpPr>
        <p:spPr/>
        <p:txBody>
          <a:bodyPr/>
          <a:lstStyle/>
          <a:p>
            <a:r>
              <a:rPr lang="en-GB">
                <a:solidFill>
                  <a:schemeClr val="bg1"/>
                </a:solidFill>
              </a:rPr>
              <a:t>Softcat overview</a:t>
            </a:r>
          </a:p>
        </p:txBody>
      </p:sp>
    </p:spTree>
    <p:custDataLst>
      <p:custData r:id="rId1"/>
      <p:custData r:id="rId2"/>
    </p:custDataLst>
    <p:extLst>
      <p:ext uri="{BB962C8B-B14F-4D97-AF65-F5344CB8AC3E}">
        <p14:creationId xmlns:p14="http://schemas.microsoft.com/office/powerpoint/2010/main" val="3823375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96625C0-8F45-B9A8-F08E-3AA9093A38ED}"/>
              </a:ext>
            </a:extLst>
          </p:cNvPr>
          <p:cNvGrpSpPr/>
          <p:nvPr/>
        </p:nvGrpSpPr>
        <p:grpSpPr>
          <a:xfrm>
            <a:off x="9391647" y="6021026"/>
            <a:ext cx="1761286" cy="461033"/>
            <a:chOff x="9312894" y="6178342"/>
            <a:chExt cx="1761286" cy="461033"/>
          </a:xfrm>
          <a:solidFill>
            <a:srgbClr val="FFFFFF"/>
          </a:solidFill>
        </p:grpSpPr>
        <p:pic>
          <p:nvPicPr>
            <p:cNvPr id="4" name="Graphic 3">
              <a:hlinkClick r:id="rId4"/>
              <a:extLst>
                <a:ext uri="{FF2B5EF4-FFF2-40B4-BE49-F238E27FC236}">
                  <a16:creationId xmlns:a16="http://schemas.microsoft.com/office/drawing/2014/main" id="{E0881BEF-01C0-AA05-CA7B-1A852A6655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12894" y="6178342"/>
              <a:ext cx="457200" cy="457200"/>
            </a:xfrm>
            <a:prstGeom prst="rect">
              <a:avLst/>
            </a:prstGeom>
          </p:spPr>
        </p:pic>
        <p:pic>
          <p:nvPicPr>
            <p:cNvPr id="5" name="Graphic 4">
              <a:hlinkClick r:id="rId7"/>
              <a:extLst>
                <a:ext uri="{FF2B5EF4-FFF2-40B4-BE49-F238E27FC236}">
                  <a16:creationId xmlns:a16="http://schemas.microsoft.com/office/drawing/2014/main" id="{618D9488-1128-EF8F-046D-AF41ACD7D1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56361" y="6178342"/>
              <a:ext cx="457200" cy="457200"/>
            </a:xfrm>
            <a:prstGeom prst="rect">
              <a:avLst/>
            </a:prstGeom>
          </p:spPr>
        </p:pic>
        <p:pic>
          <p:nvPicPr>
            <p:cNvPr id="6" name="Graphic 5">
              <a:hlinkClick r:id="rId10"/>
              <a:extLst>
                <a:ext uri="{FF2B5EF4-FFF2-40B4-BE49-F238E27FC236}">
                  <a16:creationId xmlns:a16="http://schemas.microsoft.com/office/drawing/2014/main" id="{CAD851FD-BC52-C53C-1A9C-AB1B279DB6D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16980" y="6182175"/>
              <a:ext cx="457200" cy="457200"/>
            </a:xfrm>
            <a:prstGeom prst="rect">
              <a:avLst/>
            </a:prstGeom>
          </p:spPr>
        </p:pic>
      </p:grpSp>
      <p:pic>
        <p:nvPicPr>
          <p:cNvPr id="7" name="Picture 6" descr="A black and white circle with a shopping cart&#10;&#10;Description automatically generated">
            <a:hlinkClick r:id="rId13"/>
            <a:extLst>
              <a:ext uri="{FF2B5EF4-FFF2-40B4-BE49-F238E27FC236}">
                <a16:creationId xmlns:a16="http://schemas.microsoft.com/office/drawing/2014/main" id="{9CDB1012-3F81-59CF-7204-C5276686F05D}"/>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1339200" y="6021026"/>
            <a:ext cx="457200" cy="457200"/>
          </a:xfrm>
          <a:prstGeom prst="rect">
            <a:avLst/>
          </a:prstGeom>
        </p:spPr>
      </p:pic>
      <p:sp>
        <p:nvSpPr>
          <p:cNvPr id="10" name="TextBox 9">
            <a:extLst>
              <a:ext uri="{FF2B5EF4-FFF2-40B4-BE49-F238E27FC236}">
                <a16:creationId xmlns:a16="http://schemas.microsoft.com/office/drawing/2014/main" id="{679951C3-2DDC-6DB5-A320-F585A571A82D}"/>
              </a:ext>
            </a:extLst>
          </p:cNvPr>
          <p:cNvSpPr txBox="1"/>
          <p:nvPr/>
        </p:nvSpPr>
        <p:spPr>
          <a:xfrm>
            <a:off x="495934" y="3632200"/>
            <a:ext cx="5426076" cy="1693220"/>
          </a:xfrm>
          <a:prstGeom prst="rect">
            <a:avLst/>
          </a:prstGeom>
          <a:noFill/>
        </p:spPr>
        <p:txBody>
          <a:bodyPr wrap="square" lIns="0" tIns="0" rIns="0" bIns="0">
            <a:spAutoFit/>
          </a:bodyPr>
          <a:lstStyle/>
          <a:p>
            <a:pPr marL="11516" marR="4607" algn="l">
              <a:spcAft>
                <a:spcPts val="1000"/>
              </a:spcAft>
            </a:pPr>
            <a:r>
              <a:rPr kumimoji="0" lang="en-GB" u="none" strike="noStrike" kern="1200" cap="none" spc="-18" normalizeH="0" noProof="0" dirty="0">
                <a:ln>
                  <a:noFill/>
                </a:ln>
                <a:solidFill>
                  <a:srgbClr val="FFFFFF"/>
                </a:solidFill>
                <a:effectLst/>
                <a:uLnTx/>
                <a:uFillTx/>
                <a:latin typeface="Avenir Next LT Pro" panose="020B0504020202020204" pitchFamily="34" charset="77"/>
                <a:cs typeface="Futura PT Bold"/>
              </a:rPr>
              <a:t>We</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are</a:t>
            </a:r>
            <a:r>
              <a:rPr kumimoji="0" lang="en-GB" u="none" strike="noStrike" kern="1200" cap="none" spc="-45"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passionate</a:t>
            </a:r>
            <a:r>
              <a:rPr kumimoji="0" lang="en-GB" u="none" strike="noStrike" kern="1200" cap="none" spc="-45"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about</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18" normalizeH="0" noProof="0" dirty="0">
                <a:ln>
                  <a:noFill/>
                </a:ln>
                <a:solidFill>
                  <a:srgbClr val="FFFFFF"/>
                </a:solidFill>
                <a:effectLst/>
                <a:uLnTx/>
                <a:uFillTx/>
                <a:latin typeface="Avenir Next LT Pro" panose="020B0504020202020204" pitchFamily="34" charset="77"/>
                <a:cs typeface="Futura PT Bold"/>
              </a:rPr>
              <a:t>working</a:t>
            </a:r>
            <a:r>
              <a:rPr kumimoji="0" lang="en-GB" u="none" strike="noStrike" kern="1200" cap="none" spc="-45"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in</a:t>
            </a:r>
            <a:r>
              <a:rPr kumimoji="0" lang="en-GB" u="none" strike="noStrike" kern="1200" cap="none" spc="-45"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partnership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with</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our</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customers</a:t>
            </a:r>
            <a:r>
              <a:rPr kumimoji="0" lang="en-GB" u="none" strike="noStrike" kern="1200" cap="none" spc="-45"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to</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18" normalizeH="0" noProof="0" dirty="0">
                <a:ln>
                  <a:noFill/>
                </a:ln>
                <a:solidFill>
                  <a:srgbClr val="FFFFFF"/>
                </a:solidFill>
                <a:effectLst/>
                <a:uLnTx/>
                <a:uFillTx/>
                <a:latin typeface="Avenir Next LT Pro" panose="020B0504020202020204" pitchFamily="34" charset="77"/>
                <a:cs typeface="Futura PT Bold"/>
              </a:rPr>
              <a:t>deliver</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the</a:t>
            </a:r>
            <a:r>
              <a:rPr kumimoji="0" lang="en-GB" u="none" strike="noStrike" kern="1200" cap="none" spc="-45"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latest technology</a:t>
            </a:r>
            <a:r>
              <a:rPr kumimoji="0" lang="en-GB" u="none" strike="noStrike" kern="1200" cap="none" spc="-63"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solutions</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and</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services</a:t>
            </a:r>
            <a:r>
              <a:rPr kumimoji="0" lang="en-GB" u="none" strike="noStrike" kern="1200" cap="none" spc="-54"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18" normalizeH="0" noProof="0" dirty="0">
                <a:ln>
                  <a:noFill/>
                </a:ln>
                <a:solidFill>
                  <a:srgbClr val="FFFFFF"/>
                </a:solidFill>
                <a:effectLst/>
                <a:uLnTx/>
                <a:uFillTx/>
                <a:latin typeface="Avenir Next LT Pro" panose="020B0504020202020204" pitchFamily="34" charset="77"/>
                <a:cs typeface="Futura PT Bold"/>
              </a:rPr>
              <a:t>that</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enable</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36" normalizeH="0" noProof="0" dirty="0">
                <a:ln>
                  <a:noFill/>
                </a:ln>
                <a:solidFill>
                  <a:srgbClr val="FFFFFF"/>
                </a:solidFill>
                <a:effectLst/>
                <a:uLnTx/>
                <a:uFillTx/>
                <a:latin typeface="Avenir Next LT Pro" panose="020B0504020202020204" pitchFamily="34" charset="77"/>
                <a:cs typeface="Futura PT Bold"/>
              </a:rPr>
              <a:t>the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right</a:t>
            </a:r>
            <a:r>
              <a:rPr kumimoji="0" lang="en-GB" u="none" strike="noStrike" kern="1200" cap="none" spc="-54"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business</a:t>
            </a:r>
            <a:r>
              <a:rPr kumimoji="0" lang="en-GB" u="none" strike="noStrike" kern="1200" cap="none" spc="-54"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outcomes</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now</a:t>
            </a:r>
            <a:r>
              <a:rPr kumimoji="0" lang="en-GB" u="none" strike="noStrike" kern="1200" cap="none" spc="-54"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and</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0" normalizeH="0" noProof="0" dirty="0">
                <a:ln>
                  <a:noFill/>
                </a:ln>
                <a:solidFill>
                  <a:srgbClr val="FFFFFF"/>
                </a:solidFill>
                <a:effectLst/>
                <a:uLnTx/>
                <a:uFillTx/>
                <a:latin typeface="Avenir Next LT Pro" panose="020B0504020202020204" pitchFamily="34" charset="77"/>
                <a:cs typeface="Futura PT Bold"/>
              </a:rPr>
              <a:t>into</a:t>
            </a:r>
            <a:r>
              <a:rPr kumimoji="0" lang="en-GB" u="none" strike="noStrike" kern="1200" cap="none" spc="-54"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the</a:t>
            </a:r>
            <a:r>
              <a:rPr kumimoji="0" lang="en-GB" u="none" strike="noStrike" kern="1200" cap="none" spc="-50" normalizeH="0" noProof="0" dirty="0">
                <a:ln>
                  <a:noFill/>
                </a:ln>
                <a:solidFill>
                  <a:srgbClr val="FFFFFF"/>
                </a:solidFill>
                <a:effectLst/>
                <a:uLnTx/>
                <a:uFillTx/>
                <a:latin typeface="Avenir Next LT Pro" panose="020B0504020202020204" pitchFamily="34" charset="77"/>
                <a:cs typeface="Futura PT Bold"/>
              </a:rPr>
              <a:t> </a:t>
            </a:r>
            <a:r>
              <a:rPr kumimoji="0" lang="en-GB" u="none" strike="noStrike" kern="1200" cap="none" spc="-9" normalizeH="0" noProof="0" dirty="0">
                <a:ln>
                  <a:noFill/>
                </a:ln>
                <a:solidFill>
                  <a:srgbClr val="FFFFFF"/>
                </a:solidFill>
                <a:effectLst/>
                <a:uLnTx/>
                <a:uFillTx/>
                <a:latin typeface="Avenir Next LT Pro" panose="020B0504020202020204" pitchFamily="34" charset="77"/>
                <a:cs typeface="Futura PT Bold"/>
              </a:rPr>
              <a:t>future.</a:t>
            </a:r>
          </a:p>
          <a:p>
            <a:pPr marL="11516" marR="4607">
              <a:lnSpc>
                <a:spcPct val="105600"/>
              </a:lnSpc>
              <a:spcBef>
                <a:spcPts val="91"/>
              </a:spcBef>
              <a:spcAft>
                <a:spcPts val="1000"/>
              </a:spcAft>
            </a:pPr>
            <a:r>
              <a:rPr lang="en-US" sz="1400" dirty="0">
                <a:solidFill>
                  <a:schemeClr val="bg1"/>
                </a:solidFill>
                <a:latin typeface="Avenir Next LT Pro" panose="020B0504020202020204" pitchFamily="34" charset="77"/>
              </a:rPr>
              <a:t>For more information, take a look at the Softcat </a:t>
            </a:r>
            <a:br>
              <a:rPr lang="en-US" sz="1400" dirty="0">
                <a:solidFill>
                  <a:schemeClr val="bg1"/>
                </a:solidFill>
                <a:latin typeface="Avenir Next LT Pro" panose="020B0504020202020204" pitchFamily="34" charset="77"/>
              </a:rPr>
            </a:br>
            <a:r>
              <a:rPr lang="en-US" sz="1400" dirty="0">
                <a:solidFill>
                  <a:schemeClr val="bg1"/>
                </a:solidFill>
                <a:latin typeface="Avenir Next LT Pro" panose="020B0504020202020204" pitchFamily="34" charset="77"/>
                <a:hlinkClick r:id="rId15">
                  <a:extLst>
                    <a:ext uri="{A12FA001-AC4F-418D-AE19-62706E023703}">
                      <ahyp:hlinkClr xmlns:ahyp="http://schemas.microsoft.com/office/drawing/2018/hyperlinkcolor" val="tx"/>
                    </a:ext>
                  </a:extLst>
                </a:hlinkClick>
              </a:rPr>
              <a:t>FY2024 Annual Report</a:t>
            </a:r>
            <a:r>
              <a:rPr lang="en-US" sz="1400" dirty="0">
                <a:solidFill>
                  <a:schemeClr val="bg1"/>
                </a:solidFill>
                <a:latin typeface="Avenir Next LT Pro" panose="020B0504020202020204" pitchFamily="34" charset="77"/>
              </a:rPr>
              <a:t>.</a:t>
            </a:r>
            <a:endParaRPr lang="en-US" sz="1400" dirty="0">
              <a:solidFill>
                <a:schemeClr val="bg1"/>
              </a:solidFill>
              <a:latin typeface="Avenir Next LT Pro" panose="020B0504020202020204" pitchFamily="34" charset="77"/>
              <a:cs typeface="Arial Black" panose="020B0604020202020204" pitchFamily="34" charset="0"/>
            </a:endParaRPr>
          </a:p>
        </p:txBody>
      </p:sp>
      <p:sp>
        <p:nvSpPr>
          <p:cNvPr id="11" name="Text Placeholder 1">
            <a:extLst>
              <a:ext uri="{FF2B5EF4-FFF2-40B4-BE49-F238E27FC236}">
                <a16:creationId xmlns:a16="http://schemas.microsoft.com/office/drawing/2014/main" id="{6E7AA7B9-7E9C-248C-3C0E-692F72C9DDC3}"/>
              </a:ext>
            </a:extLst>
          </p:cNvPr>
          <p:cNvSpPr>
            <a:spLocks noGrp="1"/>
          </p:cNvSpPr>
          <p:nvPr>
            <p:ph type="body" sz="quarter" idx="10"/>
          </p:nvPr>
        </p:nvSpPr>
        <p:spPr>
          <a:xfrm>
            <a:off x="395600" y="5930692"/>
            <a:ext cx="3584575" cy="704850"/>
          </a:xfrm>
        </p:spPr>
        <p:txBody>
          <a:bodyPr/>
          <a:lstStyle/>
          <a:p>
            <a:r>
              <a:rPr lang="en-GB" dirty="0"/>
              <a:t>Get in touch 01628 403 403</a:t>
            </a:r>
          </a:p>
          <a:p>
            <a:r>
              <a:rPr lang="en-GB" dirty="0"/>
              <a:t>Find out more www.softcat.com</a:t>
            </a:r>
          </a:p>
          <a:p>
            <a:endParaRPr lang="en-GB" dirty="0"/>
          </a:p>
        </p:txBody>
      </p:sp>
    </p:spTree>
    <p:custDataLst>
      <p:custData r:id="rId1"/>
      <p:custData r:id="rId2"/>
    </p:custDataLst>
    <p:extLst>
      <p:ext uri="{BB962C8B-B14F-4D97-AF65-F5344CB8AC3E}">
        <p14:creationId xmlns:p14="http://schemas.microsoft.com/office/powerpoint/2010/main" val="41864448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2.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3.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4.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5.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6.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7.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8.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ags/tag9.xml><?xml version="1.0" encoding="utf-8"?>
<p:tagLst xmlns:a="http://schemas.openxmlformats.org/drawingml/2006/main" xmlns:r="http://schemas.openxmlformats.org/officeDocument/2006/relationships" xmlns:p="http://schemas.openxmlformats.org/presentationml/2006/main">
  <p:tag name="CONTAINEDIMAGEPATH" val="C:\Users\McleodJ\AppData\Local\Templafy\AddIns\PowerPointVsto\Softcat_Logo_Primary_CMYK.jpg"/>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item1.xml><?xml version="1.0" encoding="utf-8"?>
<TemplafySlideTemplateConfiguration><![CDATA[{"slideVersion":1,"isValidatorEnabled":false,"isLocked":false,"elementsMetadata":[],"slideId":"1058683711654985729","enableDocumentContentUpdater":false,"version":"2.0"}]]></TemplafySlideTemplateConfiguration>
</file>

<file path=customXml/item2.xml><?xml version="1.0" encoding="utf-8"?>
<TemplafySlideTemplateConfiguration><![CDATA[{"slideVersion":1,"isValidatorEnabled":false,"isLocked":false,"elementsMetadata":[],"slideId":"1058053185418297344","enableDocumentContentUpdater":false,"version":"2.0"}]]></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slideVersion":1,"isValidatorEnabled":false,"isLocked":false,"elementsMetadata":[],"slideId":"1058053185418297344","enableDocumentContentUpdater":false,"version":"2.0"}]]></TemplafySlideTemplateConfiguration>
</file>

<file path=customXml/item5.xml><?xml version="1.0" encoding="utf-8"?>
<TemplafySlideTemplateConfiguration><![CDATA[{"slideVersion":1,"isValidatorEnabled":false,"isLocked":false,"elementsMetadata":[],"slideId":"1058053185418297344","enableDocumentContentUpdater":false,"version":"2.0"}]]></TemplafySlideTemplateConfiguration>
</file>

<file path=customXml/item6.xml><?xml version="1.0" encoding="utf-8"?>
<TemplafySlideTemplateConfiguration><![CDATA[{"slideVersion":1,"isValidatorEnabled":false,"isLocked":false,"elementsMetadata":[],"slideId":"1058681100379357186","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TemplafySlideFormConfiguration><![CDATA[{"formFields":[],"formDataEntries":[]}]]></TemplafySlideFormConfiguration>
</file>

<file path=customXml/item10.xml><?xml version="1.0" encoding="utf-8"?>
<TemplafySlideTemplateConfiguration><![CDATA[{"slideVersion":1,"isValidatorEnabled":false,"isLocked":false,"elementsMetadata":[],"slideId":"1058052764511502340","enableDocumentContentUpdater":false,"version":"2.0"}]]></TemplafySlideTemplateConfiguration>
</file>

<file path=customXml/item11.xml><?xml version="1.0" encoding="utf-8"?>
<TemplafySlideTemplateConfiguration><![CDATA[{"slideVersion":1,"isValidatorEnabled":false,"isLocked":false,"elementsMetadata":[],"slideId":"1058053185418297344","enableDocumentContentUpdater":false,"version":"2.0"}]]></TemplafySlideTemplateConfiguration>
</file>

<file path=customXml/item12.xml><?xml version="1.0" encoding="utf-8"?>
<TemplafySlideTemplateConfiguration><![CDATA[{"slideVersion":1,"isValidatorEnabled":false,"isLocked":false,"elementsMetadata":[],"slideId":"1058053065250439178","enableDocumentContentUpdater":false,"version":"2.0"}]]></TemplafySlideTemplateConfiguration>
</file>

<file path=customXml/item13.xml><?xml version="1.0" encoding="utf-8"?>
<TemplafySlideTemplateConfiguration><![CDATA[{"slideVersion":1,"isValidatorEnabled":false,"isLocked":false,"elementsMetadata":[],"slideId":"638036768493998680","enableDocumentContentUpdater":false,"version":"2.0"}]]></TemplafySlideTemplateConfiguration>
</file>

<file path=customXml/item14.xml><?xml version="1.0" encoding="utf-8"?>
<TemplafySlideFormConfiguration><![CDATA[{"formFields":[],"formDataEntries":[]}]]></TemplafySlideFormConfiguration>
</file>

<file path=customXml/item15.xml><?xml version="1.0" encoding="utf-8"?>
<TemplafySlideTemplateConfiguration><![CDATA[{"slideVersion":1,"isValidatorEnabled":false,"isLocked":false,"elementsMetadata":[],"slideId":"638104115067478196","enableDocumentContentUpdater":false,"version":"2.0"}]]></TemplafySlideTemplateConfiguration>
</file>

<file path=customXml/item16.xml><?xml version="1.0" encoding="utf-8"?>
<TemplafySlideTemplateConfiguration><![CDATA[{"slideVersion":1,"isValidatorEnabled":true,"isLocked":true,"elementsMetadata":[],"slideId":"1215203771114061824","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TemplafyFormConfiguration><![CDATA[{"formFields":[],"formDataEntries":[]}]]></TemplafyFormConfiguration>
</file>

<file path=customXml/item19.xml><?xml version="1.0" encoding="utf-8"?>
<TemplafySlideFormConfiguration><![CDATA[{"formFields":[],"formDataEntries":[]}]]></TemplafySlideFormConfiguration>
</file>

<file path=customXml/item20.xml><?xml version="1.0" encoding="utf-8"?>
<TemplafySlideTemplateConfiguration><![CDATA[{"slideVersion":1,"isValidatorEnabled":false,"isLocked":false,"elementsMetadata":[],"slideId":"638104200541177784","enableDocumentContentUpdater":false,"version":"2.0"}]]></TemplafySlideTemplate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FormConfiguration><![CDATA[{"formFields":[],"formDataEntries":[]}]]></TemplafySlideFormConfiguration>
</file>

<file path=customXml/item24.xml><?xml version="1.0" encoding="utf-8"?>
<TemplafySlideTemplateConfiguration><![CDATA[{"slideVersion":1,"isValidatorEnabled":false,"isLocked":false,"elementsMetadata":[],"slideId":"638036770011794352","enableDocumentContentUpdater":false,"version":"2.0"}]]></TemplafySlideTemplateConfiguration>
</file>

<file path=customXml/item25.xml><?xml version="1.0" encoding="utf-8"?>
<TemplafySlideFormConfiguration><![CDATA[{"formFields":[],"formDataEntries":[]}]]></TemplafySlideFormConfiguration>
</file>

<file path=customXml/item26.xml><?xml version="1.0" encoding="utf-8"?>
<TemplafySlideFormConfiguration><![CDATA[{"formFields":[],"formDataEntries":[]}]]></TemplafySlideFormConfiguration>
</file>

<file path=customXml/item27.xml><?xml version="1.0" encoding="utf-8"?>
<TemplafySlideFormConfiguration><![CDATA[{"formFields":[],"formDataEntries":[]}]]></TemplafySlideFormConfiguration>
</file>

<file path=customXml/item28.xml><?xml version="1.0" encoding="utf-8"?>
<p:properties xmlns:p="http://schemas.microsoft.com/office/2006/metadata/properties" xmlns:xsi="http://www.w3.org/2001/XMLSchema-instance" xmlns:pc="http://schemas.microsoft.com/office/infopath/2007/PartnerControls">
  <documentManagement>
    <TaxCatchAll xmlns="56195fa4-b953-4e4f-9c6c-474722e13825" xsi:nil="true"/>
    <lcf76f155ced4ddcb4097134ff3c332f xmlns="612bf8bb-790b-451e-b0d5-f120458d798c">
      <Terms xmlns="http://schemas.microsoft.com/office/infopath/2007/PartnerControls"/>
    </lcf76f155ced4ddcb4097134ff3c332f>
    <UseForCaseStudy xmlns="612bf8bb-790b-451e-b0d5-f120458d798c">false</UseForCaseStudy>
  </documentManagement>
</p:properties>
</file>

<file path=customXml/item29.xml><?xml version="1.0" encoding="utf-8"?>
<TemplafySlideTemplateConfiguration><![CDATA[{"slideVersion":1,"isValidatorEnabled":false,"isLocked":false,"elementsMetadata":[],"slideId":"638104200541177784","enableDocumentContentUpdater":false,"version":"2.0"}]]></TemplafySlideTemplateConfiguration>
</file>

<file path=customXml/item30.xml><?xml version="1.0" encoding="utf-8"?>
<TemplafySlideTemplateConfiguration><![CDATA[{"slideVersion":1,"isValidatorEnabled":false,"isLocked":false,"elementsMetadata":[],"slideId":"638104115067478196","enableDocumentContentUpdater":false,"version":"2.0"}]]></TemplafySlideTemplateConfiguration>
</file>

<file path=customXml/item31.xml><?xml version="1.0" encoding="utf-8"?>
<TemplafySlideTemplateConfiguration><![CDATA[{"slideVersion":1,"isValidatorEnabled":false,"isLocked":false,"elementsMetadata":[],"slideId":"1075158149699207171","enableDocumentContentUpdater":false,"version":"2.0"}]]></TemplafySlideTemplateConfiguration>
</file>

<file path=customXml/item32.xml><?xml version="1.0" encoding="utf-8"?>
<TemplafySlideFormConfiguration><![CDATA[{"formFields":[],"formDataEntries":[]}]]></TemplafySlideFormConfiguration>
</file>

<file path=customXml/item33.xml><?xml version="1.0" encoding="utf-8"?>
<TemplafySlideFormConfiguration><![CDATA[{"formFields":[],"formDataEntries":[]}]]></TemplafySlideFormConfiguration>
</file>

<file path=customXml/item34.xml><?xml version="1.0" encoding="utf-8"?>
<TemplafySlideFormConfiguration><![CDATA[{"formFields":[],"formDataEntries":[]}]]></TemplafySlideFormConfiguration>
</file>

<file path=customXml/item35.xml><?xml version="1.0" encoding="utf-8"?>
<TemplafyTemplateConfiguration><![CDATA[{"elementsMetadata":[],"transformationConfigurations":[],"templateName":"Softcat_Blank - Powerpoint template","templateDescription":"","enableDocumentContentUpdater":false,"version":"2.0"}]]></TemplafyTemplateConfiguration>
</file>

<file path=customXml/item36.xml><?xml version="1.0" encoding="utf-8"?>
<TemplafySlideTemplateConfiguration><![CDATA[{"slideVersion":1,"isValidatorEnabled":false,"isLocked":false,"elementsMetadata":[],"slideId":"1058053065250439169","enableDocumentContentUpdater":false,"version":"2.0"}]]></TemplafySlideTemplateConfiguration>
</file>

<file path=customXml/item37.xml><?xml version="1.0" encoding="utf-8"?>
<TemplafySlideTemplateConfiguration><![CDATA[{"slideVersion":1,"isValidatorEnabled":false,"isLocked":false,"elementsMetadata":[],"slideId":"1058683711654985729","enableDocumentContentUpdater":false,"version":"2.0"}]]></TemplafySlideTemplateConfiguration>
</file>

<file path=customXml/item38.xml><?xml version="1.0" encoding="utf-8"?>
<TemplafySlideFormConfiguration><![CDATA[{"formFields":[],"formDataEntries":[]}]]></TemplafySlideFormConfiguration>
</file>

<file path=customXml/item39.xml><?xml version="1.0" encoding="utf-8"?>
<TemplafySlideTemplateConfiguration><![CDATA[{"slideVersion":1,"isValidatorEnabled":false,"isLocked":false,"elementsMetadata":[],"slideId":"1058053185418297344","enableDocumentContentUpdater":false,"version":"2.0"}]]></TemplafySlideTemplateConfiguration>
</file>

<file path=customXml/item40.xml><?xml version="1.0" encoding="utf-8"?>
<ct:contentTypeSchema xmlns:ct="http://schemas.microsoft.com/office/2006/metadata/contentType" xmlns:ma="http://schemas.microsoft.com/office/2006/metadata/properties/metaAttributes" ct:_="" ma:_="" ma:contentTypeName="Document" ma:contentTypeID="0x0101004287B7B23F01D74A95F0D89DAF157952" ma:contentTypeVersion="20" ma:contentTypeDescription="Create a new document." ma:contentTypeScope="" ma:versionID="42093eafa03d8880cc4318e076ac18ec">
  <xsd:schema xmlns:xsd="http://www.w3.org/2001/XMLSchema" xmlns:xs="http://www.w3.org/2001/XMLSchema" xmlns:p="http://schemas.microsoft.com/office/2006/metadata/properties" xmlns:ns2="612bf8bb-790b-451e-b0d5-f120458d798c" xmlns:ns3="56195fa4-b953-4e4f-9c6c-474722e13825" targetNamespace="http://schemas.microsoft.com/office/2006/metadata/properties" ma:root="true" ma:fieldsID="e0b03765723ef30302816582f8977221" ns2:_="" ns3:_="">
    <xsd:import namespace="612bf8bb-790b-451e-b0d5-f120458d798c"/>
    <xsd:import namespace="56195fa4-b953-4e4f-9c6c-474722e1382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UseForCaseStudy"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2bf8bb-790b-451e-b0d5-f120458d79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dc240bd-49de-4844-9f52-2d8aa8ed16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UseForCaseStudy" ma:index="26" nillable="true" ma:displayName="UseForCaseStudy" ma:default="0" ma:internalName="UseForCaseStudy">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195fa4-b953-4e4f-9c6c-474722e1382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bdc6e0d-dfc3-4a23-90f4-2a3b1a0cc749}" ma:internalName="TaxCatchAll" ma:showField="CatchAllData" ma:web="56195fa4-b953-4e4f-9c6c-474722e13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1.xml><?xml version="1.0" encoding="utf-8"?>
<TemplafySlideTemplateConfiguration><![CDATA[{"slideVersion":1,"isValidatorEnabled":false,"isLocked":false,"elementsMetadata":[],"slideId":"1058052962015510530","enableDocumentContentUpdater":false,"version":"2.0"}]]></TemplafySlideTemplateConfiguration>
</file>

<file path=customXml/item42.xml><?xml version="1.0" encoding="utf-8"?>
<TemplafySlideFormConfiguration><![CDATA[{"formFields":[],"formDataEntries":[]}]]></TemplafySlideFormConfiguration>
</file>

<file path=customXml/item43.xml><?xml version="1.0" encoding="utf-8"?>
<TemplafySlideFormConfiguration><![CDATA[{"formFields":[],"formDataEntries":[]}]]></TemplafySlideFormConfiguration>
</file>

<file path=customXml/item44.xml><?xml version="1.0" encoding="utf-8"?>
<TemplafySlideFormConfiguration><![CDATA[{"formFields":[],"formDataEntries":[]}]]></TemplafySlideFormConfiguration>
</file>

<file path=customXml/item45.xml><?xml version="1.0" encoding="utf-8"?>
<TemplafySlideFormConfiguration><![CDATA[{"formFields":[],"formDataEntries":[]}]]></TemplafySlideFormConfiguration>
</file>

<file path=customXml/item46.xml><?xml version="1.0" encoding="utf-8"?>
<TemplafySlideFormConfiguration><![CDATA[{"formFields":[],"formDataEntries":[]}]]></TemplafySlideFormConfiguration>
</file>

<file path=customXml/item47.xml><?xml version="1.0" encoding="utf-8"?>
<TemplafySlideTemplateConfiguration><![CDATA[{"slideVersion":1,"isValidatorEnabled":false,"isLocked":false,"elementsMetadata":[],"slideId":"1058053185418297344","enableDocumentContentUpdater":false,"version":"2.0"}]]></TemplafySlideTemplateConfiguration>
</file>

<file path=customXml/item48.xml><?xml version="1.0" encoding="utf-8"?>
<TemplafySlideTemplateConfiguration><![CDATA[{"slideVersion":1,"isValidatorEnabled":false,"isLocked":false,"elementsMetadata":[],"slideId":"1058053185418297344","enableDocumentContentUpdater":false,"version":"2.0"}]]></TemplafySlideTemplateConfiguration>
</file>

<file path=customXml/item49.xml><?xml version="1.0" encoding="utf-8"?>
<TemplafySlideFormConfiguration><![CDATA[{"formFields":[],"formDataEntries":[]}]]></TemplafySlideFormConfiguration>
</file>

<file path=customXml/itemProps1.xml><?xml version="1.0" encoding="utf-8"?>
<ds:datastoreItem xmlns:ds="http://schemas.openxmlformats.org/officeDocument/2006/customXml" ds:itemID="{7CD13CD4-7157-4C95-B154-E28309CC0281}">
  <ds:schemaRefs/>
</ds:datastoreItem>
</file>

<file path=customXml/itemProps2.xml><?xml version="1.0" encoding="utf-8"?>
<ds:datastoreItem xmlns:ds="http://schemas.openxmlformats.org/officeDocument/2006/customXml" ds:itemID="{EEE7A484-E01F-446E-B544-67B9D3D15B6C}">
  <ds:schemaRefs/>
</ds:datastoreItem>
</file>

<file path=customXml/itemProps3.xml><?xml version="1.0" encoding="utf-8"?>
<ds:datastoreItem xmlns:ds="http://schemas.openxmlformats.org/officeDocument/2006/customXml" ds:itemID="{63F41876-A1EF-4B11-A63C-3286D0893AB0}">
  <ds:schemaRefs/>
</ds:datastoreItem>
</file>

<file path=customXml/itemProps4.xml><?xml version="1.0" encoding="utf-8"?>
<ds:datastoreItem xmlns:ds="http://schemas.openxmlformats.org/officeDocument/2006/customXml" ds:itemID="{2FF70BFC-238E-449F-B55A-EC15696EE4C0}">
  <ds:schemaRefs/>
</ds:datastoreItem>
</file>

<file path=customXml/itemProps5.xml><?xml version="1.0" encoding="utf-8"?>
<ds:datastoreItem xmlns:ds="http://schemas.openxmlformats.org/officeDocument/2006/customXml" ds:itemID="{D85B31BE-B3E8-4B02-9F34-4B02EF0B645A}">
  <ds:schemaRefs/>
</ds:datastoreItem>
</file>

<file path=customXml/itemProps6.xml><?xml version="1.0" encoding="utf-8"?>
<ds:datastoreItem xmlns:ds="http://schemas.openxmlformats.org/officeDocument/2006/customXml" ds:itemID="{3DF38081-B119-4294-BBC0-98A1B180BC3D}">
  <ds:schemaRefs/>
</ds:datastoreItem>
</file>

<file path=customXml/itemProps7.xml><?xml version="1.0" encoding="utf-8"?>
<ds:datastoreItem xmlns:ds="http://schemas.openxmlformats.org/officeDocument/2006/customXml" ds:itemID="{EF39268D-7AEA-4F50-A5DC-94E42074EB18}">
  <ds:schemaRefs/>
</ds:datastoreItem>
</file>

<file path=customXml/itemProps8.xml><?xml version="1.0" encoding="utf-8"?>
<ds:datastoreItem xmlns:ds="http://schemas.openxmlformats.org/officeDocument/2006/customXml" ds:itemID="{9E1D52AB-BA3C-4854-BCCF-600130C428B3}">
  <ds:schemaRefs>
    <ds:schemaRef ds:uri="http://schemas.microsoft.com/sharepoint/v3/contenttype/forms"/>
  </ds:schemaRefs>
</ds:datastoreItem>
</file>

<file path=customXml/itemProps9.xml><?xml version="1.0" encoding="utf-8"?>
<ds:datastoreItem xmlns:ds="http://schemas.openxmlformats.org/officeDocument/2006/customXml" ds:itemID="{4E129A2B-95D6-4166-892D-B019BC4E15DA}">
  <ds:schemaRefs/>
</ds:datastoreItem>
</file>

<file path=customXml/itemProps10.xml><?xml version="1.0" encoding="utf-8"?>
<ds:datastoreItem xmlns:ds="http://schemas.openxmlformats.org/officeDocument/2006/customXml" ds:itemID="{3BB461C9-A2A8-45C9-B2CB-88C156082C1E}">
  <ds:schemaRefs/>
</ds:datastoreItem>
</file>

<file path=customXml/itemProps11.xml><?xml version="1.0" encoding="utf-8"?>
<ds:datastoreItem xmlns:ds="http://schemas.openxmlformats.org/officeDocument/2006/customXml" ds:itemID="{55F8FDC9-536E-412E-B10D-E041B788109D}">
  <ds:schemaRefs/>
</ds:datastoreItem>
</file>

<file path=customXml/itemProps12.xml><?xml version="1.0" encoding="utf-8"?>
<ds:datastoreItem xmlns:ds="http://schemas.openxmlformats.org/officeDocument/2006/customXml" ds:itemID="{0A641F59-50CF-4A86-B476-383A0B14BC6D}">
  <ds:schemaRefs/>
</ds:datastoreItem>
</file>

<file path=customXml/itemProps13.xml><?xml version="1.0" encoding="utf-8"?>
<ds:datastoreItem xmlns:ds="http://schemas.openxmlformats.org/officeDocument/2006/customXml" ds:itemID="{092D4124-F623-4BF5-8F8B-B325EA677C49}">
  <ds:schemaRefs/>
</ds:datastoreItem>
</file>

<file path=customXml/itemProps14.xml><?xml version="1.0" encoding="utf-8"?>
<ds:datastoreItem xmlns:ds="http://schemas.openxmlformats.org/officeDocument/2006/customXml" ds:itemID="{FAECEBFB-5BF6-42D5-8E18-B900BD2EB225}">
  <ds:schemaRefs/>
</ds:datastoreItem>
</file>

<file path=customXml/itemProps15.xml><?xml version="1.0" encoding="utf-8"?>
<ds:datastoreItem xmlns:ds="http://schemas.openxmlformats.org/officeDocument/2006/customXml" ds:itemID="{41B36DA5-1B4A-4F86-86AD-88565F539B91}">
  <ds:schemaRefs/>
</ds:datastoreItem>
</file>

<file path=customXml/itemProps16.xml><?xml version="1.0" encoding="utf-8"?>
<ds:datastoreItem xmlns:ds="http://schemas.openxmlformats.org/officeDocument/2006/customXml" ds:itemID="{93965ED4-F952-4977-A762-8F8C00176060}">
  <ds:schemaRefs/>
</ds:datastoreItem>
</file>

<file path=customXml/itemProps17.xml><?xml version="1.0" encoding="utf-8"?>
<ds:datastoreItem xmlns:ds="http://schemas.openxmlformats.org/officeDocument/2006/customXml" ds:itemID="{E53FE7A5-534B-483F-A976-21681BC34692}">
  <ds:schemaRefs/>
</ds:datastoreItem>
</file>

<file path=customXml/itemProps18.xml><?xml version="1.0" encoding="utf-8"?>
<ds:datastoreItem xmlns:ds="http://schemas.openxmlformats.org/officeDocument/2006/customXml" ds:itemID="{ABB96CDC-B991-433F-A1A9-CB6FE577C7B7}">
  <ds:schemaRefs/>
</ds:datastoreItem>
</file>

<file path=customXml/itemProps19.xml><?xml version="1.0" encoding="utf-8"?>
<ds:datastoreItem xmlns:ds="http://schemas.openxmlformats.org/officeDocument/2006/customXml" ds:itemID="{37097ED0-D7FC-4F77-9F11-3EDE9EAB8CEE}">
  <ds:schemaRefs/>
</ds:datastoreItem>
</file>

<file path=customXml/itemProps20.xml><?xml version="1.0" encoding="utf-8"?>
<ds:datastoreItem xmlns:ds="http://schemas.openxmlformats.org/officeDocument/2006/customXml" ds:itemID="{F2E3D3EA-715A-4EB8-9EAE-C828E9A0C2EE}">
  <ds:schemaRefs/>
</ds:datastoreItem>
</file>

<file path=customXml/itemProps21.xml><?xml version="1.0" encoding="utf-8"?>
<ds:datastoreItem xmlns:ds="http://schemas.openxmlformats.org/officeDocument/2006/customXml" ds:itemID="{6AD1D817-C84C-4239-8B39-C21A59F55DCD}">
  <ds:schemaRefs/>
</ds:datastoreItem>
</file>

<file path=customXml/itemProps22.xml><?xml version="1.0" encoding="utf-8"?>
<ds:datastoreItem xmlns:ds="http://schemas.openxmlformats.org/officeDocument/2006/customXml" ds:itemID="{CF2C7B76-DC04-4F73-82E0-3A6C98A58DF7}">
  <ds:schemaRefs/>
</ds:datastoreItem>
</file>

<file path=customXml/itemProps23.xml><?xml version="1.0" encoding="utf-8"?>
<ds:datastoreItem xmlns:ds="http://schemas.openxmlformats.org/officeDocument/2006/customXml" ds:itemID="{27A4A5A7-0B34-4668-A282-DC7F33804B39}">
  <ds:schemaRefs/>
</ds:datastoreItem>
</file>

<file path=customXml/itemProps24.xml><?xml version="1.0" encoding="utf-8"?>
<ds:datastoreItem xmlns:ds="http://schemas.openxmlformats.org/officeDocument/2006/customXml" ds:itemID="{E314EAD1-3A69-4B7C-B9D6-284265918235}">
  <ds:schemaRefs/>
</ds:datastoreItem>
</file>

<file path=customXml/itemProps25.xml><?xml version="1.0" encoding="utf-8"?>
<ds:datastoreItem xmlns:ds="http://schemas.openxmlformats.org/officeDocument/2006/customXml" ds:itemID="{E63AAD45-D02B-479C-B3CA-908C4C400EB1}">
  <ds:schemaRefs/>
</ds:datastoreItem>
</file>

<file path=customXml/itemProps26.xml><?xml version="1.0" encoding="utf-8"?>
<ds:datastoreItem xmlns:ds="http://schemas.openxmlformats.org/officeDocument/2006/customXml" ds:itemID="{2796D8E8-82B4-4DDA-8287-345A59D245BC}">
  <ds:schemaRefs/>
</ds:datastoreItem>
</file>

<file path=customXml/itemProps27.xml><?xml version="1.0" encoding="utf-8"?>
<ds:datastoreItem xmlns:ds="http://schemas.openxmlformats.org/officeDocument/2006/customXml" ds:itemID="{B29FB23E-5931-4E27-B7B5-8D39B1D6D6CF}">
  <ds:schemaRefs/>
</ds:datastoreItem>
</file>

<file path=customXml/itemProps28.xml><?xml version="1.0" encoding="utf-8"?>
<ds:datastoreItem xmlns:ds="http://schemas.openxmlformats.org/officeDocument/2006/customXml" ds:itemID="{D9657860-603B-4D6D-93E7-F297D9E2CC69}">
  <ds:schemaRefs>
    <ds:schemaRef ds:uri="http://schemas.microsoft.com/office/2006/metadata/properties"/>
    <ds:schemaRef ds:uri="http://schemas.microsoft.com/office/infopath/2007/PartnerControls"/>
    <ds:schemaRef ds:uri="56195fa4-b953-4e4f-9c6c-474722e13825"/>
    <ds:schemaRef ds:uri="612bf8bb-790b-451e-b0d5-f120458d798c"/>
  </ds:schemaRefs>
</ds:datastoreItem>
</file>

<file path=customXml/itemProps29.xml><?xml version="1.0" encoding="utf-8"?>
<ds:datastoreItem xmlns:ds="http://schemas.openxmlformats.org/officeDocument/2006/customXml" ds:itemID="{B52E486C-EFD5-4A00-91E3-C3033E5B5BC4}">
  <ds:schemaRefs/>
</ds:datastoreItem>
</file>

<file path=customXml/itemProps30.xml><?xml version="1.0" encoding="utf-8"?>
<ds:datastoreItem xmlns:ds="http://schemas.openxmlformats.org/officeDocument/2006/customXml" ds:itemID="{C6BBB74F-6C1D-4660-AC74-9E99DB2C636D}">
  <ds:schemaRefs/>
</ds:datastoreItem>
</file>

<file path=customXml/itemProps31.xml><?xml version="1.0" encoding="utf-8"?>
<ds:datastoreItem xmlns:ds="http://schemas.openxmlformats.org/officeDocument/2006/customXml" ds:itemID="{CE9364C8-3149-4BE5-8170-0D3A9AF2EE20}">
  <ds:schemaRefs/>
</ds:datastoreItem>
</file>

<file path=customXml/itemProps32.xml><?xml version="1.0" encoding="utf-8"?>
<ds:datastoreItem xmlns:ds="http://schemas.openxmlformats.org/officeDocument/2006/customXml" ds:itemID="{8DAD23A0-BCB2-425D-9A9C-DA5E70C7D048}">
  <ds:schemaRefs/>
</ds:datastoreItem>
</file>

<file path=customXml/itemProps33.xml><?xml version="1.0" encoding="utf-8"?>
<ds:datastoreItem xmlns:ds="http://schemas.openxmlformats.org/officeDocument/2006/customXml" ds:itemID="{A182B218-85D3-4A8E-BF0E-9A49D80A5128}">
  <ds:schemaRefs/>
</ds:datastoreItem>
</file>

<file path=customXml/itemProps34.xml><?xml version="1.0" encoding="utf-8"?>
<ds:datastoreItem xmlns:ds="http://schemas.openxmlformats.org/officeDocument/2006/customXml" ds:itemID="{2E6E34E0-116A-4A25-BD52-6E2AA4577C45}">
  <ds:schemaRefs/>
</ds:datastoreItem>
</file>

<file path=customXml/itemProps35.xml><?xml version="1.0" encoding="utf-8"?>
<ds:datastoreItem xmlns:ds="http://schemas.openxmlformats.org/officeDocument/2006/customXml" ds:itemID="{B6567783-FF63-4482-8510-AC3CDFBD92E9}">
  <ds:schemaRefs/>
</ds:datastoreItem>
</file>

<file path=customXml/itemProps36.xml><?xml version="1.0" encoding="utf-8"?>
<ds:datastoreItem xmlns:ds="http://schemas.openxmlformats.org/officeDocument/2006/customXml" ds:itemID="{F76E2C1C-82FB-4349-825E-2EE59D2D41CB}">
  <ds:schemaRefs/>
</ds:datastoreItem>
</file>

<file path=customXml/itemProps37.xml><?xml version="1.0" encoding="utf-8"?>
<ds:datastoreItem xmlns:ds="http://schemas.openxmlformats.org/officeDocument/2006/customXml" ds:itemID="{3796B704-7C3F-4090-8FAD-E9257DEBF2E0}">
  <ds:schemaRefs/>
</ds:datastoreItem>
</file>

<file path=customXml/itemProps38.xml><?xml version="1.0" encoding="utf-8"?>
<ds:datastoreItem xmlns:ds="http://schemas.openxmlformats.org/officeDocument/2006/customXml" ds:itemID="{9A583989-EFA8-4DFC-A947-10D41129D336}">
  <ds:schemaRefs/>
</ds:datastoreItem>
</file>

<file path=customXml/itemProps39.xml><?xml version="1.0" encoding="utf-8"?>
<ds:datastoreItem xmlns:ds="http://schemas.openxmlformats.org/officeDocument/2006/customXml" ds:itemID="{0A63EE8F-2C90-4771-AC64-270D24405E9A}">
  <ds:schemaRefs/>
</ds:datastoreItem>
</file>

<file path=customXml/itemProps40.xml><?xml version="1.0" encoding="utf-8"?>
<ds:datastoreItem xmlns:ds="http://schemas.openxmlformats.org/officeDocument/2006/customXml" ds:itemID="{E1E66704-4E8A-4B5A-9CF4-87E522BE28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2bf8bb-790b-451e-b0d5-f120458d798c"/>
    <ds:schemaRef ds:uri="56195fa4-b953-4e4f-9c6c-474722e13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1.xml><?xml version="1.0" encoding="utf-8"?>
<ds:datastoreItem xmlns:ds="http://schemas.openxmlformats.org/officeDocument/2006/customXml" ds:itemID="{D82C5948-0ACE-4BF7-B908-29B2455153C6}">
  <ds:schemaRefs/>
</ds:datastoreItem>
</file>

<file path=customXml/itemProps42.xml><?xml version="1.0" encoding="utf-8"?>
<ds:datastoreItem xmlns:ds="http://schemas.openxmlformats.org/officeDocument/2006/customXml" ds:itemID="{65E562A1-1666-4931-A685-0184A00BB0BE}">
  <ds:schemaRefs/>
</ds:datastoreItem>
</file>

<file path=customXml/itemProps43.xml><?xml version="1.0" encoding="utf-8"?>
<ds:datastoreItem xmlns:ds="http://schemas.openxmlformats.org/officeDocument/2006/customXml" ds:itemID="{D409AD85-7BAD-4FCC-B314-9422A2B8E1F9}">
  <ds:schemaRefs/>
</ds:datastoreItem>
</file>

<file path=customXml/itemProps44.xml><?xml version="1.0" encoding="utf-8"?>
<ds:datastoreItem xmlns:ds="http://schemas.openxmlformats.org/officeDocument/2006/customXml" ds:itemID="{9D183B20-2886-432F-945A-277D2D5E44E5}">
  <ds:schemaRefs/>
</ds:datastoreItem>
</file>

<file path=customXml/itemProps45.xml><?xml version="1.0" encoding="utf-8"?>
<ds:datastoreItem xmlns:ds="http://schemas.openxmlformats.org/officeDocument/2006/customXml" ds:itemID="{27CA765E-4B56-426E-A7FE-CCBC50DFAA05}">
  <ds:schemaRefs/>
</ds:datastoreItem>
</file>

<file path=customXml/itemProps46.xml><?xml version="1.0" encoding="utf-8"?>
<ds:datastoreItem xmlns:ds="http://schemas.openxmlformats.org/officeDocument/2006/customXml" ds:itemID="{B0D47437-184C-4897-94FB-E9BA4C2E8809}">
  <ds:schemaRefs/>
</ds:datastoreItem>
</file>

<file path=customXml/itemProps47.xml><?xml version="1.0" encoding="utf-8"?>
<ds:datastoreItem xmlns:ds="http://schemas.openxmlformats.org/officeDocument/2006/customXml" ds:itemID="{1637D80E-C230-4FBA-9E86-BBE29719E5DA}">
  <ds:schemaRefs/>
</ds:datastoreItem>
</file>

<file path=customXml/itemProps48.xml><?xml version="1.0" encoding="utf-8"?>
<ds:datastoreItem xmlns:ds="http://schemas.openxmlformats.org/officeDocument/2006/customXml" ds:itemID="{B58CFFA7-A977-47E6-9723-F8F746A2DE43}">
  <ds:schemaRefs/>
</ds:datastoreItem>
</file>

<file path=customXml/itemProps49.xml><?xml version="1.0" encoding="utf-8"?>
<ds:datastoreItem xmlns:ds="http://schemas.openxmlformats.org/officeDocument/2006/customXml" ds:itemID="{CD10E444-F6DB-4BC4-A05F-B8FA85B04D5C}">
  <ds:schemaRefs/>
</ds:datastoreItem>
</file>

<file path=docMetadata/LabelInfo.xml><?xml version="1.0" encoding="utf-8"?>
<clbl:labelList xmlns:clbl="http://schemas.microsoft.com/office/2020/mipLabelMetadata">
  <clbl:label id="{c3d431f1-3e02-4c62-a825-79cd8f9e2053}" enabled="0" method="" siteId="{c3d431f1-3e02-4c62-a825-79cd8f9e2053}" removed="1"/>
</clbl:labelList>
</file>

<file path=docProps/app.xml><?xml version="1.0" encoding="utf-8"?>
<Properties xmlns="http://schemas.openxmlformats.org/officeDocument/2006/extended-properties" xmlns:vt="http://schemas.openxmlformats.org/officeDocument/2006/docPropsVTypes">
  <TotalTime>15614</TotalTime>
  <Words>5279</Words>
  <Application>Microsoft Office PowerPoint</Application>
  <PresentationFormat>Widescreen</PresentationFormat>
  <Paragraphs>978</Paragraphs>
  <Slides>36</Slides>
  <Notes>27</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Alternate Gothic Pro No 1</vt:lpstr>
      <vt:lpstr>Amazon Ember</vt:lpstr>
      <vt:lpstr>Amazon Ember Regular</vt:lpstr>
      <vt:lpstr>Arial</vt:lpstr>
      <vt:lpstr>Avenir Next LT Pro</vt:lpstr>
      <vt:lpstr>Avenir Next LT Pro Demi</vt:lpstr>
      <vt:lpstr>Calibri</vt:lpstr>
      <vt:lpstr>Calibri Light</vt:lpstr>
      <vt:lpstr>Nirmala UI</vt:lpstr>
      <vt:lpstr>Segoe Sans</vt:lpstr>
      <vt:lpstr>Wingdings</vt:lpstr>
      <vt:lpstr>Office Theme</vt:lpstr>
      <vt:lpstr>PowerPoint Presentation</vt:lpstr>
      <vt:lpstr>PowerPoint Presentation</vt:lpstr>
      <vt:lpstr>PowerPoint Presentation</vt:lpstr>
      <vt:lpstr>PowerPoint Presentation</vt:lpstr>
      <vt:lpstr>PowerPoint Presentation</vt:lpstr>
      <vt:lpstr>High-Level Analysis Summary</vt:lpstr>
      <vt:lpstr>PowerPoint Presentation</vt:lpstr>
      <vt:lpstr>PowerPoint Presentation</vt:lpstr>
      <vt:lpstr>EC2 Instances: Shared Tenancy and Dedicated Hosts </vt:lpstr>
      <vt:lpstr>Financial Summary - 3 YR NUSP - BYOL</vt:lpstr>
      <vt:lpstr>Graviton for Linux Servers</vt:lpstr>
      <vt:lpstr>Annualised comparison details –No Upfront</vt:lpstr>
      <vt:lpstr>Annualised comparison details –All Upfront</vt:lpstr>
      <vt:lpstr>Adjusted for Production - NUSP </vt:lpstr>
      <vt:lpstr>Adjusted for production and right-sized - NUSP</vt:lpstr>
      <vt:lpstr>Adjusted for Production - AUSP </vt:lpstr>
      <vt:lpstr>Adjusted for production and right-sized - AUSP</vt:lpstr>
      <vt:lpstr>PowerPoint Presentation</vt:lpstr>
      <vt:lpstr>PowerPoint Presentation</vt:lpstr>
      <vt:lpstr>BYOL Options for Windows Server and SQL 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Landing Zone and Initial Build</vt:lpstr>
      <vt:lpstr>Migration Acceleration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Nav Thaliwal</dc:creator>
  <cp:lastModifiedBy>Jason Mcleod</cp:lastModifiedBy>
  <cp:revision>32</cp:revision>
  <dcterms:created xsi:type="dcterms:W3CDTF">2023-01-30T22:47:58Z</dcterms:created>
  <dcterms:modified xsi:type="dcterms:W3CDTF">2025-12-05T14:25:35Z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2022-10-17T10:43:44</vt:lpwstr>
  </property>
  <property fmtid="{D5CDD505-2E9C-101B-9397-08002B2CF9AE}" pid="3" name="TemplafyTenantId">
    <vt:lpwstr>softcat</vt:lpwstr>
  </property>
  <property fmtid="{D5CDD505-2E9C-101B-9397-08002B2CF9AE}" pid="4" name="TemplafyTemplateId">
    <vt:lpwstr>638016002072561849</vt:lpwstr>
  </property>
  <property fmtid="{D5CDD505-2E9C-101B-9397-08002B2CF9AE}" pid="5" name="TemplafyUserProfileId">
    <vt:lpwstr>638012022567648030</vt:lpwstr>
  </property>
  <property fmtid="{D5CDD505-2E9C-101B-9397-08002B2CF9AE}" pid="6" name="TemplafyFromBlank">
    <vt:bool>true</vt:bool>
  </property>
  <property fmtid="{D5CDD505-2E9C-101B-9397-08002B2CF9AE}" pid="7" name="ContentTypeId">
    <vt:lpwstr>0x0101004287B7B23F01D74A95F0D89DAF157952</vt:lpwstr>
  </property>
  <property fmtid="{D5CDD505-2E9C-101B-9397-08002B2CF9AE}" pid="8" name="MediaServiceImageTags">
    <vt:lpwstr/>
  </property>
</Properties>
</file>